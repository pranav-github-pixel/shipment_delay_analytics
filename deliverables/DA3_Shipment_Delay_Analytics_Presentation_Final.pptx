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0243347d424a17" /><Relationship Type="http://schemas.openxmlformats.org/officeDocument/2006/relationships/extended-properties" Target="/docProps/app.xml" Id="R6936f2c457c24aa2" /><Relationship Type="http://schemas.openxmlformats.org/officeDocument/2006/relationships/officeDocument" Target="/ppt/presentation.xml" Id="R2106d5500e534cad" /></Relationships>
</file>

<file path=ppt/presentation.xml><?xml version="1.0" encoding="utf-8"?>
<p:presentation xmlns:p="http://schemas.openxmlformats.org/presentationml/2006/main">
  <p:sldMasterIdLst>
    <p:sldMasterId xmlns:r="http://schemas.openxmlformats.org/officeDocument/2006/relationships" id="2147483648" r:id="R9e9ec2b053034aad"/>
  </p:sldMasterIdLst>
  <p:notesMasterIdLst>
    <p:notesMasterId xmlns:r="http://schemas.openxmlformats.org/officeDocument/2006/relationships" r:id="Rb4b2f8a00bca446d"/>
  </p:notesMasterIdLst>
  <p:sldIdLst>
    <p:sldId xmlns:r="http://schemas.openxmlformats.org/officeDocument/2006/relationships" id="256" r:id="R7885f4cfaf1047ba"/>
    <p:sldId xmlns:r="http://schemas.openxmlformats.org/officeDocument/2006/relationships" id="257" r:id="Rc0458675abf84d6e"/>
    <p:sldId xmlns:r="http://schemas.openxmlformats.org/officeDocument/2006/relationships" id="258" r:id="R18833a6bf0594e82"/>
    <p:sldId xmlns:r="http://schemas.openxmlformats.org/officeDocument/2006/relationships" id="259" r:id="Rdd0430434b194eb4"/>
    <p:sldId xmlns:r="http://schemas.openxmlformats.org/officeDocument/2006/relationships" id="260" r:id="R06d9e770b73b40fd"/>
    <p:sldId xmlns:r="http://schemas.openxmlformats.org/officeDocument/2006/relationships" id="261" r:id="R22882d5169c44a41"/>
    <p:sldId xmlns:r="http://schemas.openxmlformats.org/officeDocument/2006/relationships" id="262" r:id="Rd5535a7a97854214"/>
    <p:sldId xmlns:r="http://schemas.openxmlformats.org/officeDocument/2006/relationships" id="263" r:id="Rdabf00cd18db4ee9"/>
    <p:sldId xmlns:r="http://schemas.openxmlformats.org/officeDocument/2006/relationships" id="264" r:id="R4b4f7f8d64e34ae5"/>
    <p:sldId xmlns:r="http://schemas.openxmlformats.org/officeDocument/2006/relationships" id="265" r:id="R7d66b1a7250b481e"/>
    <p:sldId xmlns:r="http://schemas.openxmlformats.org/officeDocument/2006/relationships" id="266" r:id="R583c599c96d841cd"/>
    <p:sldId xmlns:r="http://schemas.openxmlformats.org/officeDocument/2006/relationships" id="267" r:id="R476fbae4ece443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2eb80625294366" /><Relationship Type="http://schemas.openxmlformats.org/officeDocument/2006/relationships/slideMaster" Target="/ppt/slideMasters/slideMaster1.xml" Id="R9e9ec2b053034aad" /><Relationship Type="http://schemas.openxmlformats.org/officeDocument/2006/relationships/notesMaster" Target="/ppt/notesMasters/notesMaster1.xml" Id="Rb4b2f8a00bca446d" /><Relationship Type="http://schemas.openxmlformats.org/officeDocument/2006/relationships/presProps" Target="/ppt/presProps.xml" Id="Ra9b6879cb80d4293" /><Relationship Type="http://schemas.openxmlformats.org/officeDocument/2006/relationships/tableStyles" Target="/ppt/tableStyles.xml" Id="R8080d126b60c4419" /><Relationship Type="http://schemas.openxmlformats.org/officeDocument/2006/relationships/slide" Target="/ppt/slides/slide1.xml" Id="R7885f4cfaf1047ba" /><Relationship Type="http://schemas.openxmlformats.org/officeDocument/2006/relationships/slide" Target="/ppt/slides/slide2.xml" Id="Rc0458675abf84d6e" /><Relationship Type="http://schemas.openxmlformats.org/officeDocument/2006/relationships/slide" Target="/ppt/slides/slide3.xml" Id="R18833a6bf0594e82" /><Relationship Type="http://schemas.openxmlformats.org/officeDocument/2006/relationships/slide" Target="/ppt/slides/slide4.xml" Id="Rdd0430434b194eb4" /><Relationship Type="http://schemas.openxmlformats.org/officeDocument/2006/relationships/slide" Target="/ppt/slides/slide5.xml" Id="R06d9e770b73b40fd" /><Relationship Type="http://schemas.openxmlformats.org/officeDocument/2006/relationships/slide" Target="/ppt/slides/slide6.xml" Id="R22882d5169c44a41" /><Relationship Type="http://schemas.openxmlformats.org/officeDocument/2006/relationships/slide" Target="/ppt/slides/slide7.xml" Id="Rd5535a7a97854214" /><Relationship Type="http://schemas.openxmlformats.org/officeDocument/2006/relationships/slide" Target="/ppt/slides/slide8.xml" Id="Rdabf00cd18db4ee9" /><Relationship Type="http://schemas.openxmlformats.org/officeDocument/2006/relationships/slide" Target="/ppt/slides/slide9.xml" Id="R4b4f7f8d64e34ae5" /><Relationship Type="http://schemas.openxmlformats.org/officeDocument/2006/relationships/slide" Target="/ppt/slides/slide10.xml" Id="R7d66b1a7250b481e" /><Relationship Type="http://schemas.openxmlformats.org/officeDocument/2006/relationships/slide" Target="/ppt/slides/slide11.xml" Id="R583c599c96d841cd" /><Relationship Type="http://schemas.openxmlformats.org/officeDocument/2006/relationships/slide" Target="/ppt/slides/slide12.xml" Id="R476fbae4ece443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9d172e3a114e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add9953fb34f51" /><Relationship Type="http://schemas.openxmlformats.org/officeDocument/2006/relationships/notesMaster" Target="/ppt/notesMasters/notesMaster1.xml" Id="R496914a64bd445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1977b575324bea" /><Relationship Type="http://schemas.openxmlformats.org/officeDocument/2006/relationships/notesMaster" Target="/ppt/notesMasters/notesMaster1.xml" Id="Rf5e1642b422640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fe778dc15049d6" /><Relationship Type="http://schemas.openxmlformats.org/officeDocument/2006/relationships/notesMaster" Target="/ppt/notesMasters/notesMaster1.xml" Id="R36d3154325c84a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2187c826674278" /><Relationship Type="http://schemas.openxmlformats.org/officeDocument/2006/relationships/notesMaster" Target="/ppt/notesMasters/notesMaster1.xml" Id="R182dac70b3fe4c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a9eae833044080" /><Relationship Type="http://schemas.openxmlformats.org/officeDocument/2006/relationships/notesMaster" Target="/ppt/notesMasters/notesMaster1.xml" Id="R0c596c5a7af14b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44b037f86a499f" /><Relationship Type="http://schemas.openxmlformats.org/officeDocument/2006/relationships/notesMaster" Target="/ppt/notesMasters/notesMaster1.xml" Id="R8f2f06ed43ae41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3ab7d3802f49ac" /><Relationship Type="http://schemas.openxmlformats.org/officeDocument/2006/relationships/notesMaster" Target="/ppt/notesMasters/notesMaster1.xml" Id="Rddfc251b4f2a47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7802e489634116" /><Relationship Type="http://schemas.openxmlformats.org/officeDocument/2006/relationships/notesMaster" Target="/ppt/notesMasters/notesMaster1.xml" Id="Re5f7e882a07f41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f67383c05044be" /><Relationship Type="http://schemas.openxmlformats.org/officeDocument/2006/relationships/notesMaster" Target="/ppt/notesMasters/notesMaster1.xml" Id="R491e117dc7d04c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eaa2fbb1274f31" /><Relationship Type="http://schemas.openxmlformats.org/officeDocument/2006/relationships/notesMaster" Target="/ppt/notesMasters/notesMaster1.xml" Id="R3b6f3f909a7849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fd649ba707467b" /><Relationship Type="http://schemas.openxmlformats.org/officeDocument/2006/relationships/notesMaster" Target="/ppt/notesMasters/notesMaster1.xml" Id="R7d7e169a333944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50db666b4542c5" /><Relationship Type="http://schemas.openxmlformats.org/officeDocument/2006/relationships/notesMaster" Target="/ppt/notesMasters/notesMaster1.xml" Id="R7392789dc82946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final end-to-end application and team. Explain that all figures use the latest order-level pipeline, not the earlier DA-2 item-row population. The PDF supplies the academic cover format and team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DataCo? It is already integrated and supports the promised-time lateness label. Completion was prioritised over an unvalidated dataset migration. The objective is order-time late-delivery risk conditional on shipment proceeding, not fraud or cancellation. Explain the distinction between analytics of completed orders and prediction of future outcomes.</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every boundary. HDFS or a local file supplies Spark; there is no silent storage fallback. Spark performs distributed preparation and SQL. Only bounded allowlisted rows reach Pandas and scikit-learn. The fitted model and SHAP cache are versioned together. FastAPI owns locking and validates all generated SQL. Optional Groq has no authority to invent predictions or query results. This demonstration is local and single-DataNode; do not claim multi-node performance.</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not 181,169 shipments? These are item rows; an order can contain several items. There is no physical shipment ID, so one eligible order is a declared proxy. Canceled shipping, canceled orders and suspected fraud are removed from completed-transit denominators. Missing dimensions use a consistent value from the same order or Unknown. The label is checked against actual &gt; scheduled; zero target-mismatch orders remain.</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both expanding folds: train 22,619 then validate 10,053; train 32,672 then validate 10,054. The latest 15% of development is reserved for explanation. Final fit is 42,726 orders; test is 12,631. The model is standard RandomForestClassifier, with preprocessing and selection customised for the task. Compare features only on the same validation population. No actual duration, delivery status or post-outcome field enters the feature matrix. Historical holdout results were seen in earlier versions, so fresh confirmation needs new orders.</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validation AUC selects the forest, not thresholded accuracy. LR has mean validation AUC .70520, RF .73993; both use the same forward-validation orders. The later test metrics belong only to the selected forest. Explain counts: 4,294 true on-time, 1,073 false alarms, 2,784 missed delays, 4,480 detected delays. Precision is 4,480/5,553; recall is 4,480/7,264. More AUC does not guarantee more accuracy. Do not claim major improvement versus the DA-2 numbers because populations and splitting differ.</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the six regions with the largest eligible populations, chosen by order count rather than delay rate. The report and website contain the full matrix. The native table is editable. Each cell is delayed orders / eligible orders for that region and mode, not model probability. Color is only a redundant cue because the numeric rate and n are printed. Filters affect the website matrix. Small samples do not establish strong regional evidence.</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Tree SHAP uses interventional probability output, 32 deterministic training-reference observations and 96 dedicated explanation-validation observations. Mean absolute SHAP measures average model output magnitude, not AUC gain. Categorical output contributions are summed back to original groups. Standard deviation in the API is across observations, not repeat uncertainty. Correlated features share attribution; SHAP is not causal. A separate permutation ROC-AUC diagnostic remains available. Source: https://shap.readthedocs.io/en/latest/generated/shap.TreeExplainer.html</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Demonstration input: 15 Jan 2018 at 12:00, scheduled days 1, quantity 2, net sales 125.50, two item lines, Europe / Western Europe, Consumer, DEBIT. This is a submitted input, not an observed new outcome. Base 55.024% plus signed grouped contributions reconstructs the actual output. Explain that positive SHAP means higher model risk relative to baseline. The three actions are deterministic existing rules triggered by positive actionable groups and predicted delay. They do not estimate the causal benefit of intervention.</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demonstration sequence: Overview confirms eligible count; Delay Analytics shows region/mode heatmap and filters; Model Evaluation shows validation versus final test and predicts an order; Model Explainability shows cached global SHAP; SQL Analytics compares direct versus natural language. Data Quality displays exclusions and missing-value audit. Explain dataset-wide model metrics versus filtered historical analytics. Screenshot is actual current application, not a mockup.</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summary is generated only by a separate button after a prediction. The server recomputes model, SHAP and recommendation facts and rejects stale model identity. Natural language provides schema and categories to Groq; returned SQL must pass the same read-only guard as direct SQL before Spark executes it. Result 62,897 comes from Spark. No API keys reach the frontend. Groq failures leave local predictions and direct SQL functional. The configured model is openai/gpt-oss-20b. Source: https://console.groq.com/docs/openai</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Why is accuracy below 80%? A: Overlapping order-time features and unobserved operational factors limit discrimination; the report does not claim a formal ceiling. Q: Is schedule importance leakage? A: A known promise is legitimate input; actual duration/status is not. Q: Does SHAP recommend causal fixes? A: No; deterministic review rules use associations. Q: Is fitting distributed? A: Spark prepares data, scikit-learn fits a bounded driver sample. Q: What changed from DA-2? A: Order grain, chronology, fitted RF, genuine SHAP and an integrated app. Q: Are days 3/5/6/7 validated? A: They are accepted inputs with explicit coverage notices, not new training evidence. Q: What remains? A: Fresh forward evaluation, calibration, real capacity/carrier features, cost-based thresholds and production security/scaling. Q: Did HDFS run today? A: HDFS passed earlier; this revision reran local Spark, not the HDFS demo.</a:t>
            </a:r>
          </a:p>
          <a:p xmlns:a="http://schemas.openxmlformats.org/drawingml/2006/main">
            <a:r>
              <a:t>Evidence: current local implementation and saved API responses on 20 October 2026; branch feature/shipment-analytics-enhancements. PDF reference used for visual format and submitted team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a0795f54fd42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2b35b2d9b943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ddbdb1214246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583df045304d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f0f42823ef4a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84add6fe4143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74CBFE-2C3D-45DD-A41A-FD2663D22A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7E4AA6-7DA7-4CD3-B1B9-117461AF2C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CB91A7-533E-4B2A-80E7-D9638B200A3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609A7D-0DFF-4C14-8B81-E8A365E56E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FFD33C-A1ED-4BB4-99C3-2127A9E74A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A49D69-C868-4BC3-B98A-01938A645B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FCCF6C-8DB6-4872-BC06-9E2C5FB06B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ADA722-A7B8-4697-82E2-2AC4A491A7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134948-5AF3-4AFE-A1F7-99CF5716F4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159EEE-1FA3-48B5-8E20-281C6847F0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61ecce12184e15" /><Relationship Type="http://schemas.openxmlformats.org/officeDocument/2006/relationships/slideLayout" Target="/ppt/slideLayouts/slideLayout1.xml" Id="Re613475bece9445a" /><Relationship Type="http://schemas.openxmlformats.org/officeDocument/2006/relationships/slideLayout" Target="/ppt/slideLayouts/slideLayout2.xml" Id="R677df908d8f045d4" /><Relationship Type="http://schemas.openxmlformats.org/officeDocument/2006/relationships/slideLayout" Target="/ppt/slideLayouts/slideLayout3.xml" Id="Re8a7e64308ed477b" /><Relationship Type="http://schemas.openxmlformats.org/officeDocument/2006/relationships/slideLayout" Target="/ppt/slideLayouts/slideLayout4.xml" Id="Rb87390e088704253" /><Relationship Type="http://schemas.openxmlformats.org/officeDocument/2006/relationships/slideLayout" Target="/ppt/slideLayouts/slideLayout5.xml" Id="R148f0144c5494852" /><Relationship Type="http://schemas.openxmlformats.org/officeDocument/2006/relationships/slideLayout" Target="/ppt/slideLayouts/slideLayout6.xml" Id="R2bdd8d30319740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13475bece9445a"/>
    <p:sldLayoutId xmlns:r="http://schemas.openxmlformats.org/officeDocument/2006/relationships" id="2147483650" r:id="R677df908d8f045d4"/>
    <p:sldLayoutId xmlns:r="http://schemas.openxmlformats.org/officeDocument/2006/relationships" id="2147483651" r:id="Re8a7e64308ed477b"/>
    <p:sldLayoutId xmlns:r="http://schemas.openxmlformats.org/officeDocument/2006/relationships" id="2147483652" r:id="Rb87390e088704253"/>
    <p:sldLayoutId xmlns:r="http://schemas.openxmlformats.org/officeDocument/2006/relationships" id="2147483653" r:id="R148f0144c5494852"/>
    <p:sldLayoutId xmlns:r="http://schemas.openxmlformats.org/officeDocument/2006/relationships" id="2147483654" r:id="R2bdd8d30319740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c0ab821f3d4819" /><Relationship Type="http://schemas.openxmlformats.org/officeDocument/2006/relationships/image" Target="/ppt/media/image.jpeg" Id="R8ca6f4095c804cef" /><Relationship Type="http://schemas.openxmlformats.org/officeDocument/2006/relationships/notesSlide" Target="/ppt/notesSlides/notesSlide1.xml" Id="R496d712f3def4b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b7c5ac81a84fbc" /><Relationship Type="http://schemas.openxmlformats.org/officeDocument/2006/relationships/notesSlide" Target="/ppt/notesSlides/notesSlide2.xml" Id="R7deb95b5ef3f49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ede92fff9994d4d" /><Relationship Type="http://schemas.openxmlformats.org/officeDocument/2006/relationships/notesSlide" Target="/ppt/notesSlides/notesSlide3.xml" Id="R6c81bb1efa9d4e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e0f76c234a4a28" /><Relationship Type="http://schemas.openxmlformats.org/officeDocument/2006/relationships/chart" Target="/ppt/slides/charts/chart1.xml" Id="R1422a7894bd4429a" /><Relationship Type="http://schemas.openxmlformats.org/officeDocument/2006/relationships/notesSlide" Target="/ppt/notesSlides/notesSlide4.xml" Id="R001e1947f9f84c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069997baa242ee" /><Relationship Type="http://schemas.openxmlformats.org/officeDocument/2006/relationships/notesSlide" Target="/ppt/notesSlides/notesSlide5.xml" Id="R495cf63f7b414e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8fb70d131245d4" /><Relationship Type="http://schemas.openxmlformats.org/officeDocument/2006/relationships/notesSlide" Target="/ppt/notesSlides/notesSlide6.xml" Id="Rcc7aa586806c4a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bc1a0e134a4b2f" /><Relationship Type="http://schemas.openxmlformats.org/officeDocument/2006/relationships/notesSlide" Target="/ppt/notesSlides/notesSlide7.xml" Id="Re976cdde3841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d5900659124a1c" /><Relationship Type="http://schemas.openxmlformats.org/officeDocument/2006/relationships/chart" Target="/ppt/slides/charts/chart2.xml" Id="R621ad7be771a41c7" /><Relationship Type="http://schemas.openxmlformats.org/officeDocument/2006/relationships/notesSlide" Target="/ppt/notesSlides/notesSlide8.xml" Id="R7b0761a09b3549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2b534ddd6a4a79" /><Relationship Type="http://schemas.openxmlformats.org/officeDocument/2006/relationships/chart" Target="/ppt/slides/charts/chart3.xml" Id="R329e5af8d5ea4a06" /><Relationship Type="http://schemas.openxmlformats.org/officeDocument/2006/relationships/notesSlide" Target="/ppt/notesSlides/notesSlide9.xml" Id="R99f40df7aed94f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11056a449df49ea" /><Relationship Type="http://schemas.openxmlformats.org/officeDocument/2006/relationships/image" Target="/ppt/media/image.png" Id="R8d6633e8b54c40dd" /><Relationship Type="http://schemas.openxmlformats.org/officeDocument/2006/relationships/notesSlide" Target="/ppt/notesSlides/notesSlide10.xml" Id="Rdce0e7b99c764c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0db84083ff46cd" /><Relationship Type="http://schemas.openxmlformats.org/officeDocument/2006/relationships/image" Target="/ppt/media/image2.png" Id="Rf99c291d17e04b18" /><Relationship Type="http://schemas.openxmlformats.org/officeDocument/2006/relationships/notesSlide" Target="/ppt/notesSlides/notesSlide11.xml" Id="R52ed36a97caa4f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beb9d962ec4884" /><Relationship Type="http://schemas.openxmlformats.org/officeDocument/2006/relationships/notesSlide" Target="/ppt/notesSlides/notesSlide12.xml" Id="Rebb453abe79d40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244763"/>
            </a:solidFill>
          </c:spPr>
          <c:invertIfNegative val="0"/>
          <c:cat>
            <c:strRef>
              <c:f>'Chart Data'!$A$2:$A$3</c:f>
              <c:strCache>
                <c:ptCount val="2"/>
                <c:pt idx="0">
                  <c:v>Delayed</c:v>
                </c:pt>
                <c:pt idx="1">
                  <c:v>On time or early</c:v>
                </c:pt>
              </c:strCache>
            </c:strRef>
          </c:cat>
          <c:val>
            <c:numRef>
              <c:f>'Chart Data'!$B$2:$B$3</c:f>
              <c:numCache>
                <c:formatCode>#,##0</c:formatCode>
                <c:ptCount val="2"/>
                <c:pt idx="0">
                  <c:v>36048</c:v>
                </c:pt>
                <c:pt idx="1">
                  <c:v>26849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111111"/>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11111"/>
                </a:solidFill>
                <a:latin typeface="Times New Roman"/>
                <a:ea typeface="Times New Roman"/>
                <a:cs typeface="Times New Roman"/>
              </a:defRPr>
            </a:pPr>
          </a:p>
        </c:txPr>
        <c:crossAx val="48672768"/>
      </c:catAx>
      <c:valAx>
        <c:axId val="48672768"/>
        <c:scaling>
          <c:orientation val="minMax"/>
          <c:max val="40000"/>
          <c:min val="0"/>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11111"/>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 result</c:v>
          </c:tx>
          <c:spPr>
            <a:solidFill xmlns:a="http://schemas.openxmlformats.org/drawingml/2006/main">
              <a:srgbClr val="244763"/>
            </a:solidFill>
          </c:spPr>
          <c:invertIfNegative val="0"/>
          <c:cat>
            <c:strRef>
              <c:f>'Chart Data'!$A$2:$A$9</c:f>
              <c:strCache>
                <c:ptCount val="8"/>
                <c:pt idx="0">
                  <c:v>Order month</c:v>
                </c:pt>
                <c:pt idx="1">
                  <c:v>Order weekday</c:v>
                </c:pt>
                <c:pt idx="2">
                  <c:v>Payment type</c:v>
                </c:pt>
                <c:pt idx="3">
                  <c:v>Customer segment</c:v>
                </c:pt>
                <c:pt idx="4">
                  <c:v>Net order value</c:v>
                </c:pt>
                <c:pt idx="5">
                  <c:v>Basket size</c:v>
                </c:pt>
                <c:pt idx="6">
                  <c:v>Destination market and region</c:v>
                </c:pt>
                <c:pt idx="7">
                  <c:v>Scheduled shipping days</c:v>
                </c:pt>
              </c:strCache>
            </c:strRef>
          </c:cat>
          <c:val>
            <c:numRef>
              <c:f>'Chart Data'!$B$2:$B$9</c:f>
              <c:numCache>
                <c:formatCode>0.0%</c:formatCode>
                <c:ptCount val="8"/>
                <c:pt idx="0">
                  <c:v>0.002383483263</c:v>
                </c:pt>
                <c:pt idx="1">
                  <c:v>0.00389060194</c:v>
                </c:pt>
                <c:pt idx="2">
                  <c:v>0.004203806766</c:v>
                </c:pt>
                <c:pt idx="3">
                  <c:v>0.004225659497</c:v>
                </c:pt>
                <c:pt idx="4">
                  <c:v>0.005297686204</c:v>
                </c:pt>
                <c:pt idx="5">
                  <c:v>0.005486309193</c:v>
                </c:pt>
                <c:pt idx="6">
                  <c:v>0.007615373979</c:v>
                </c:pt>
                <c:pt idx="7">
                  <c:v>0.1759062929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11111"/>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11111"/>
                </a:solidFill>
                <a:latin typeface="Times New Roman"/>
                <a:ea typeface="Times New Roman"/>
                <a:cs typeface="Times New Roman"/>
              </a:defRPr>
            </a:pPr>
          </a:p>
        </c:txPr>
        <c:crossAx val="48672768"/>
      </c:catAx>
      <c:valAx>
        <c:axId val="48672768"/>
        <c:scaling>
          <c:orientation val="minMax"/>
          <c:max val="0.22"/>
          <c:min val="0"/>
        </c:scaling>
        <c:delete val="0"/>
        <c:axPos val="b"/>
        <c:majorGridlines>
          <c:spPr>
            <a:ln xmlns:a="http://schemas.openxmlformats.org/drawingml/2006/main" w="9525">
              <a:solidFill>
                <a:srgbClr val="DDDD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11111"/>
                </a:solidFill>
                <a:latin typeface="Times New Roman"/>
                <a:ea typeface="Times New Roman"/>
                <a:cs typeface="Times New Roman"/>
              </a:defRPr>
            </a:pPr>
          </a:p>
        </c:txPr>
        <c:crossAx val="48650112"/>
        <c:crossBetween val="between"/>
        <c:majorUnit val="0.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 result</c:v>
          </c:tx>
          <c:spPr>
            <a:solidFill xmlns:a="http://schemas.openxmlformats.org/drawingml/2006/main">
              <a:srgbClr val="1B6654"/>
            </a:solidFill>
          </c:spPr>
          <c:invertIfNegative val="0"/>
          <c:cat>
            <c:strRef>
              <c:f>'Chart Data'!$A$2:$A$9</c:f>
              <c:strCache>
                <c:ptCount val="8"/>
                <c:pt idx="0">
                  <c:v>Order month</c:v>
                </c:pt>
                <c:pt idx="1">
                  <c:v>Net order value</c:v>
                </c:pt>
                <c:pt idx="2">
                  <c:v>Customer segment</c:v>
                </c:pt>
                <c:pt idx="3">
                  <c:v>Payment type</c:v>
                </c:pt>
                <c:pt idx="4">
                  <c:v>Order weekday</c:v>
                </c:pt>
                <c:pt idx="5">
                  <c:v>Destination market and region</c:v>
                </c:pt>
                <c:pt idx="6">
                  <c:v>Basket size</c:v>
                </c:pt>
                <c:pt idx="7">
                  <c:v>Scheduled shipping days</c:v>
                </c:pt>
              </c:strCache>
            </c:strRef>
          </c:cat>
          <c:val>
            <c:numRef>
              <c:f>'Chart Data'!$B$2:$B$9</c:f>
              <c:numCache>
                <c:formatCode>0.0%</c:formatCode>
                <c:ptCount val="8"/>
                <c:pt idx="0">
                  <c:v>0.001780301931</c:v>
                </c:pt>
                <c:pt idx="1">
                  <c:v>0.001865253273</c:v>
                </c:pt>
                <c:pt idx="2">
                  <c:v>0.002750465399</c:v>
                </c:pt>
                <c:pt idx="3">
                  <c:v>0.005355361965</c:v>
                </c:pt>
                <c:pt idx="4">
                  <c:v>0.006830879833</c:v>
                </c:pt>
                <c:pt idx="5">
                  <c:v>0.006908548244</c:v>
                </c:pt>
                <c:pt idx="6">
                  <c:v>0.008281051079</c:v>
                </c:pt>
                <c:pt idx="7">
                  <c:v>0.312917064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11111"/>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11111"/>
                </a:solidFill>
                <a:latin typeface="Times New Roman"/>
                <a:ea typeface="Times New Roman"/>
                <a:cs typeface="Times New Roman"/>
              </a:defRPr>
            </a:pPr>
          </a:p>
        </c:txPr>
        <c:crossAx val="48672768"/>
      </c:catAx>
      <c:valAx>
        <c:axId val="48672768"/>
        <c:scaling>
          <c:orientation val="minMax"/>
          <c:max val="0.36"/>
          <c:min val="0"/>
        </c:scaling>
        <c:delete val="0"/>
        <c:axPos val="b"/>
        <c:majorGridlines>
          <c:spPr>
            <a:ln xmlns:a="http://schemas.openxmlformats.org/drawingml/2006/main" w="9525">
              <a:solidFill>
                <a:srgbClr val="DDDD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11111"/>
                </a:solidFill>
                <a:latin typeface="Times New Roman"/>
                <a:ea typeface="Times New Roman"/>
                <a:cs typeface="Times New Roman"/>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6BD9876-33AA-4E9F-9B8B-2B81A37052F9}"/>
              </a:ext>
            </a:extLst>
          </p:cNvPr>
          <p:cNvPicPr>
            <a:picLocks xmlns:a="http://schemas.openxmlformats.org/drawingml/2006/main" noChangeAspect="1"/>
          </p:cNvPicPr>
          <p:nvPr/>
        </p:nvPicPr>
        <p:blipFill>
          <a:blip xmlns:r="http://schemas.openxmlformats.org/officeDocument/2006/relationships" xmlns:a="http://schemas.openxmlformats.org/drawingml/2006/main" r:embed="R8ca6f4095c804cef"/>
          <a:stretch xmlns:a="http://schemas.openxmlformats.org/drawingml/2006/main"/>
        </p:blipFill>
        <p:spPr>
          <a:xfrm xmlns:a="http://schemas.openxmlformats.org/drawingml/2006/main">
            <a:off x="5067300" y="428625"/>
            <a:ext cx="2057400" cy="1143000"/>
          </a:xfrm>
          <a:prstGeom xmlns:a="http://schemas.openxmlformats.org/drawingml/2006/main" prst="rect">
            <a:avLst/>
          </a:prstGeom>
        </p:spPr>
      </p:pic>
      <p:sp>
        <p:nvSpPr>
          <p:cNvPr id="2" name="Predictive Shipment Delay Analytics&#10;for Logistics Decision S">
            <a:extLst xmlns:a="http://schemas.openxmlformats.org/drawingml/2006/main">
              <a:ext uri="{FF2B5EF4-FFF2-40B4-BE49-F238E27FC236}">
                <a16:creationId xmlns:a16="http://schemas.microsoft.com/office/drawing/2014/main" id="{0D0DF8DE-6950-499C-A096-64D59C4F401A}"/>
              </a:ext>
            </a:extLst>
          </p:cNvPr>
          <p:cNvSpPr>
            <a:spLocks xmlns:a="http://schemas.openxmlformats.org/drawingml/2006/main" noGrp="1"/>
          </p:cNvSpPr>
          <p:nvPr/>
        </p:nvSpPr>
        <p:spPr>
          <a:xfrm xmlns:a="http://schemas.openxmlformats.org/drawingml/2006/main">
            <a:off x="762000" y="20002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4050" b="1">
                <a:solidFill>
                  <a:srgbClr val="111111"/>
                </a:solidFill>
                <a:latin typeface="Times New Roman"/>
                <a:ea typeface="Times New Roman"/>
                <a:cs typeface="Times New Roman"/>
              </a:defRPr>
            </a:defPPr>
            <a:lvl1pPr algn="ctr">
              <a:defRPr sz="4050" b="1">
                <a:solidFill>
                  <a:srgbClr val="111111"/>
                </a:solidFill>
                <a:latin typeface="Times New Roman"/>
                <a:ea typeface="Times New Roman"/>
                <a:cs typeface="Times New Roman"/>
              </a:defRPr>
            </a:lvl1pPr>
            <a:lvl2pPr algn="ctr">
              <a:defRPr sz="4050" b="1">
                <a:solidFill>
                  <a:srgbClr val="111111"/>
                </a:solidFill>
                <a:latin typeface="Times New Roman"/>
                <a:ea typeface="Times New Roman"/>
                <a:cs typeface="Times New Roman"/>
              </a:defRPr>
            </a:lvl2pPr>
            <a:lvl3pPr algn="ctr">
              <a:defRPr sz="4050" b="1">
                <a:solidFill>
                  <a:srgbClr val="111111"/>
                </a:solidFill>
                <a:latin typeface="Times New Roman"/>
                <a:ea typeface="Times New Roman"/>
                <a:cs typeface="Times New Roman"/>
              </a:defRPr>
            </a:lvl3pPr>
            <a:lvl4pPr algn="ctr">
              <a:defRPr sz="4050" b="1">
                <a:solidFill>
                  <a:srgbClr val="111111"/>
                </a:solidFill>
                <a:latin typeface="Times New Roman"/>
                <a:ea typeface="Times New Roman"/>
                <a:cs typeface="Times New Roman"/>
              </a:defRPr>
            </a:lvl4pPr>
            <a:lvl5pPr algn="ctr">
              <a:defRPr sz="4050" b="1">
                <a:solidFill>
                  <a:srgbClr val="111111"/>
                </a:solidFill>
                <a:latin typeface="Times New Roman"/>
                <a:ea typeface="Times New Roman"/>
                <a:cs typeface="Times New Roman"/>
              </a:defRPr>
            </a:lvl5pPr>
            <a:lvl6pPr algn="ctr">
              <a:defRPr sz="4050" b="1">
                <a:solidFill>
                  <a:srgbClr val="111111"/>
                </a:solidFill>
                <a:latin typeface="Times New Roman"/>
                <a:ea typeface="Times New Roman"/>
                <a:cs typeface="Times New Roman"/>
              </a:defRPr>
            </a:lvl6pPr>
            <a:lvl7pPr algn="ctr">
              <a:defRPr sz="4050" b="1">
                <a:solidFill>
                  <a:srgbClr val="111111"/>
                </a:solidFill>
                <a:latin typeface="Times New Roman"/>
                <a:ea typeface="Times New Roman"/>
                <a:cs typeface="Times New Roman"/>
              </a:defRPr>
            </a:lvl7pPr>
            <a:lvl8pPr algn="ctr">
              <a:defRPr sz="4050" b="1">
                <a:solidFill>
                  <a:srgbClr val="111111"/>
                </a:solidFill>
                <a:latin typeface="Times New Roman"/>
                <a:ea typeface="Times New Roman"/>
                <a:cs typeface="Times New Roman"/>
              </a:defRPr>
            </a:lvl8pPr>
            <a:lvl9pPr algn="ctr">
              <a:defRPr sz="4050" b="1">
                <a:solidFill>
                  <a:srgbClr val="111111"/>
                </a:solidFill>
                <a:latin typeface="Times New Roman"/>
                <a:ea typeface="Times New Roman"/>
                <a:cs typeface="Times New Roman"/>
              </a:defRPr>
            </a:lvl9pPr>
          </a:lstStyle>
          <a:p xmlns:a="http://schemas.openxmlformats.org/drawingml/2006/main">
            <a:pPr algn="ctr">
              <a:defRPr sz="4050" b="1">
                <a:solidFill>
                  <a:srgbClr val="111111"/>
                </a:solidFill>
                <a:latin typeface="Times New Roman"/>
                <a:ea typeface="Times New Roman"/>
                <a:cs typeface="Times New Roman"/>
              </a:defRPr>
            </a:pPr>
            <a:r>
              <a:rPr sz="4050" b="1">
                <a:solidFill>
                  <a:srgbClr val="111111"/>
                </a:solidFill>
                <a:latin typeface="Times New Roman"/>
                <a:ea typeface="Times New Roman"/>
                <a:cs typeface="Times New Roman"/>
              </a:rPr>
              <a:t>Predictive Shipment Delay Analytics</a:t>
            </a:r>
          </a:p>
          <a:p xmlns:a="http://schemas.openxmlformats.org/drawingml/2006/main">
            <a:pPr algn="ctr">
              <a:defRPr sz="4050" b="1">
                <a:solidFill>
                  <a:srgbClr val="111111"/>
                </a:solidFill>
                <a:latin typeface="Times New Roman"/>
                <a:ea typeface="Times New Roman"/>
                <a:cs typeface="Times New Roman"/>
              </a:defRPr>
            </a:pPr>
            <a:r>
              <a:rPr sz="4050" b="1">
                <a:solidFill>
                  <a:srgbClr val="111111"/>
                </a:solidFill>
                <a:latin typeface="Times New Roman"/>
                <a:ea typeface="Times New Roman"/>
                <a:cs typeface="Times New Roman"/>
              </a:rPr>
              <a:t>for Logistics Decision Support</a:t>
            </a:r>
          </a:p>
        </p:txBody>
      </p:sp>
      <p:sp>
        <p:nvSpPr>
          <p:cNvPr id="3" name="DA3 Completion and Presentation">
            <a:extLst xmlns:a="http://schemas.openxmlformats.org/drawingml/2006/main">
              <a:ext uri="{FF2B5EF4-FFF2-40B4-BE49-F238E27FC236}">
                <a16:creationId xmlns:a16="http://schemas.microsoft.com/office/drawing/2014/main" id="{D1F55152-8BEB-40E8-A46A-BDC6412F0C3E}"/>
              </a:ext>
            </a:extLst>
          </p:cNvPr>
          <p:cNvSpPr>
            <a:spLocks xmlns:a="http://schemas.openxmlformats.org/drawingml/2006/main" noGrp="1"/>
          </p:cNvSpPr>
          <p:nvPr/>
        </p:nvSpPr>
        <p:spPr>
          <a:xfrm xmlns:a="http://schemas.openxmlformats.org/drawingml/2006/main">
            <a:off x="1714500" y="3619500"/>
            <a:ext cx="876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400" b="1">
                <a:solidFill>
                  <a:srgbClr val="111111"/>
                </a:solidFill>
                <a:latin typeface="Times New Roman"/>
                <a:ea typeface="Times New Roman"/>
                <a:cs typeface="Times New Roman"/>
              </a:defRPr>
            </a:defPPr>
            <a:lvl1pPr algn="ctr">
              <a:defRPr sz="2400" b="1">
                <a:solidFill>
                  <a:srgbClr val="111111"/>
                </a:solidFill>
                <a:latin typeface="Times New Roman"/>
                <a:ea typeface="Times New Roman"/>
                <a:cs typeface="Times New Roman"/>
              </a:defRPr>
            </a:lvl1pPr>
            <a:lvl2pPr algn="ctr">
              <a:defRPr sz="2400" b="1">
                <a:solidFill>
                  <a:srgbClr val="111111"/>
                </a:solidFill>
                <a:latin typeface="Times New Roman"/>
                <a:ea typeface="Times New Roman"/>
                <a:cs typeface="Times New Roman"/>
              </a:defRPr>
            </a:lvl2pPr>
            <a:lvl3pPr algn="ctr">
              <a:defRPr sz="2400" b="1">
                <a:solidFill>
                  <a:srgbClr val="111111"/>
                </a:solidFill>
                <a:latin typeface="Times New Roman"/>
                <a:ea typeface="Times New Roman"/>
                <a:cs typeface="Times New Roman"/>
              </a:defRPr>
            </a:lvl3pPr>
            <a:lvl4pPr algn="ctr">
              <a:defRPr sz="2400" b="1">
                <a:solidFill>
                  <a:srgbClr val="111111"/>
                </a:solidFill>
                <a:latin typeface="Times New Roman"/>
                <a:ea typeface="Times New Roman"/>
                <a:cs typeface="Times New Roman"/>
              </a:defRPr>
            </a:lvl4pPr>
            <a:lvl5pPr algn="ctr">
              <a:defRPr sz="2400" b="1">
                <a:solidFill>
                  <a:srgbClr val="111111"/>
                </a:solidFill>
                <a:latin typeface="Times New Roman"/>
                <a:ea typeface="Times New Roman"/>
                <a:cs typeface="Times New Roman"/>
              </a:defRPr>
            </a:lvl5pPr>
            <a:lvl6pPr algn="ctr">
              <a:defRPr sz="2400" b="1">
                <a:solidFill>
                  <a:srgbClr val="111111"/>
                </a:solidFill>
                <a:latin typeface="Times New Roman"/>
                <a:ea typeface="Times New Roman"/>
                <a:cs typeface="Times New Roman"/>
              </a:defRPr>
            </a:lvl6pPr>
            <a:lvl7pPr algn="ctr">
              <a:defRPr sz="2400" b="1">
                <a:solidFill>
                  <a:srgbClr val="111111"/>
                </a:solidFill>
                <a:latin typeface="Times New Roman"/>
                <a:ea typeface="Times New Roman"/>
                <a:cs typeface="Times New Roman"/>
              </a:defRPr>
            </a:lvl7pPr>
            <a:lvl8pPr algn="ctr">
              <a:defRPr sz="2400" b="1">
                <a:solidFill>
                  <a:srgbClr val="111111"/>
                </a:solidFill>
                <a:latin typeface="Times New Roman"/>
                <a:ea typeface="Times New Roman"/>
                <a:cs typeface="Times New Roman"/>
              </a:defRPr>
            </a:lvl8pPr>
            <a:lvl9pPr algn="ctr">
              <a:defRPr sz="2400" b="1">
                <a:solidFill>
                  <a:srgbClr val="111111"/>
                </a:solidFill>
                <a:latin typeface="Times New Roman"/>
                <a:ea typeface="Times New Roman"/>
                <a:cs typeface="Times New Roman"/>
              </a:defRPr>
            </a:lvl9pPr>
          </a:lstStyle>
          <a:p xmlns:a="http://schemas.openxmlformats.org/drawingml/2006/main">
            <a:pPr algn="ctr">
              <a:defRPr sz="2400" b="1">
                <a:solidFill>
                  <a:srgbClr val="111111"/>
                </a:solidFill>
                <a:latin typeface="Times New Roman"/>
                <a:ea typeface="Times New Roman"/>
                <a:cs typeface="Times New Roman"/>
              </a:defRPr>
            </a:pPr>
            <a:r>
              <a:rPr sz="2400" b="1">
                <a:solidFill>
                  <a:srgbClr val="111111"/>
                </a:solidFill>
                <a:latin typeface="Times New Roman"/>
                <a:ea typeface="Times New Roman"/>
                <a:cs typeface="Times New Roman"/>
              </a:rPr>
              <a:t>DA3 Completion and Presentation</a:t>
            </a:r>
          </a:p>
        </p:txBody>
      </p:sp>
      <p:sp>
        <p:nvSpPr>
          <p:cNvPr id="4" name="BCSE402L  Big Data Analytics  |  20 October 2026">
            <a:extLst xmlns:a="http://schemas.openxmlformats.org/drawingml/2006/main">
              <a:ext uri="{FF2B5EF4-FFF2-40B4-BE49-F238E27FC236}">
                <a16:creationId xmlns:a16="http://schemas.microsoft.com/office/drawing/2014/main" id="{E4A1537D-1898-4BDA-BC9D-27F36D61C763}"/>
              </a:ext>
            </a:extLst>
          </p:cNvPr>
          <p:cNvSpPr>
            <a:spLocks xmlns:a="http://schemas.openxmlformats.org/drawingml/2006/main" noGrp="1"/>
          </p:cNvSpPr>
          <p:nvPr/>
        </p:nvSpPr>
        <p:spPr>
          <a:xfrm xmlns:a="http://schemas.openxmlformats.org/drawingml/2006/main">
            <a:off x="1714500" y="4238625"/>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0">
                <a:solidFill>
                  <a:srgbClr val="56616B"/>
                </a:solidFill>
                <a:latin typeface="Times New Roman"/>
                <a:ea typeface="Times New Roman"/>
                <a:cs typeface="Times New Roman"/>
              </a:defRPr>
            </a:defPPr>
            <a:lvl1pPr algn="ctr">
              <a:defRPr sz="1875" b="0">
                <a:solidFill>
                  <a:srgbClr val="56616B"/>
                </a:solidFill>
                <a:latin typeface="Times New Roman"/>
                <a:ea typeface="Times New Roman"/>
                <a:cs typeface="Times New Roman"/>
              </a:defRPr>
            </a:lvl1pPr>
            <a:lvl2pPr algn="ctr">
              <a:defRPr sz="1875" b="0">
                <a:solidFill>
                  <a:srgbClr val="56616B"/>
                </a:solidFill>
                <a:latin typeface="Times New Roman"/>
                <a:ea typeface="Times New Roman"/>
                <a:cs typeface="Times New Roman"/>
              </a:defRPr>
            </a:lvl2pPr>
            <a:lvl3pPr algn="ctr">
              <a:defRPr sz="1875" b="0">
                <a:solidFill>
                  <a:srgbClr val="56616B"/>
                </a:solidFill>
                <a:latin typeface="Times New Roman"/>
                <a:ea typeface="Times New Roman"/>
                <a:cs typeface="Times New Roman"/>
              </a:defRPr>
            </a:lvl3pPr>
            <a:lvl4pPr algn="ctr">
              <a:defRPr sz="1875" b="0">
                <a:solidFill>
                  <a:srgbClr val="56616B"/>
                </a:solidFill>
                <a:latin typeface="Times New Roman"/>
                <a:ea typeface="Times New Roman"/>
                <a:cs typeface="Times New Roman"/>
              </a:defRPr>
            </a:lvl4pPr>
            <a:lvl5pPr algn="ctr">
              <a:defRPr sz="1875" b="0">
                <a:solidFill>
                  <a:srgbClr val="56616B"/>
                </a:solidFill>
                <a:latin typeface="Times New Roman"/>
                <a:ea typeface="Times New Roman"/>
                <a:cs typeface="Times New Roman"/>
              </a:defRPr>
            </a:lvl5pPr>
            <a:lvl6pPr algn="ctr">
              <a:defRPr sz="1875" b="0">
                <a:solidFill>
                  <a:srgbClr val="56616B"/>
                </a:solidFill>
                <a:latin typeface="Times New Roman"/>
                <a:ea typeface="Times New Roman"/>
                <a:cs typeface="Times New Roman"/>
              </a:defRPr>
            </a:lvl6pPr>
            <a:lvl7pPr algn="ctr">
              <a:defRPr sz="1875" b="0">
                <a:solidFill>
                  <a:srgbClr val="56616B"/>
                </a:solidFill>
                <a:latin typeface="Times New Roman"/>
                <a:ea typeface="Times New Roman"/>
                <a:cs typeface="Times New Roman"/>
              </a:defRPr>
            </a:lvl7pPr>
            <a:lvl8pPr algn="ctr">
              <a:defRPr sz="1875" b="0">
                <a:solidFill>
                  <a:srgbClr val="56616B"/>
                </a:solidFill>
                <a:latin typeface="Times New Roman"/>
                <a:ea typeface="Times New Roman"/>
                <a:cs typeface="Times New Roman"/>
              </a:defRPr>
            </a:lvl8pPr>
            <a:lvl9pPr algn="ctr">
              <a:defRPr sz="1875" b="0">
                <a:solidFill>
                  <a:srgbClr val="56616B"/>
                </a:solidFill>
                <a:latin typeface="Times New Roman"/>
                <a:ea typeface="Times New Roman"/>
                <a:cs typeface="Times New Roman"/>
              </a:defRPr>
            </a:lvl9pPr>
          </a:lstStyle>
          <a:p xmlns:a="http://schemas.openxmlformats.org/drawingml/2006/main">
            <a:pPr algn="ctr">
              <a:defRPr sz="1875" b="0">
                <a:solidFill>
                  <a:srgbClr val="56616B"/>
                </a:solidFill>
                <a:latin typeface="Times New Roman"/>
                <a:ea typeface="Times New Roman"/>
                <a:cs typeface="Times New Roman"/>
              </a:defRPr>
            </a:pPr>
            <a:r>
              <a:rPr sz="1875" b="0">
                <a:solidFill>
                  <a:srgbClr val="56616B"/>
                </a:solidFill>
                <a:latin typeface="Times New Roman"/>
                <a:ea typeface="Times New Roman"/>
                <a:cs typeface="Times New Roman"/>
              </a:rPr>
              <a:t>BCSE402L  Big Data Analytics  |  20 October 2026</a:t>
            </a:r>
          </a:p>
        </p:txBody>
      </p:sp>
      <p:sp>
        <p:nvSpPr>
          <p:cNvPr id="5" name="Pranav Satish Khadse  23BLC1237  •  Rishi Jain  23BLC1242&#10;An">
            <a:extLst xmlns:a="http://schemas.openxmlformats.org/drawingml/2006/main">
              <a:ext uri="{FF2B5EF4-FFF2-40B4-BE49-F238E27FC236}">
                <a16:creationId xmlns:a16="http://schemas.microsoft.com/office/drawing/2014/main" id="{69E74B3C-3013-4407-A75E-CD5EC29ED575}"/>
              </a:ext>
            </a:extLst>
          </p:cNvPr>
          <p:cNvSpPr>
            <a:spLocks xmlns:a="http://schemas.openxmlformats.org/drawingml/2006/main" noGrp="1"/>
          </p:cNvSpPr>
          <p:nvPr/>
        </p:nvSpPr>
        <p:spPr>
          <a:xfrm xmlns:a="http://schemas.openxmlformats.org/drawingml/2006/main">
            <a:off x="952500" y="5381625"/>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b="0">
                <a:solidFill>
                  <a:srgbClr val="111111"/>
                </a:solidFill>
                <a:latin typeface="Times New Roman"/>
                <a:ea typeface="Times New Roman"/>
                <a:cs typeface="Times New Roman"/>
              </a:defRPr>
            </a:defPPr>
            <a:lvl1pPr algn="ctr">
              <a:defRPr sz="1800" b="0">
                <a:solidFill>
                  <a:srgbClr val="111111"/>
                </a:solidFill>
                <a:latin typeface="Times New Roman"/>
                <a:ea typeface="Times New Roman"/>
                <a:cs typeface="Times New Roman"/>
              </a:defRPr>
            </a:lvl1pPr>
            <a:lvl2pPr algn="ctr">
              <a:defRPr sz="1800" b="0">
                <a:solidFill>
                  <a:srgbClr val="111111"/>
                </a:solidFill>
                <a:latin typeface="Times New Roman"/>
                <a:ea typeface="Times New Roman"/>
                <a:cs typeface="Times New Roman"/>
              </a:defRPr>
            </a:lvl2pPr>
            <a:lvl3pPr algn="ctr">
              <a:defRPr sz="1800" b="0">
                <a:solidFill>
                  <a:srgbClr val="111111"/>
                </a:solidFill>
                <a:latin typeface="Times New Roman"/>
                <a:ea typeface="Times New Roman"/>
                <a:cs typeface="Times New Roman"/>
              </a:defRPr>
            </a:lvl3pPr>
            <a:lvl4pPr algn="ctr">
              <a:defRPr sz="1800" b="0">
                <a:solidFill>
                  <a:srgbClr val="111111"/>
                </a:solidFill>
                <a:latin typeface="Times New Roman"/>
                <a:ea typeface="Times New Roman"/>
                <a:cs typeface="Times New Roman"/>
              </a:defRPr>
            </a:lvl4pPr>
            <a:lvl5pPr algn="ctr">
              <a:defRPr sz="1800" b="0">
                <a:solidFill>
                  <a:srgbClr val="111111"/>
                </a:solidFill>
                <a:latin typeface="Times New Roman"/>
                <a:ea typeface="Times New Roman"/>
                <a:cs typeface="Times New Roman"/>
              </a:defRPr>
            </a:lvl5pPr>
            <a:lvl6pPr algn="ctr">
              <a:defRPr sz="1800" b="0">
                <a:solidFill>
                  <a:srgbClr val="111111"/>
                </a:solidFill>
                <a:latin typeface="Times New Roman"/>
                <a:ea typeface="Times New Roman"/>
                <a:cs typeface="Times New Roman"/>
              </a:defRPr>
            </a:lvl6pPr>
            <a:lvl7pPr algn="ctr">
              <a:defRPr sz="1800" b="0">
                <a:solidFill>
                  <a:srgbClr val="111111"/>
                </a:solidFill>
                <a:latin typeface="Times New Roman"/>
                <a:ea typeface="Times New Roman"/>
                <a:cs typeface="Times New Roman"/>
              </a:defRPr>
            </a:lvl7pPr>
            <a:lvl8pPr algn="ctr">
              <a:defRPr sz="1800" b="0">
                <a:solidFill>
                  <a:srgbClr val="111111"/>
                </a:solidFill>
                <a:latin typeface="Times New Roman"/>
                <a:ea typeface="Times New Roman"/>
                <a:cs typeface="Times New Roman"/>
              </a:defRPr>
            </a:lvl8pPr>
            <a:lvl9pPr algn="ctr">
              <a:defRPr sz="1800" b="0">
                <a:solidFill>
                  <a:srgbClr val="111111"/>
                </a:solidFill>
                <a:latin typeface="Times New Roman"/>
                <a:ea typeface="Times New Roman"/>
                <a:cs typeface="Times New Roman"/>
              </a:defRPr>
            </a:lvl9pPr>
          </a:lstStyle>
          <a:p xmlns:a="http://schemas.openxmlformats.org/drawingml/2006/main">
            <a:pPr algn="ct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Pranav Satish Khadse  23BLC1237  •  Rishi Jain  23BLC1242</a:t>
            </a:r>
          </a:p>
          <a:p xmlns:a="http://schemas.openxmlformats.org/drawingml/2006/main">
            <a:pPr algn="ct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Anmol Kapil  23BLC1229  •  Abhinav Kumar Singh  23BLC1209</a:t>
            </a:r>
          </a:p>
        </p:txBody>
      </p:sp>
    </p:spTree>
    <p:extLst>
      <p:ext uri="{BB962C8B-B14F-4D97-AF65-F5344CB8AC3E}">
        <p14:creationId xmlns:p14="http://schemas.microsoft.com/office/powerpoint/2010/main" val="18716511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blem and completed scope">
            <a:extLst xmlns:a="http://schemas.openxmlformats.org/drawingml/2006/main">
              <a:ext uri="{FF2B5EF4-FFF2-40B4-BE49-F238E27FC236}">
                <a16:creationId xmlns:a16="http://schemas.microsoft.com/office/drawing/2014/main" id="{9474FCA4-B5D1-4F96-B944-D284E7963E37}"/>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Problem and completed scope</a:t>
            </a:r>
          </a:p>
        </p:txBody>
      </p:sp>
      <p:sp>
        <p:nvSpPr>
          <p:cNvPr id="2" name="BCSE402L  Big Data Analytics  |  DA3  |  20 October 2026">
            <a:extLst xmlns:a="http://schemas.openxmlformats.org/drawingml/2006/main">
              <a:ext uri="{FF2B5EF4-FFF2-40B4-BE49-F238E27FC236}">
                <a16:creationId xmlns:a16="http://schemas.microsoft.com/office/drawing/2014/main" id="{AAA8256F-B7E9-45C4-9C88-7DFC13F2A3DA}"/>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2">
            <a:extLst xmlns:a="http://schemas.openxmlformats.org/drawingml/2006/main">
              <a:ext uri="{FF2B5EF4-FFF2-40B4-BE49-F238E27FC236}">
                <a16:creationId xmlns:a16="http://schemas.microsoft.com/office/drawing/2014/main" id="{2CFEFDF2-A579-44F2-9EA8-A527D03AB07E}"/>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02</a:t>
            </a:r>
          </a:p>
        </p:txBody>
      </p:sp>
      <p:sp>
        <p:nvSpPr>
          <p:cNvPr id="4" name="Estimate late-delivery risk when an order is placed, explain">
            <a:extLst xmlns:a="http://schemas.openxmlformats.org/drawingml/2006/main">
              <a:ext uri="{FF2B5EF4-FFF2-40B4-BE49-F238E27FC236}">
                <a16:creationId xmlns:a16="http://schemas.microsoft.com/office/drawing/2014/main" id="{F5D0B2A4-0E77-4EEA-958C-5986AC67EEAC}"/>
              </a:ext>
            </a:extLst>
          </p:cNvPr>
          <p:cNvSpPr>
            <a:spLocks xmlns:a="http://schemas.openxmlformats.org/drawingml/2006/main" noGrp="1"/>
          </p:cNvSpPr>
          <p:nvPr/>
        </p:nvSpPr>
        <p:spPr>
          <a:xfrm xmlns:a="http://schemas.openxmlformats.org/drawingml/2006/main">
            <a:off x="619125" y="1333500"/>
            <a:ext cx="1062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111111"/>
                </a:solidFill>
                <a:latin typeface="Times New Roman"/>
                <a:ea typeface="Times New Roman"/>
                <a:cs typeface="Times New Roman"/>
              </a:defRPr>
            </a:defPPr>
            <a:lvl1pPr algn="l">
              <a:defRPr sz="2400" b="1">
                <a:solidFill>
                  <a:srgbClr val="111111"/>
                </a:solidFill>
                <a:latin typeface="Times New Roman"/>
                <a:ea typeface="Times New Roman"/>
                <a:cs typeface="Times New Roman"/>
              </a:defRPr>
            </a:lvl1pPr>
            <a:lvl2pPr algn="l">
              <a:defRPr sz="2400" b="1">
                <a:solidFill>
                  <a:srgbClr val="111111"/>
                </a:solidFill>
                <a:latin typeface="Times New Roman"/>
                <a:ea typeface="Times New Roman"/>
                <a:cs typeface="Times New Roman"/>
              </a:defRPr>
            </a:lvl2pPr>
            <a:lvl3pPr algn="l">
              <a:defRPr sz="2400" b="1">
                <a:solidFill>
                  <a:srgbClr val="111111"/>
                </a:solidFill>
                <a:latin typeface="Times New Roman"/>
                <a:ea typeface="Times New Roman"/>
                <a:cs typeface="Times New Roman"/>
              </a:defRPr>
            </a:lvl3pPr>
            <a:lvl4pPr algn="l">
              <a:defRPr sz="2400" b="1">
                <a:solidFill>
                  <a:srgbClr val="111111"/>
                </a:solidFill>
                <a:latin typeface="Times New Roman"/>
                <a:ea typeface="Times New Roman"/>
                <a:cs typeface="Times New Roman"/>
              </a:defRPr>
            </a:lvl4pPr>
            <a:lvl5pPr algn="l">
              <a:defRPr sz="2400" b="1">
                <a:solidFill>
                  <a:srgbClr val="111111"/>
                </a:solidFill>
                <a:latin typeface="Times New Roman"/>
                <a:ea typeface="Times New Roman"/>
                <a:cs typeface="Times New Roman"/>
              </a:defRPr>
            </a:lvl5pPr>
            <a:lvl6pPr algn="l">
              <a:defRPr sz="2400" b="1">
                <a:solidFill>
                  <a:srgbClr val="111111"/>
                </a:solidFill>
                <a:latin typeface="Times New Roman"/>
                <a:ea typeface="Times New Roman"/>
                <a:cs typeface="Times New Roman"/>
              </a:defRPr>
            </a:lvl6pPr>
            <a:lvl7pPr algn="l">
              <a:defRPr sz="2400" b="1">
                <a:solidFill>
                  <a:srgbClr val="111111"/>
                </a:solidFill>
                <a:latin typeface="Times New Roman"/>
                <a:ea typeface="Times New Roman"/>
                <a:cs typeface="Times New Roman"/>
              </a:defRPr>
            </a:lvl7pPr>
            <a:lvl8pPr algn="l">
              <a:defRPr sz="2400" b="1">
                <a:solidFill>
                  <a:srgbClr val="111111"/>
                </a:solidFill>
                <a:latin typeface="Times New Roman"/>
                <a:ea typeface="Times New Roman"/>
                <a:cs typeface="Times New Roman"/>
              </a:defRPr>
            </a:lvl8pPr>
            <a:lvl9pPr algn="l">
              <a:defRPr sz="2400" b="1">
                <a:solidFill>
                  <a:srgbClr val="111111"/>
                </a:solidFill>
                <a:latin typeface="Times New Roman"/>
                <a:ea typeface="Times New Roman"/>
                <a:cs typeface="Times New Roman"/>
              </a:defRPr>
            </a:lvl9pPr>
          </a:lstStyle>
          <a:p xmlns:a="http://schemas.openxmlformats.org/drawingml/2006/main">
            <a:pPr algn="l">
              <a:defRPr sz="2400" b="1">
                <a:solidFill>
                  <a:srgbClr val="111111"/>
                </a:solidFill>
                <a:latin typeface="Times New Roman"/>
                <a:ea typeface="Times New Roman"/>
                <a:cs typeface="Times New Roman"/>
              </a:defRPr>
            </a:pPr>
            <a:r>
              <a:rPr sz="2400" b="1">
                <a:solidFill>
                  <a:srgbClr val="111111"/>
                </a:solidFill>
                <a:latin typeface="Times New Roman"/>
                <a:ea typeface="Times New Roman"/>
                <a:cs typeface="Times New Roman"/>
              </a:rPr>
              <a:t>Estimate late-delivery risk when an order is placed, explain the warning and support an operator’s next review.</a:t>
            </a:r>
          </a:p>
        </p:txBody>
      </p:sp>
      <p:sp>
        <p:nvSpPr>
          <p:cNvPr id="5" name="Completed application">
            <a:extLst xmlns:a="http://schemas.openxmlformats.org/drawingml/2006/main">
              <a:ext uri="{FF2B5EF4-FFF2-40B4-BE49-F238E27FC236}">
                <a16:creationId xmlns:a16="http://schemas.microsoft.com/office/drawing/2014/main" id="{DDE0AA3C-E553-4B3F-8E2A-1D227E02765F}"/>
              </a:ext>
            </a:extLst>
          </p:cNvPr>
          <p:cNvSpPr>
            <a:spLocks xmlns:a="http://schemas.openxmlformats.org/drawingml/2006/main" noGrp="1"/>
          </p:cNvSpPr>
          <p:nvPr/>
        </p:nvSpPr>
        <p:spPr>
          <a:xfrm xmlns:a="http://schemas.openxmlformats.org/drawingml/2006/main">
            <a:off x="619125" y="25717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11111"/>
                </a:solidFill>
                <a:latin typeface="Times New Roman"/>
                <a:ea typeface="Times New Roman"/>
                <a:cs typeface="Times New Roman"/>
              </a:defRPr>
            </a:defPPr>
            <a:lvl1pPr algn="l">
              <a:defRPr sz="2250" b="1">
                <a:solidFill>
                  <a:srgbClr val="111111"/>
                </a:solidFill>
                <a:latin typeface="Times New Roman"/>
                <a:ea typeface="Times New Roman"/>
                <a:cs typeface="Times New Roman"/>
              </a:defRPr>
            </a:lvl1pPr>
            <a:lvl2pPr algn="l">
              <a:defRPr sz="2250" b="1">
                <a:solidFill>
                  <a:srgbClr val="111111"/>
                </a:solidFill>
                <a:latin typeface="Times New Roman"/>
                <a:ea typeface="Times New Roman"/>
                <a:cs typeface="Times New Roman"/>
              </a:defRPr>
            </a:lvl2pPr>
            <a:lvl3pPr algn="l">
              <a:defRPr sz="2250" b="1">
                <a:solidFill>
                  <a:srgbClr val="111111"/>
                </a:solidFill>
                <a:latin typeface="Times New Roman"/>
                <a:ea typeface="Times New Roman"/>
                <a:cs typeface="Times New Roman"/>
              </a:defRPr>
            </a:lvl3pPr>
            <a:lvl4pPr algn="l">
              <a:defRPr sz="2250" b="1">
                <a:solidFill>
                  <a:srgbClr val="111111"/>
                </a:solidFill>
                <a:latin typeface="Times New Roman"/>
                <a:ea typeface="Times New Roman"/>
                <a:cs typeface="Times New Roman"/>
              </a:defRPr>
            </a:lvl4pPr>
            <a:lvl5pPr algn="l">
              <a:defRPr sz="2250" b="1">
                <a:solidFill>
                  <a:srgbClr val="111111"/>
                </a:solidFill>
                <a:latin typeface="Times New Roman"/>
                <a:ea typeface="Times New Roman"/>
                <a:cs typeface="Times New Roman"/>
              </a:defRPr>
            </a:lvl5pPr>
            <a:lvl6pPr algn="l">
              <a:defRPr sz="2250" b="1">
                <a:solidFill>
                  <a:srgbClr val="111111"/>
                </a:solidFill>
                <a:latin typeface="Times New Roman"/>
                <a:ea typeface="Times New Roman"/>
                <a:cs typeface="Times New Roman"/>
              </a:defRPr>
            </a:lvl6pPr>
            <a:lvl7pPr algn="l">
              <a:defRPr sz="2250" b="1">
                <a:solidFill>
                  <a:srgbClr val="111111"/>
                </a:solidFill>
                <a:latin typeface="Times New Roman"/>
                <a:ea typeface="Times New Roman"/>
                <a:cs typeface="Times New Roman"/>
              </a:defRPr>
            </a:lvl7pPr>
            <a:lvl8pPr algn="l">
              <a:defRPr sz="2250" b="1">
                <a:solidFill>
                  <a:srgbClr val="111111"/>
                </a:solidFill>
                <a:latin typeface="Times New Roman"/>
                <a:ea typeface="Times New Roman"/>
                <a:cs typeface="Times New Roman"/>
              </a:defRPr>
            </a:lvl8pPr>
            <a:lvl9pPr algn="l">
              <a:defRPr sz="2250" b="1">
                <a:solidFill>
                  <a:srgbClr val="111111"/>
                </a:solidFill>
                <a:latin typeface="Times New Roman"/>
                <a:ea typeface="Times New Roman"/>
                <a:cs typeface="Times New Roman"/>
              </a:defRPr>
            </a:lvl9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Completed application</a:t>
            </a:r>
          </a:p>
        </p:txBody>
      </p:sp>
      <p:sp>
        <p:nvSpPr>
          <p:cNvPr id="6" name="Real PySpark preparation and Spark SQL&#10;Chronological LR and ">
            <a:extLst xmlns:a="http://schemas.openxmlformats.org/drawingml/2006/main">
              <a:ext uri="{FF2B5EF4-FFF2-40B4-BE49-F238E27FC236}">
                <a16:creationId xmlns:a16="http://schemas.microsoft.com/office/drawing/2014/main" id="{424CCA6D-9A78-40E4-9804-F3989759CA46}"/>
              </a:ext>
            </a:extLst>
          </p:cNvPr>
          <p:cNvSpPr>
            <a:spLocks xmlns:a="http://schemas.openxmlformats.org/drawingml/2006/main" noGrp="1"/>
          </p:cNvSpPr>
          <p:nvPr/>
        </p:nvSpPr>
        <p:spPr>
          <a:xfrm xmlns:a="http://schemas.openxmlformats.org/drawingml/2006/main">
            <a:off x="619125" y="314325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11111"/>
                </a:solidFill>
                <a:latin typeface="Times New Roman"/>
                <a:ea typeface="Times New Roman"/>
                <a:cs typeface="Times New Roman"/>
              </a:defRPr>
            </a:defPPr>
            <a:lvl1pPr algn="l">
              <a:defRPr sz="2175" b="0">
                <a:solidFill>
                  <a:srgbClr val="111111"/>
                </a:solidFill>
                <a:latin typeface="Times New Roman"/>
                <a:ea typeface="Times New Roman"/>
                <a:cs typeface="Times New Roman"/>
              </a:defRPr>
            </a:lvl1pPr>
            <a:lvl2pPr algn="l">
              <a:defRPr sz="2175" b="0">
                <a:solidFill>
                  <a:srgbClr val="111111"/>
                </a:solidFill>
                <a:latin typeface="Times New Roman"/>
                <a:ea typeface="Times New Roman"/>
                <a:cs typeface="Times New Roman"/>
              </a:defRPr>
            </a:lvl2pPr>
            <a:lvl3pPr algn="l">
              <a:defRPr sz="2175" b="0">
                <a:solidFill>
                  <a:srgbClr val="111111"/>
                </a:solidFill>
                <a:latin typeface="Times New Roman"/>
                <a:ea typeface="Times New Roman"/>
                <a:cs typeface="Times New Roman"/>
              </a:defRPr>
            </a:lvl3pPr>
            <a:lvl4pPr algn="l">
              <a:defRPr sz="2175" b="0">
                <a:solidFill>
                  <a:srgbClr val="111111"/>
                </a:solidFill>
                <a:latin typeface="Times New Roman"/>
                <a:ea typeface="Times New Roman"/>
                <a:cs typeface="Times New Roman"/>
              </a:defRPr>
            </a:lvl4pPr>
            <a:lvl5pPr algn="l">
              <a:defRPr sz="2175" b="0">
                <a:solidFill>
                  <a:srgbClr val="111111"/>
                </a:solidFill>
                <a:latin typeface="Times New Roman"/>
                <a:ea typeface="Times New Roman"/>
                <a:cs typeface="Times New Roman"/>
              </a:defRPr>
            </a:lvl5pPr>
            <a:lvl6pPr algn="l">
              <a:defRPr sz="2175" b="0">
                <a:solidFill>
                  <a:srgbClr val="111111"/>
                </a:solidFill>
                <a:latin typeface="Times New Roman"/>
                <a:ea typeface="Times New Roman"/>
                <a:cs typeface="Times New Roman"/>
              </a:defRPr>
            </a:lvl6pPr>
            <a:lvl7pPr algn="l">
              <a:defRPr sz="2175" b="0">
                <a:solidFill>
                  <a:srgbClr val="111111"/>
                </a:solidFill>
                <a:latin typeface="Times New Roman"/>
                <a:ea typeface="Times New Roman"/>
                <a:cs typeface="Times New Roman"/>
              </a:defRPr>
            </a:lvl7pPr>
            <a:lvl8pPr algn="l">
              <a:defRPr sz="2175" b="0">
                <a:solidFill>
                  <a:srgbClr val="111111"/>
                </a:solidFill>
                <a:latin typeface="Times New Roman"/>
                <a:ea typeface="Times New Roman"/>
                <a:cs typeface="Times New Roman"/>
              </a:defRPr>
            </a:lvl8pPr>
            <a:lvl9pPr algn="l">
              <a:defRPr sz="2175" b="0">
                <a:solidFill>
                  <a:srgbClr val="111111"/>
                </a:solidFill>
                <a:latin typeface="Times New Roman"/>
                <a:ea typeface="Times New Roman"/>
                <a:cs typeface="Times New Roman"/>
              </a:defRPr>
            </a:lvl9pPr>
          </a:lstStyle>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Real PySpark preparation and Spark SQL</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Chronological LR and RF comparison</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Order-time prediction with genuine SHAP</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Predefined operator recommendations</a:t>
            </a:r>
          </a:p>
        </p:txBody>
      </p:sp>
      <p:sp>
        <p:nvSpPr>
          <p:cNvPr id="7" name="Integrated demonstration">
            <a:extLst xmlns:a="http://schemas.openxmlformats.org/drawingml/2006/main">
              <a:ext uri="{FF2B5EF4-FFF2-40B4-BE49-F238E27FC236}">
                <a16:creationId xmlns:a16="http://schemas.microsoft.com/office/drawing/2014/main" id="{8E0214F7-7481-49D5-BD4C-A0BDFB6D299E}"/>
              </a:ext>
            </a:extLst>
          </p:cNvPr>
          <p:cNvSpPr>
            <a:spLocks xmlns:a="http://schemas.openxmlformats.org/drawingml/2006/main" noGrp="1"/>
          </p:cNvSpPr>
          <p:nvPr/>
        </p:nvSpPr>
        <p:spPr>
          <a:xfrm xmlns:a="http://schemas.openxmlformats.org/drawingml/2006/main">
            <a:off x="6667500" y="25717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11111"/>
                </a:solidFill>
                <a:latin typeface="Times New Roman"/>
                <a:ea typeface="Times New Roman"/>
                <a:cs typeface="Times New Roman"/>
              </a:defRPr>
            </a:defPPr>
            <a:lvl1pPr algn="l">
              <a:defRPr sz="2250" b="1">
                <a:solidFill>
                  <a:srgbClr val="111111"/>
                </a:solidFill>
                <a:latin typeface="Times New Roman"/>
                <a:ea typeface="Times New Roman"/>
                <a:cs typeface="Times New Roman"/>
              </a:defRPr>
            </a:lvl1pPr>
            <a:lvl2pPr algn="l">
              <a:defRPr sz="2250" b="1">
                <a:solidFill>
                  <a:srgbClr val="111111"/>
                </a:solidFill>
                <a:latin typeface="Times New Roman"/>
                <a:ea typeface="Times New Roman"/>
                <a:cs typeface="Times New Roman"/>
              </a:defRPr>
            </a:lvl2pPr>
            <a:lvl3pPr algn="l">
              <a:defRPr sz="2250" b="1">
                <a:solidFill>
                  <a:srgbClr val="111111"/>
                </a:solidFill>
                <a:latin typeface="Times New Roman"/>
                <a:ea typeface="Times New Roman"/>
                <a:cs typeface="Times New Roman"/>
              </a:defRPr>
            </a:lvl3pPr>
            <a:lvl4pPr algn="l">
              <a:defRPr sz="2250" b="1">
                <a:solidFill>
                  <a:srgbClr val="111111"/>
                </a:solidFill>
                <a:latin typeface="Times New Roman"/>
                <a:ea typeface="Times New Roman"/>
                <a:cs typeface="Times New Roman"/>
              </a:defRPr>
            </a:lvl4pPr>
            <a:lvl5pPr algn="l">
              <a:defRPr sz="2250" b="1">
                <a:solidFill>
                  <a:srgbClr val="111111"/>
                </a:solidFill>
                <a:latin typeface="Times New Roman"/>
                <a:ea typeface="Times New Roman"/>
                <a:cs typeface="Times New Roman"/>
              </a:defRPr>
            </a:lvl5pPr>
            <a:lvl6pPr algn="l">
              <a:defRPr sz="2250" b="1">
                <a:solidFill>
                  <a:srgbClr val="111111"/>
                </a:solidFill>
                <a:latin typeface="Times New Roman"/>
                <a:ea typeface="Times New Roman"/>
                <a:cs typeface="Times New Roman"/>
              </a:defRPr>
            </a:lvl6pPr>
            <a:lvl7pPr algn="l">
              <a:defRPr sz="2250" b="1">
                <a:solidFill>
                  <a:srgbClr val="111111"/>
                </a:solidFill>
                <a:latin typeface="Times New Roman"/>
                <a:ea typeface="Times New Roman"/>
                <a:cs typeface="Times New Roman"/>
              </a:defRPr>
            </a:lvl7pPr>
            <a:lvl8pPr algn="l">
              <a:defRPr sz="2250" b="1">
                <a:solidFill>
                  <a:srgbClr val="111111"/>
                </a:solidFill>
                <a:latin typeface="Times New Roman"/>
                <a:ea typeface="Times New Roman"/>
                <a:cs typeface="Times New Roman"/>
              </a:defRPr>
            </a:lvl8pPr>
            <a:lvl9pPr algn="l">
              <a:defRPr sz="2250" b="1">
                <a:solidFill>
                  <a:srgbClr val="111111"/>
                </a:solidFill>
                <a:latin typeface="Times New Roman"/>
                <a:ea typeface="Times New Roman"/>
                <a:cs typeface="Times New Roman"/>
              </a:defRPr>
            </a:lvl9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Integrated demonstration</a:t>
            </a:r>
          </a:p>
        </p:txBody>
      </p:sp>
      <p:sp>
        <p:nvSpPr>
          <p:cNvPr id="8" name="Filterable dashboard and delay heatmap&#10;On-demand Groq operat">
            <a:extLst xmlns:a="http://schemas.openxmlformats.org/drawingml/2006/main">
              <a:ext uri="{FF2B5EF4-FFF2-40B4-BE49-F238E27FC236}">
                <a16:creationId xmlns:a16="http://schemas.microsoft.com/office/drawing/2014/main" id="{9CD82534-BDEC-4A82-891B-452E7A7C01B5}"/>
              </a:ext>
            </a:extLst>
          </p:cNvPr>
          <p:cNvSpPr>
            <a:spLocks xmlns:a="http://schemas.openxmlformats.org/drawingml/2006/main" noGrp="1"/>
          </p:cNvSpPr>
          <p:nvPr/>
        </p:nvSpPr>
        <p:spPr>
          <a:xfrm xmlns:a="http://schemas.openxmlformats.org/drawingml/2006/main">
            <a:off x="6667500" y="314325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11111"/>
                </a:solidFill>
                <a:latin typeface="Times New Roman"/>
                <a:ea typeface="Times New Roman"/>
                <a:cs typeface="Times New Roman"/>
              </a:defRPr>
            </a:defPPr>
            <a:lvl1pPr algn="l">
              <a:defRPr sz="2175" b="0">
                <a:solidFill>
                  <a:srgbClr val="111111"/>
                </a:solidFill>
                <a:latin typeface="Times New Roman"/>
                <a:ea typeface="Times New Roman"/>
                <a:cs typeface="Times New Roman"/>
              </a:defRPr>
            </a:lvl1pPr>
            <a:lvl2pPr algn="l">
              <a:defRPr sz="2175" b="0">
                <a:solidFill>
                  <a:srgbClr val="111111"/>
                </a:solidFill>
                <a:latin typeface="Times New Roman"/>
                <a:ea typeface="Times New Roman"/>
                <a:cs typeface="Times New Roman"/>
              </a:defRPr>
            </a:lvl2pPr>
            <a:lvl3pPr algn="l">
              <a:defRPr sz="2175" b="0">
                <a:solidFill>
                  <a:srgbClr val="111111"/>
                </a:solidFill>
                <a:latin typeface="Times New Roman"/>
                <a:ea typeface="Times New Roman"/>
                <a:cs typeface="Times New Roman"/>
              </a:defRPr>
            </a:lvl3pPr>
            <a:lvl4pPr algn="l">
              <a:defRPr sz="2175" b="0">
                <a:solidFill>
                  <a:srgbClr val="111111"/>
                </a:solidFill>
                <a:latin typeface="Times New Roman"/>
                <a:ea typeface="Times New Roman"/>
                <a:cs typeface="Times New Roman"/>
              </a:defRPr>
            </a:lvl4pPr>
            <a:lvl5pPr algn="l">
              <a:defRPr sz="2175" b="0">
                <a:solidFill>
                  <a:srgbClr val="111111"/>
                </a:solidFill>
                <a:latin typeface="Times New Roman"/>
                <a:ea typeface="Times New Roman"/>
                <a:cs typeface="Times New Roman"/>
              </a:defRPr>
            </a:lvl5pPr>
            <a:lvl6pPr algn="l">
              <a:defRPr sz="2175" b="0">
                <a:solidFill>
                  <a:srgbClr val="111111"/>
                </a:solidFill>
                <a:latin typeface="Times New Roman"/>
                <a:ea typeface="Times New Roman"/>
                <a:cs typeface="Times New Roman"/>
              </a:defRPr>
            </a:lvl6pPr>
            <a:lvl7pPr algn="l">
              <a:defRPr sz="2175" b="0">
                <a:solidFill>
                  <a:srgbClr val="111111"/>
                </a:solidFill>
                <a:latin typeface="Times New Roman"/>
                <a:ea typeface="Times New Roman"/>
                <a:cs typeface="Times New Roman"/>
              </a:defRPr>
            </a:lvl7pPr>
            <a:lvl8pPr algn="l">
              <a:defRPr sz="2175" b="0">
                <a:solidFill>
                  <a:srgbClr val="111111"/>
                </a:solidFill>
                <a:latin typeface="Times New Roman"/>
                <a:ea typeface="Times New Roman"/>
                <a:cs typeface="Times New Roman"/>
              </a:defRPr>
            </a:lvl8pPr>
            <a:lvl9pPr algn="l">
              <a:defRPr sz="2175" b="0">
                <a:solidFill>
                  <a:srgbClr val="111111"/>
                </a:solidFill>
                <a:latin typeface="Times New Roman"/>
                <a:ea typeface="Times New Roman"/>
                <a:cs typeface="Times New Roman"/>
              </a:defRPr>
            </a:lvl9pPr>
          </a:lstStyle>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Filterable dashboard and delay heatmap</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On-demand Groq operator summary</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Direct SQL and natural-language SQL</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35 backend tests and browser checks</a:t>
            </a:r>
          </a:p>
        </p:txBody>
      </p:sp>
      <p:sp>
        <p:nvSpPr>
          <p:cNvPr id="9" name="Final target: 1 when actual days exceed scheduled days; othe">
            <a:extLst xmlns:a="http://schemas.openxmlformats.org/drawingml/2006/main">
              <a:ext uri="{FF2B5EF4-FFF2-40B4-BE49-F238E27FC236}">
                <a16:creationId xmlns:a16="http://schemas.microsoft.com/office/drawing/2014/main" id="{90B3864E-27E1-412E-8DE1-0B88AB5161BA}"/>
              </a:ext>
            </a:extLst>
          </p:cNvPr>
          <p:cNvSpPr>
            <a:spLocks xmlns:a="http://schemas.openxmlformats.org/drawingml/2006/main" noGrp="1"/>
          </p:cNvSpPr>
          <p:nvPr/>
        </p:nvSpPr>
        <p:spPr>
          <a:xfrm xmlns:a="http://schemas.openxmlformats.org/drawingml/2006/main">
            <a:off x="619125" y="5619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44763"/>
                </a:solidFill>
                <a:latin typeface="Times New Roman"/>
                <a:ea typeface="Times New Roman"/>
                <a:cs typeface="Times New Roman"/>
              </a:defRPr>
            </a:defPPr>
            <a:lvl1pPr algn="l">
              <a:defRPr sz="2025" b="0">
                <a:solidFill>
                  <a:srgbClr val="244763"/>
                </a:solidFill>
                <a:latin typeface="Times New Roman"/>
                <a:ea typeface="Times New Roman"/>
                <a:cs typeface="Times New Roman"/>
              </a:defRPr>
            </a:lvl1pPr>
            <a:lvl2pPr algn="l">
              <a:defRPr sz="2025" b="0">
                <a:solidFill>
                  <a:srgbClr val="244763"/>
                </a:solidFill>
                <a:latin typeface="Times New Roman"/>
                <a:ea typeface="Times New Roman"/>
                <a:cs typeface="Times New Roman"/>
              </a:defRPr>
            </a:lvl2pPr>
            <a:lvl3pPr algn="l">
              <a:defRPr sz="2025" b="0">
                <a:solidFill>
                  <a:srgbClr val="244763"/>
                </a:solidFill>
                <a:latin typeface="Times New Roman"/>
                <a:ea typeface="Times New Roman"/>
                <a:cs typeface="Times New Roman"/>
              </a:defRPr>
            </a:lvl3pPr>
            <a:lvl4pPr algn="l">
              <a:defRPr sz="2025" b="0">
                <a:solidFill>
                  <a:srgbClr val="244763"/>
                </a:solidFill>
                <a:latin typeface="Times New Roman"/>
                <a:ea typeface="Times New Roman"/>
                <a:cs typeface="Times New Roman"/>
              </a:defRPr>
            </a:lvl4pPr>
            <a:lvl5pPr algn="l">
              <a:defRPr sz="2025" b="0">
                <a:solidFill>
                  <a:srgbClr val="244763"/>
                </a:solidFill>
                <a:latin typeface="Times New Roman"/>
                <a:ea typeface="Times New Roman"/>
                <a:cs typeface="Times New Roman"/>
              </a:defRPr>
            </a:lvl5pPr>
            <a:lvl6pPr algn="l">
              <a:defRPr sz="2025" b="0">
                <a:solidFill>
                  <a:srgbClr val="244763"/>
                </a:solidFill>
                <a:latin typeface="Times New Roman"/>
                <a:ea typeface="Times New Roman"/>
                <a:cs typeface="Times New Roman"/>
              </a:defRPr>
            </a:lvl6pPr>
            <a:lvl7pPr algn="l">
              <a:defRPr sz="2025" b="0">
                <a:solidFill>
                  <a:srgbClr val="244763"/>
                </a:solidFill>
                <a:latin typeface="Times New Roman"/>
                <a:ea typeface="Times New Roman"/>
                <a:cs typeface="Times New Roman"/>
              </a:defRPr>
            </a:lvl7pPr>
            <a:lvl8pPr algn="l">
              <a:defRPr sz="2025" b="0">
                <a:solidFill>
                  <a:srgbClr val="244763"/>
                </a:solidFill>
                <a:latin typeface="Times New Roman"/>
                <a:ea typeface="Times New Roman"/>
                <a:cs typeface="Times New Roman"/>
              </a:defRPr>
            </a:lvl8pPr>
            <a:lvl9pPr algn="l">
              <a:defRPr sz="2025" b="0">
                <a:solidFill>
                  <a:srgbClr val="244763"/>
                </a:solidFill>
                <a:latin typeface="Times New Roman"/>
                <a:ea typeface="Times New Roman"/>
                <a:cs typeface="Times New Roman"/>
              </a:defRPr>
            </a:lvl9pPr>
          </a:lstStyle>
          <a:p xmlns:a="http://schemas.openxmlformats.org/drawingml/2006/main">
            <a:pPr algn="l">
              <a:defRPr sz="2025" b="0">
                <a:solidFill>
                  <a:srgbClr val="244763"/>
                </a:solidFill>
                <a:latin typeface="Times New Roman"/>
                <a:ea typeface="Times New Roman"/>
                <a:cs typeface="Times New Roman"/>
              </a:defRPr>
            </a:pPr>
            <a:r>
              <a:rPr sz="2025" b="0">
                <a:solidFill>
                  <a:srgbClr val="244763"/>
                </a:solidFill>
                <a:latin typeface="Times New Roman"/>
                <a:ea typeface="Times New Roman"/>
                <a:cs typeface="Times New Roman"/>
              </a:rPr>
              <a:t>Final target: 1 when actual days exceed scheduled days; otherwise 0.</a:t>
            </a:r>
          </a:p>
        </p:txBody>
      </p:sp>
    </p:spTree>
    <p:extLst>
      <p:ext uri="{BB962C8B-B14F-4D97-AF65-F5344CB8AC3E}">
        <p14:creationId xmlns:p14="http://schemas.microsoft.com/office/powerpoint/2010/main" val="1363909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Complete project architecture">
            <a:extLst xmlns:a="http://schemas.openxmlformats.org/drawingml/2006/main">
              <a:ext uri="{FF2B5EF4-FFF2-40B4-BE49-F238E27FC236}">
                <a16:creationId xmlns:a16="http://schemas.microsoft.com/office/drawing/2014/main" id="{F0FFE2C3-D3DC-4039-B4C7-1E06E3AE21F9}"/>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Complete project architecture</a:t>
            </a:r>
          </a:p>
        </p:txBody>
      </p:sp>
      <p:sp>
        <p:nvSpPr>
          <p:cNvPr id="2" name="BCSE402L  Big Data Analytics  |  DA3  |  20 October 2026">
            <a:extLst xmlns:a="http://schemas.openxmlformats.org/drawingml/2006/main">
              <a:ext uri="{FF2B5EF4-FFF2-40B4-BE49-F238E27FC236}">
                <a16:creationId xmlns:a16="http://schemas.microsoft.com/office/drawing/2014/main" id="{6AB27264-CADE-4E39-8BDD-DD7A146BB981}"/>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3">
            <a:extLst xmlns:a="http://schemas.openxmlformats.org/drawingml/2006/main">
              <a:ext uri="{FF2B5EF4-FFF2-40B4-BE49-F238E27FC236}">
                <a16:creationId xmlns:a16="http://schemas.microsoft.com/office/drawing/2014/main" id="{8AE7E83A-17B0-4800-A757-50019DAE8585}"/>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03</a:t>
            </a:r>
          </a:p>
        </p:txBody>
      </p:sp>
      <p:sp>
        <p:nvSpPr>
          <p:cNvPr id="4" name="">
            <a:extLst xmlns:a="http://schemas.openxmlformats.org/drawingml/2006/main">
              <a:ext uri="{FF2B5EF4-FFF2-40B4-BE49-F238E27FC236}">
                <a16:creationId xmlns:a16="http://schemas.microsoft.com/office/drawing/2014/main" id="{B7901F4C-5686-4F71-9E6A-B839B239A04A}"/>
              </a:ext>
            </a:extLst>
          </p:cNvPr>
          <p:cNvSpPr>
            <a:spLocks xmlns:a="http://schemas.openxmlformats.org/drawingml/2006/main" noGrp="1"/>
          </p:cNvSpPr>
          <p:nvPr/>
        </p:nvSpPr>
        <p:spPr>
          <a:xfrm xmlns:a="http://schemas.openxmlformats.org/drawingml/2006/main">
            <a:off x="571500" y="1333500"/>
            <a:ext cx="2667000" cy="1000125"/>
          </a:xfrm>
          <a:prstGeom xmlns:a="http://schemas.openxmlformats.org/drawingml/2006/main" prst="roundRect">
            <a:avLst>
              <a:gd name="adj" fmla="val 7619"/>
            </a:avLst>
          </a:prstGeom>
          <a:solidFill xmlns:a="http://schemas.openxmlformats.org/drawingml/2006/main">
            <a:srgbClr val="F1F5F8"/>
          </a:solidFill>
          <a:ln xmlns:a="http://schemas.openxmlformats.org/drawingml/2006/main" w="9525">
            <a:solidFill>
              <a:srgbClr val="244763"/>
            </a:solidFill>
          </a:ln>
        </p:spPr>
      </p:sp>
      <p:sp>
        <p:nvSpPr>
          <p:cNvPr id="5" name="DataCo CSV">
            <a:extLst xmlns:a="http://schemas.openxmlformats.org/drawingml/2006/main">
              <a:ext uri="{FF2B5EF4-FFF2-40B4-BE49-F238E27FC236}">
                <a16:creationId xmlns:a16="http://schemas.microsoft.com/office/drawing/2014/main" id="{48BDE1CB-2816-4016-85F6-F8102574000C}"/>
              </a:ext>
            </a:extLst>
          </p:cNvPr>
          <p:cNvSpPr>
            <a:spLocks xmlns:a="http://schemas.openxmlformats.org/drawingml/2006/main" noGrp="1"/>
          </p:cNvSpPr>
          <p:nvPr/>
        </p:nvSpPr>
        <p:spPr>
          <a:xfrm xmlns:a="http://schemas.openxmlformats.org/drawingml/2006/main">
            <a:off x="647700" y="14287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DataCo CSV</a:t>
            </a:r>
          </a:p>
        </p:txBody>
      </p:sp>
      <p:sp>
        <p:nvSpPr>
          <p:cNvPr id="6" name="Local OR Docker HDFS&#10;NameNode + DataNode">
            <a:extLst xmlns:a="http://schemas.openxmlformats.org/drawingml/2006/main">
              <a:ext uri="{FF2B5EF4-FFF2-40B4-BE49-F238E27FC236}">
                <a16:creationId xmlns:a16="http://schemas.microsoft.com/office/drawing/2014/main" id="{03C02642-0BEA-4CF8-93E0-6C923E6E402F}"/>
              </a:ext>
            </a:extLst>
          </p:cNvPr>
          <p:cNvSpPr>
            <a:spLocks xmlns:a="http://schemas.openxmlformats.org/drawingml/2006/main" noGrp="1"/>
          </p:cNvSpPr>
          <p:nvPr/>
        </p:nvSpPr>
        <p:spPr>
          <a:xfrm xmlns:a="http://schemas.openxmlformats.org/drawingml/2006/main">
            <a:off x="666750" y="1771650"/>
            <a:ext cx="247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Local OR Docker HDFS</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NameNode + DataNode</a:t>
            </a:r>
          </a:p>
        </p:txBody>
      </p:sp>
      <p:sp>
        <p:nvSpPr>
          <p:cNvPr id="7" name="">
            <a:extLst xmlns:a="http://schemas.openxmlformats.org/drawingml/2006/main">
              <a:ext uri="{FF2B5EF4-FFF2-40B4-BE49-F238E27FC236}">
                <a16:creationId xmlns:a16="http://schemas.microsoft.com/office/drawing/2014/main" id="{B680698C-9DDB-4218-B05A-60E1EA3A06E8}"/>
              </a:ext>
            </a:extLst>
          </p:cNvPr>
          <p:cNvSpPr>
            <a:spLocks xmlns:a="http://schemas.openxmlformats.org/drawingml/2006/main" noGrp="1"/>
          </p:cNvSpPr>
          <p:nvPr/>
        </p:nvSpPr>
        <p:spPr>
          <a:xfrm xmlns:a="http://schemas.openxmlformats.org/drawingml/2006/main">
            <a:off x="4000500" y="1333500"/>
            <a:ext cx="3571875" cy="1000125"/>
          </a:xfrm>
          <a:prstGeom xmlns:a="http://schemas.openxmlformats.org/drawingml/2006/main" prst="roundRect">
            <a:avLst>
              <a:gd name="adj" fmla="val 7619"/>
            </a:avLst>
          </a:prstGeom>
          <a:solidFill xmlns:a="http://schemas.openxmlformats.org/drawingml/2006/main">
            <a:srgbClr val="F1F5F8"/>
          </a:solidFill>
          <a:ln xmlns:a="http://schemas.openxmlformats.org/drawingml/2006/main" w="9525">
            <a:solidFill>
              <a:srgbClr val="244763"/>
            </a:solidFill>
          </a:ln>
        </p:spPr>
      </p:sp>
      <p:sp>
        <p:nvSpPr>
          <p:cNvPr id="8" name="PySpark data pipeline">
            <a:extLst xmlns:a="http://schemas.openxmlformats.org/drawingml/2006/main">
              <a:ext uri="{FF2B5EF4-FFF2-40B4-BE49-F238E27FC236}">
                <a16:creationId xmlns:a16="http://schemas.microsoft.com/office/drawing/2014/main" id="{9CA0BA1D-7741-433A-B020-DFC721115F8F}"/>
              </a:ext>
            </a:extLst>
          </p:cNvPr>
          <p:cNvSpPr>
            <a:spLocks xmlns:a="http://schemas.openxmlformats.org/drawingml/2006/main" noGrp="1"/>
          </p:cNvSpPr>
          <p:nvPr/>
        </p:nvSpPr>
        <p:spPr>
          <a:xfrm xmlns:a="http://schemas.openxmlformats.org/drawingml/2006/main">
            <a:off x="4076700" y="1428750"/>
            <a:ext cx="3419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PySpark data pipeline</a:t>
            </a:r>
          </a:p>
        </p:txBody>
      </p:sp>
      <p:sp>
        <p:nvSpPr>
          <p:cNvPr id="9" name="Validate items and whole orders&#10;62,897 eligible order proxie">
            <a:extLst xmlns:a="http://schemas.openxmlformats.org/drawingml/2006/main">
              <a:ext uri="{FF2B5EF4-FFF2-40B4-BE49-F238E27FC236}">
                <a16:creationId xmlns:a16="http://schemas.microsoft.com/office/drawing/2014/main" id="{3A9D94CD-0F58-4FEF-93DB-519FB6BD1AEE}"/>
              </a:ext>
            </a:extLst>
          </p:cNvPr>
          <p:cNvSpPr>
            <a:spLocks xmlns:a="http://schemas.openxmlformats.org/drawingml/2006/main" noGrp="1"/>
          </p:cNvSpPr>
          <p:nvPr/>
        </p:nvSpPr>
        <p:spPr>
          <a:xfrm xmlns:a="http://schemas.openxmlformats.org/drawingml/2006/main">
            <a:off x="4095750" y="1771650"/>
            <a:ext cx="338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Validate items and whole orders</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62,897 eligible order proxies</a:t>
            </a:r>
          </a:p>
        </p:txBody>
      </p:sp>
      <p:sp>
        <p:nvSpPr>
          <p:cNvPr id="10" name="">
            <a:extLst xmlns:a="http://schemas.openxmlformats.org/drawingml/2006/main">
              <a:ext uri="{FF2B5EF4-FFF2-40B4-BE49-F238E27FC236}">
                <a16:creationId xmlns:a16="http://schemas.microsoft.com/office/drawing/2014/main" id="{92257C98-CEC8-4832-9266-41CBE5F390C7}"/>
              </a:ext>
            </a:extLst>
          </p:cNvPr>
          <p:cNvSpPr>
            <a:spLocks xmlns:a="http://schemas.openxmlformats.org/drawingml/2006/main" noGrp="1"/>
          </p:cNvSpPr>
          <p:nvPr/>
        </p:nvSpPr>
        <p:spPr>
          <a:xfrm xmlns:a="http://schemas.openxmlformats.org/drawingml/2006/main">
            <a:off x="8334375" y="1333500"/>
            <a:ext cx="3238500" cy="1000125"/>
          </a:xfrm>
          <a:prstGeom xmlns:a="http://schemas.openxmlformats.org/drawingml/2006/main" prst="roundRect">
            <a:avLst>
              <a:gd name="adj" fmla="val 7619"/>
            </a:avLst>
          </a:prstGeom>
          <a:solidFill xmlns:a="http://schemas.openxmlformats.org/drawingml/2006/main">
            <a:srgbClr val="F1F5F8"/>
          </a:solidFill>
          <a:ln xmlns:a="http://schemas.openxmlformats.org/drawingml/2006/main" w="9525">
            <a:solidFill>
              <a:srgbClr val="244763"/>
            </a:solidFill>
          </a:ln>
        </p:spPr>
      </p:sp>
      <p:sp>
        <p:nvSpPr>
          <p:cNvPr id="11" name="Spark SQL view">
            <a:extLst xmlns:a="http://schemas.openxmlformats.org/drawingml/2006/main">
              <a:ext uri="{FF2B5EF4-FFF2-40B4-BE49-F238E27FC236}">
                <a16:creationId xmlns:a16="http://schemas.microsoft.com/office/drawing/2014/main" id="{745A7533-3575-479E-B239-5E064FD92519}"/>
              </a:ext>
            </a:extLst>
          </p:cNvPr>
          <p:cNvSpPr>
            <a:spLocks xmlns:a="http://schemas.openxmlformats.org/drawingml/2006/main" noGrp="1"/>
          </p:cNvSpPr>
          <p:nvPr/>
        </p:nvSpPr>
        <p:spPr>
          <a:xfrm xmlns:a="http://schemas.openxmlformats.org/drawingml/2006/main">
            <a:off x="8410575" y="1428750"/>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Spark SQL view</a:t>
            </a:r>
          </a:p>
        </p:txBody>
      </p:sp>
      <p:sp>
        <p:nvSpPr>
          <p:cNvPr id="12" name="Cached shipments view&#10;Aggregates and heatmap">
            <a:extLst xmlns:a="http://schemas.openxmlformats.org/drawingml/2006/main">
              <a:ext uri="{FF2B5EF4-FFF2-40B4-BE49-F238E27FC236}">
                <a16:creationId xmlns:a16="http://schemas.microsoft.com/office/drawing/2014/main" id="{E5387A7D-6A9D-4CE0-83A2-D8175FEFE981}"/>
              </a:ext>
            </a:extLst>
          </p:cNvPr>
          <p:cNvSpPr>
            <a:spLocks xmlns:a="http://schemas.openxmlformats.org/drawingml/2006/main" noGrp="1"/>
          </p:cNvSpPr>
          <p:nvPr/>
        </p:nvSpPr>
        <p:spPr>
          <a:xfrm xmlns:a="http://schemas.openxmlformats.org/drawingml/2006/main">
            <a:off x="8429625" y="1771650"/>
            <a:ext cx="304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Cached shipments view</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Aggregates and heatmap</a:t>
            </a:r>
          </a:p>
        </p:txBody>
      </p:sp>
      <p:sp>
        <p:nvSpPr>
          <p:cNvPr id="13" name="">
            <a:extLst xmlns:a="http://schemas.openxmlformats.org/drawingml/2006/main">
              <a:ext uri="{FF2B5EF4-FFF2-40B4-BE49-F238E27FC236}">
                <a16:creationId xmlns:a16="http://schemas.microsoft.com/office/drawing/2014/main" id="{494ECDEF-804E-4400-8B0F-84915F4B9E59}"/>
              </a:ext>
            </a:extLst>
          </p:cNvPr>
          <p:cNvSpPr>
            <a:spLocks xmlns:a="http://schemas.openxmlformats.org/drawingml/2006/main" noGrp="1"/>
          </p:cNvSpPr>
          <p:nvPr/>
        </p:nvSpPr>
        <p:spPr>
          <a:xfrm xmlns:a="http://schemas.openxmlformats.org/drawingml/2006/main">
            <a:off x="3333750" y="1657350"/>
            <a:ext cx="523875" cy="285750"/>
          </a:xfrm>
          <a:prstGeom xmlns:a="http://schemas.openxmlformats.org/drawingml/2006/main" prst="rightArrow">
            <a:avLst/>
          </a:prstGeom>
          <a:solidFill xmlns:a="http://schemas.openxmlformats.org/drawingml/2006/main">
            <a:srgbClr val="24476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380A28-33BC-4317-831F-969DD044A7AE}"/>
              </a:ext>
            </a:extLst>
          </p:cNvPr>
          <p:cNvSpPr>
            <a:spLocks xmlns:a="http://schemas.openxmlformats.org/drawingml/2006/main" noGrp="1"/>
          </p:cNvSpPr>
          <p:nvPr/>
        </p:nvSpPr>
        <p:spPr>
          <a:xfrm xmlns:a="http://schemas.openxmlformats.org/drawingml/2006/main">
            <a:off x="7667625" y="1657350"/>
            <a:ext cx="523875" cy="285750"/>
          </a:xfrm>
          <a:prstGeom xmlns:a="http://schemas.openxmlformats.org/drawingml/2006/main" prst="rightArrow">
            <a:avLst/>
          </a:prstGeom>
          <a:solidFill xmlns:a="http://schemas.openxmlformats.org/drawingml/2006/main">
            <a:srgbClr val="2447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1D15984-9929-4BC1-BFF4-DABEA408ACB4}"/>
              </a:ext>
            </a:extLst>
          </p:cNvPr>
          <p:cNvSpPr>
            <a:spLocks xmlns:a="http://schemas.openxmlformats.org/drawingml/2006/main" noGrp="1"/>
          </p:cNvSpPr>
          <p:nvPr/>
        </p:nvSpPr>
        <p:spPr>
          <a:xfrm xmlns:a="http://schemas.openxmlformats.org/drawingml/2006/main">
            <a:off x="571500" y="3095625"/>
            <a:ext cx="2667000" cy="1047750"/>
          </a:xfrm>
          <a:prstGeom xmlns:a="http://schemas.openxmlformats.org/drawingml/2006/main" prst="roundRect">
            <a:avLst>
              <a:gd name="adj" fmla="val 7273"/>
            </a:avLst>
          </a:prstGeom>
          <a:solidFill xmlns:a="http://schemas.openxmlformats.org/drawingml/2006/main">
            <a:srgbClr val="F1F5F8"/>
          </a:solidFill>
          <a:ln xmlns:a="http://schemas.openxmlformats.org/drawingml/2006/main" w="9525">
            <a:solidFill>
              <a:srgbClr val="244763"/>
            </a:solidFill>
          </a:ln>
        </p:spPr>
      </p:sp>
      <p:sp>
        <p:nvSpPr>
          <p:cNvPr id="16" name="Joblib artifact">
            <a:extLst xmlns:a="http://schemas.openxmlformats.org/drawingml/2006/main">
              <a:ext uri="{FF2B5EF4-FFF2-40B4-BE49-F238E27FC236}">
                <a16:creationId xmlns:a16="http://schemas.microsoft.com/office/drawing/2014/main" id="{0046715C-869A-4A29-BEFD-52EE69274491}"/>
              </a:ext>
            </a:extLst>
          </p:cNvPr>
          <p:cNvSpPr>
            <a:spLocks xmlns:a="http://schemas.openxmlformats.org/drawingml/2006/main" noGrp="1"/>
          </p:cNvSpPr>
          <p:nvPr/>
        </p:nvSpPr>
        <p:spPr>
          <a:xfrm xmlns:a="http://schemas.openxmlformats.org/drawingml/2006/main">
            <a:off x="647700" y="319087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Joblib artifact</a:t>
            </a:r>
          </a:p>
        </p:txBody>
      </p:sp>
      <p:sp>
        <p:nvSpPr>
          <p:cNvPr id="17" name="Pipeline + UUID + fingerprint&#10;Threshold + metrics + SHAP">
            <a:extLst xmlns:a="http://schemas.openxmlformats.org/drawingml/2006/main">
              <a:ext uri="{FF2B5EF4-FFF2-40B4-BE49-F238E27FC236}">
                <a16:creationId xmlns:a16="http://schemas.microsoft.com/office/drawing/2014/main" id="{8E913275-A53E-42F1-8B10-66AFB0B0D766}"/>
              </a:ext>
            </a:extLst>
          </p:cNvPr>
          <p:cNvSpPr>
            <a:spLocks xmlns:a="http://schemas.openxmlformats.org/drawingml/2006/main" noGrp="1"/>
          </p:cNvSpPr>
          <p:nvPr/>
        </p:nvSpPr>
        <p:spPr>
          <a:xfrm xmlns:a="http://schemas.openxmlformats.org/drawingml/2006/main">
            <a:off x="666750" y="3533775"/>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Pipeline + UUID + fingerprint</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Threshold + metrics + SHAP</a:t>
            </a:r>
          </a:p>
        </p:txBody>
      </p:sp>
      <p:sp>
        <p:nvSpPr>
          <p:cNvPr id="18" name="">
            <a:extLst xmlns:a="http://schemas.openxmlformats.org/drawingml/2006/main">
              <a:ext uri="{FF2B5EF4-FFF2-40B4-BE49-F238E27FC236}">
                <a16:creationId xmlns:a16="http://schemas.microsoft.com/office/drawing/2014/main" id="{E79E0682-82CC-4D00-8924-FB9737E1643B}"/>
              </a:ext>
            </a:extLst>
          </p:cNvPr>
          <p:cNvSpPr>
            <a:spLocks xmlns:a="http://schemas.openxmlformats.org/drawingml/2006/main" noGrp="1"/>
          </p:cNvSpPr>
          <p:nvPr/>
        </p:nvSpPr>
        <p:spPr>
          <a:xfrm xmlns:a="http://schemas.openxmlformats.org/drawingml/2006/main">
            <a:off x="4000500" y="3095625"/>
            <a:ext cx="3571875" cy="1047750"/>
          </a:xfrm>
          <a:prstGeom xmlns:a="http://schemas.openxmlformats.org/drawingml/2006/main" prst="roundRect">
            <a:avLst>
              <a:gd name="adj" fmla="val 7273"/>
            </a:avLst>
          </a:prstGeom>
          <a:solidFill xmlns:a="http://schemas.openxmlformats.org/drawingml/2006/main">
            <a:srgbClr val="F1F5F8"/>
          </a:solidFill>
          <a:ln xmlns:a="http://schemas.openxmlformats.org/drawingml/2006/main" w="9525">
            <a:solidFill>
              <a:srgbClr val="244763"/>
            </a:solidFill>
          </a:ln>
        </p:spPr>
      </p:sp>
      <p:sp>
        <p:nvSpPr>
          <p:cNvPr id="19" name="scikit-learn LR / RF">
            <a:extLst xmlns:a="http://schemas.openxmlformats.org/drawingml/2006/main">
              <a:ext uri="{FF2B5EF4-FFF2-40B4-BE49-F238E27FC236}">
                <a16:creationId xmlns:a16="http://schemas.microsoft.com/office/drawing/2014/main" id="{841D776E-3D91-471E-8C59-2E715E21F2E7}"/>
              </a:ext>
            </a:extLst>
          </p:cNvPr>
          <p:cNvSpPr>
            <a:spLocks xmlns:a="http://schemas.openxmlformats.org/drawingml/2006/main" noGrp="1"/>
          </p:cNvSpPr>
          <p:nvPr/>
        </p:nvSpPr>
        <p:spPr>
          <a:xfrm xmlns:a="http://schemas.openxmlformats.org/drawingml/2006/main">
            <a:off x="4076700" y="3190875"/>
            <a:ext cx="3419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scikit-learn LR / RF</a:t>
            </a:r>
          </a:p>
        </p:txBody>
      </p:sp>
      <p:sp>
        <p:nvSpPr>
          <p:cNvPr id="20" name="Bounded chronological extraction&#10;Tree SHAP + action rules">
            <a:extLst xmlns:a="http://schemas.openxmlformats.org/drawingml/2006/main">
              <a:ext uri="{FF2B5EF4-FFF2-40B4-BE49-F238E27FC236}">
                <a16:creationId xmlns:a16="http://schemas.microsoft.com/office/drawing/2014/main" id="{B0AFF582-BD87-481A-9B62-DFF0BF3C4D64}"/>
              </a:ext>
            </a:extLst>
          </p:cNvPr>
          <p:cNvSpPr>
            <a:spLocks xmlns:a="http://schemas.openxmlformats.org/drawingml/2006/main" noGrp="1"/>
          </p:cNvSpPr>
          <p:nvPr/>
        </p:nvSpPr>
        <p:spPr>
          <a:xfrm xmlns:a="http://schemas.openxmlformats.org/drawingml/2006/main">
            <a:off x="4095750" y="3533775"/>
            <a:ext cx="338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Bounded chronological extraction</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Tree SHAP + action rules</a:t>
            </a:r>
          </a:p>
        </p:txBody>
      </p:sp>
      <p:sp>
        <p:nvSpPr>
          <p:cNvPr id="21" name="">
            <a:extLst xmlns:a="http://schemas.openxmlformats.org/drawingml/2006/main">
              <a:ext uri="{FF2B5EF4-FFF2-40B4-BE49-F238E27FC236}">
                <a16:creationId xmlns:a16="http://schemas.microsoft.com/office/drawing/2014/main" id="{D4F45F15-B3B1-4D6F-9A6A-22B876DC344A}"/>
              </a:ext>
            </a:extLst>
          </p:cNvPr>
          <p:cNvSpPr>
            <a:spLocks xmlns:a="http://schemas.openxmlformats.org/drawingml/2006/main" noGrp="1"/>
          </p:cNvSpPr>
          <p:nvPr/>
        </p:nvSpPr>
        <p:spPr>
          <a:xfrm xmlns:a="http://schemas.openxmlformats.org/drawingml/2006/main">
            <a:off x="8334375" y="3095625"/>
            <a:ext cx="3238500" cy="1047750"/>
          </a:xfrm>
          <a:prstGeom xmlns:a="http://schemas.openxmlformats.org/drawingml/2006/main" prst="roundRect">
            <a:avLst>
              <a:gd name="adj" fmla="val 7273"/>
            </a:avLst>
          </a:prstGeom>
          <a:solidFill xmlns:a="http://schemas.openxmlformats.org/drawingml/2006/main">
            <a:srgbClr val="F1F5F8"/>
          </a:solidFill>
          <a:ln xmlns:a="http://schemas.openxmlformats.org/drawingml/2006/main" w="9525">
            <a:solidFill>
              <a:srgbClr val="244763"/>
            </a:solidFill>
          </a:ln>
        </p:spPr>
      </p:sp>
      <p:sp>
        <p:nvSpPr>
          <p:cNvPr id="22" name="FastAPI service">
            <a:extLst xmlns:a="http://schemas.openxmlformats.org/drawingml/2006/main">
              <a:ext uri="{FF2B5EF4-FFF2-40B4-BE49-F238E27FC236}">
                <a16:creationId xmlns:a16="http://schemas.microsoft.com/office/drawing/2014/main" id="{1E1873ED-A721-475F-A177-4AAF55D46414}"/>
              </a:ext>
            </a:extLst>
          </p:cNvPr>
          <p:cNvSpPr>
            <a:spLocks xmlns:a="http://schemas.openxmlformats.org/drawingml/2006/main" noGrp="1"/>
          </p:cNvSpPr>
          <p:nvPr/>
        </p:nvSpPr>
        <p:spPr>
          <a:xfrm xmlns:a="http://schemas.openxmlformats.org/drawingml/2006/main">
            <a:off x="8410575" y="3190875"/>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FastAPI service</a:t>
            </a:r>
          </a:p>
        </p:txBody>
      </p:sp>
      <p:sp>
        <p:nvSpPr>
          <p:cNvPr id="23" name="State and Spark locks&#10;Predict, explain, analytics, SQL">
            <a:extLst xmlns:a="http://schemas.openxmlformats.org/drawingml/2006/main">
              <a:ext uri="{FF2B5EF4-FFF2-40B4-BE49-F238E27FC236}">
                <a16:creationId xmlns:a16="http://schemas.microsoft.com/office/drawing/2014/main" id="{9DD19946-69FB-4B93-8440-6E1B02229EA6}"/>
              </a:ext>
            </a:extLst>
          </p:cNvPr>
          <p:cNvSpPr>
            <a:spLocks xmlns:a="http://schemas.openxmlformats.org/drawingml/2006/main" noGrp="1"/>
          </p:cNvSpPr>
          <p:nvPr/>
        </p:nvSpPr>
        <p:spPr>
          <a:xfrm xmlns:a="http://schemas.openxmlformats.org/drawingml/2006/main">
            <a:off x="8429625" y="3533775"/>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State and Spark locks</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Predict, explain, analytics, SQL</a:t>
            </a:r>
          </a:p>
        </p:txBody>
      </p:sp>
      <p:sp>
        <p:nvSpPr>
          <p:cNvPr id="24" name="">
            <a:extLst xmlns:a="http://schemas.openxmlformats.org/drawingml/2006/main">
              <a:ext uri="{FF2B5EF4-FFF2-40B4-BE49-F238E27FC236}">
                <a16:creationId xmlns:a16="http://schemas.microsoft.com/office/drawing/2014/main" id="{CC8EAA3A-B1CC-41A0-88FA-5D8791268C5E}"/>
              </a:ext>
            </a:extLst>
          </p:cNvPr>
          <p:cNvSpPr>
            <a:spLocks xmlns:a="http://schemas.openxmlformats.org/drawingml/2006/main" noGrp="1"/>
          </p:cNvSpPr>
          <p:nvPr/>
        </p:nvSpPr>
        <p:spPr>
          <a:xfrm xmlns:a="http://schemas.openxmlformats.org/drawingml/2006/main">
            <a:off x="5619750" y="2428875"/>
            <a:ext cx="285750" cy="523875"/>
          </a:xfrm>
          <a:prstGeom xmlns:a="http://schemas.openxmlformats.org/drawingml/2006/main" prst="downArrow">
            <a:avLst/>
          </a:prstGeom>
          <a:solidFill xmlns:a="http://schemas.openxmlformats.org/drawingml/2006/main">
            <a:srgbClr val="24476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ABE9F8C-9D38-4A3F-9FCD-64EDB8FE63E6}"/>
              </a:ext>
            </a:extLst>
          </p:cNvPr>
          <p:cNvSpPr>
            <a:spLocks xmlns:a="http://schemas.openxmlformats.org/drawingml/2006/main" noGrp="1"/>
          </p:cNvSpPr>
          <p:nvPr/>
        </p:nvSpPr>
        <p:spPr>
          <a:xfrm xmlns:a="http://schemas.openxmlformats.org/drawingml/2006/main">
            <a:off x="9810750" y="2428875"/>
            <a:ext cx="285750" cy="523875"/>
          </a:xfrm>
          <a:prstGeom xmlns:a="http://schemas.openxmlformats.org/drawingml/2006/main" prst="downArrow">
            <a:avLst/>
          </a:prstGeom>
          <a:solidFill xmlns:a="http://schemas.openxmlformats.org/drawingml/2006/main">
            <a:srgbClr val="24476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0157DCC-652D-45D8-8A12-BFFE8D2DEABA}"/>
              </a:ext>
            </a:extLst>
          </p:cNvPr>
          <p:cNvSpPr>
            <a:spLocks xmlns:a="http://schemas.openxmlformats.org/drawingml/2006/main" noGrp="1"/>
          </p:cNvSpPr>
          <p:nvPr/>
        </p:nvSpPr>
        <p:spPr>
          <a:xfrm xmlns:a="http://schemas.openxmlformats.org/drawingml/2006/main">
            <a:off x="3333750" y="3476625"/>
            <a:ext cx="523875" cy="285750"/>
          </a:xfrm>
          <a:prstGeom xmlns:a="http://schemas.openxmlformats.org/drawingml/2006/main" prst="rightArrow">
            <a:avLst/>
          </a:prstGeom>
          <a:solidFill xmlns:a="http://schemas.openxmlformats.org/drawingml/2006/main">
            <a:srgbClr val="24476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56C40F2-B95E-4996-A8A0-C391903CB6BC}"/>
              </a:ext>
            </a:extLst>
          </p:cNvPr>
          <p:cNvSpPr>
            <a:spLocks xmlns:a="http://schemas.openxmlformats.org/drawingml/2006/main" noGrp="1"/>
          </p:cNvSpPr>
          <p:nvPr/>
        </p:nvSpPr>
        <p:spPr>
          <a:xfrm xmlns:a="http://schemas.openxmlformats.org/drawingml/2006/main">
            <a:off x="7667625" y="3476625"/>
            <a:ext cx="523875" cy="285750"/>
          </a:xfrm>
          <a:prstGeom xmlns:a="http://schemas.openxmlformats.org/drawingml/2006/main" prst="rightArrow">
            <a:avLst/>
          </a:prstGeom>
          <a:solidFill xmlns:a="http://schemas.openxmlformats.org/drawingml/2006/main">
            <a:srgbClr val="24476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FAC76C0-E86C-45DC-9587-F15F28C3D232}"/>
              </a:ext>
            </a:extLst>
          </p:cNvPr>
          <p:cNvSpPr>
            <a:spLocks xmlns:a="http://schemas.openxmlformats.org/drawingml/2006/main" noGrp="1"/>
          </p:cNvSpPr>
          <p:nvPr/>
        </p:nvSpPr>
        <p:spPr>
          <a:xfrm xmlns:a="http://schemas.openxmlformats.org/drawingml/2006/main">
            <a:off x="1905000" y="5000625"/>
            <a:ext cx="5619750" cy="952500"/>
          </a:xfrm>
          <a:prstGeom xmlns:a="http://schemas.openxmlformats.org/drawingml/2006/main" prst="roundRect">
            <a:avLst>
              <a:gd name="adj" fmla="val 8000"/>
            </a:avLst>
          </a:prstGeom>
          <a:solidFill xmlns:a="http://schemas.openxmlformats.org/drawingml/2006/main">
            <a:srgbClr val="F1F5F8"/>
          </a:solidFill>
          <a:ln xmlns:a="http://schemas.openxmlformats.org/drawingml/2006/main" w="9525">
            <a:solidFill>
              <a:srgbClr val="244763"/>
            </a:solidFill>
          </a:ln>
        </p:spPr>
      </p:sp>
      <p:sp>
        <p:nvSpPr>
          <p:cNvPr id="29" name="React and Vite dashboard">
            <a:extLst xmlns:a="http://schemas.openxmlformats.org/drawingml/2006/main">
              <a:ext uri="{FF2B5EF4-FFF2-40B4-BE49-F238E27FC236}">
                <a16:creationId xmlns:a16="http://schemas.microsoft.com/office/drawing/2014/main" id="{FAFB63B3-9120-4EFF-A37C-094D1C7FE710}"/>
              </a:ext>
            </a:extLst>
          </p:cNvPr>
          <p:cNvSpPr>
            <a:spLocks xmlns:a="http://schemas.openxmlformats.org/drawingml/2006/main" noGrp="1"/>
          </p:cNvSpPr>
          <p:nvPr/>
        </p:nvSpPr>
        <p:spPr>
          <a:xfrm xmlns:a="http://schemas.openxmlformats.org/drawingml/2006/main">
            <a:off x="1981200" y="5095875"/>
            <a:ext cx="5467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React and Vite dashboard</a:t>
            </a:r>
          </a:p>
        </p:txBody>
      </p:sp>
      <p:sp>
        <p:nvSpPr>
          <p:cNvPr id="30" name="Filters, heatmap, evaluation, order form, SHAP, recommendati">
            <a:extLst xmlns:a="http://schemas.openxmlformats.org/drawingml/2006/main">
              <a:ext uri="{FF2B5EF4-FFF2-40B4-BE49-F238E27FC236}">
                <a16:creationId xmlns:a16="http://schemas.microsoft.com/office/drawing/2014/main" id="{C8DF2389-6821-4A38-A5B2-FD5350A01966}"/>
              </a:ext>
            </a:extLst>
          </p:cNvPr>
          <p:cNvSpPr>
            <a:spLocks xmlns:a="http://schemas.openxmlformats.org/drawingml/2006/main" noGrp="1"/>
          </p:cNvSpPr>
          <p:nvPr/>
        </p:nvSpPr>
        <p:spPr>
          <a:xfrm xmlns:a="http://schemas.openxmlformats.org/drawingml/2006/main">
            <a:off x="2000250" y="5438775"/>
            <a:ext cx="542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Filters, heatmap, evaluation, order form, SHAP, recommendations and SQL</a:t>
            </a:r>
          </a:p>
        </p:txBody>
      </p:sp>
      <p:sp>
        <p:nvSpPr>
          <p:cNvPr id="31" name="">
            <a:extLst xmlns:a="http://schemas.openxmlformats.org/drawingml/2006/main">
              <a:ext uri="{FF2B5EF4-FFF2-40B4-BE49-F238E27FC236}">
                <a16:creationId xmlns:a16="http://schemas.microsoft.com/office/drawing/2014/main" id="{2F87B461-AB3B-4F75-B7A2-664068237833}"/>
              </a:ext>
            </a:extLst>
          </p:cNvPr>
          <p:cNvSpPr>
            <a:spLocks xmlns:a="http://schemas.openxmlformats.org/drawingml/2006/main" noGrp="1"/>
          </p:cNvSpPr>
          <p:nvPr/>
        </p:nvSpPr>
        <p:spPr>
          <a:xfrm xmlns:a="http://schemas.openxmlformats.org/drawingml/2006/main">
            <a:off x="8334375" y="5000625"/>
            <a:ext cx="3238500" cy="952500"/>
          </a:xfrm>
          <a:prstGeom xmlns:a="http://schemas.openxmlformats.org/drawingml/2006/main" prst="roundRect">
            <a:avLst>
              <a:gd name="adj" fmla="val 8000"/>
            </a:avLst>
          </a:prstGeom>
          <a:solidFill xmlns:a="http://schemas.openxmlformats.org/drawingml/2006/main">
            <a:srgbClr val="F1F5F8"/>
          </a:solidFill>
          <a:ln xmlns:a="http://schemas.openxmlformats.org/drawingml/2006/main" w="9525">
            <a:solidFill>
              <a:srgbClr val="244763"/>
            </a:solidFill>
          </a:ln>
        </p:spPr>
      </p:sp>
      <p:sp>
        <p:nvSpPr>
          <p:cNvPr id="32" name="Optional Groq API">
            <a:extLst xmlns:a="http://schemas.openxmlformats.org/drawingml/2006/main">
              <a:ext uri="{FF2B5EF4-FFF2-40B4-BE49-F238E27FC236}">
                <a16:creationId xmlns:a16="http://schemas.microsoft.com/office/drawing/2014/main" id="{AF5A21D4-A524-4EF4-9DD8-398CB685F6BA}"/>
              </a:ext>
            </a:extLst>
          </p:cNvPr>
          <p:cNvSpPr>
            <a:spLocks xmlns:a="http://schemas.openxmlformats.org/drawingml/2006/main" noGrp="1"/>
          </p:cNvSpPr>
          <p:nvPr/>
        </p:nvSpPr>
        <p:spPr>
          <a:xfrm xmlns:a="http://schemas.openxmlformats.org/drawingml/2006/main">
            <a:off x="8410575" y="5095875"/>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Optional Groq API</a:t>
            </a:r>
          </a:p>
        </p:txBody>
      </p:sp>
      <p:sp>
        <p:nvSpPr>
          <p:cNvPr id="33" name="Requested summary / candidate SQL&#10;Validated server-side">
            <a:extLst xmlns:a="http://schemas.openxmlformats.org/drawingml/2006/main">
              <a:ext uri="{FF2B5EF4-FFF2-40B4-BE49-F238E27FC236}">
                <a16:creationId xmlns:a16="http://schemas.microsoft.com/office/drawing/2014/main" id="{7E1ABA18-8DAD-42E8-AE64-EBADDCE0562D}"/>
              </a:ext>
            </a:extLst>
          </p:cNvPr>
          <p:cNvSpPr>
            <a:spLocks xmlns:a="http://schemas.openxmlformats.org/drawingml/2006/main" noGrp="1"/>
          </p:cNvSpPr>
          <p:nvPr/>
        </p:nvSpPr>
        <p:spPr>
          <a:xfrm xmlns:a="http://schemas.openxmlformats.org/drawingml/2006/main">
            <a:off x="8429625" y="54387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Requested summary / candidate SQL</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Validated server-side</a:t>
            </a:r>
          </a:p>
        </p:txBody>
      </p:sp>
      <p:sp>
        <p:nvSpPr>
          <p:cNvPr id="34" name="">
            <a:extLst xmlns:a="http://schemas.openxmlformats.org/drawingml/2006/main">
              <a:ext uri="{FF2B5EF4-FFF2-40B4-BE49-F238E27FC236}">
                <a16:creationId xmlns:a16="http://schemas.microsoft.com/office/drawing/2014/main" id="{94D13B60-EE9A-42EE-831E-8D27DE79DE8B}"/>
              </a:ext>
            </a:extLst>
          </p:cNvPr>
          <p:cNvSpPr>
            <a:spLocks xmlns:a="http://schemas.openxmlformats.org/drawingml/2006/main" noGrp="1"/>
          </p:cNvSpPr>
          <p:nvPr/>
        </p:nvSpPr>
        <p:spPr>
          <a:xfrm xmlns:a="http://schemas.openxmlformats.org/drawingml/2006/main">
            <a:off x="9810750" y="4238625"/>
            <a:ext cx="285750" cy="619125"/>
          </a:xfrm>
          <a:prstGeom xmlns:a="http://schemas.openxmlformats.org/drawingml/2006/main" prst="downArrow">
            <a:avLst/>
          </a:prstGeom>
          <a:solidFill xmlns:a="http://schemas.openxmlformats.org/drawingml/2006/main">
            <a:srgbClr val="24476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CBE4F6A-5FC3-4E22-8E5A-A914C70907B3}"/>
              </a:ext>
            </a:extLst>
          </p:cNvPr>
          <p:cNvSpPr>
            <a:spLocks xmlns:a="http://schemas.openxmlformats.org/drawingml/2006/main" noGrp="1"/>
          </p:cNvSpPr>
          <p:nvPr/>
        </p:nvSpPr>
        <p:spPr>
          <a:xfrm xmlns:a="http://schemas.openxmlformats.org/drawingml/2006/main">
            <a:off x="7953375" y="3619500"/>
            <a:ext cx="381000" cy="0"/>
          </a:xfrm>
          <a:prstGeom xmlns:a="http://schemas.openxmlformats.org/drawingml/2006/main" prst="line">
            <a:avLst/>
          </a:prstGeom>
          <a:ln xmlns:a="http://schemas.openxmlformats.org/drawingml/2006/main" w="19050">
            <a:solidFill>
              <a:srgbClr val="244763"/>
            </a:solidFill>
          </a:ln>
        </p:spPr>
      </p:sp>
      <p:sp>
        <p:nvSpPr>
          <p:cNvPr id="36" name="">
            <a:extLst xmlns:a="http://schemas.openxmlformats.org/drawingml/2006/main">
              <a:ext uri="{FF2B5EF4-FFF2-40B4-BE49-F238E27FC236}">
                <a16:creationId xmlns:a16="http://schemas.microsoft.com/office/drawing/2014/main" id="{CFE169CC-5F1B-498C-BF92-4239B2366467}"/>
              </a:ext>
            </a:extLst>
          </p:cNvPr>
          <p:cNvSpPr>
            <a:spLocks xmlns:a="http://schemas.openxmlformats.org/drawingml/2006/main" noGrp="1"/>
          </p:cNvSpPr>
          <p:nvPr/>
        </p:nvSpPr>
        <p:spPr>
          <a:xfrm xmlns:a="http://schemas.openxmlformats.org/drawingml/2006/main">
            <a:off x="7953375" y="3619500"/>
            <a:ext cx="0" cy="1857375"/>
          </a:xfrm>
          <a:prstGeom xmlns:a="http://schemas.openxmlformats.org/drawingml/2006/main" prst="line">
            <a:avLst/>
          </a:prstGeom>
          <a:ln xmlns:a="http://schemas.openxmlformats.org/drawingml/2006/main" w="19050">
            <a:solidFill>
              <a:srgbClr val="244763"/>
            </a:solidFill>
          </a:ln>
        </p:spPr>
      </p:sp>
      <p:sp>
        <p:nvSpPr>
          <p:cNvPr id="37" name="">
            <a:extLst xmlns:a="http://schemas.openxmlformats.org/drawingml/2006/main">
              <a:ext uri="{FF2B5EF4-FFF2-40B4-BE49-F238E27FC236}">
                <a16:creationId xmlns:a16="http://schemas.microsoft.com/office/drawing/2014/main" id="{BA95E2F6-BAEC-4866-8D04-7017A25C29AD}"/>
              </a:ext>
            </a:extLst>
          </p:cNvPr>
          <p:cNvSpPr>
            <a:spLocks xmlns:a="http://schemas.openxmlformats.org/drawingml/2006/main" noGrp="1"/>
          </p:cNvSpPr>
          <p:nvPr/>
        </p:nvSpPr>
        <p:spPr>
          <a:xfrm xmlns:a="http://schemas.openxmlformats.org/drawingml/2006/main">
            <a:off x="7572375" y="5334000"/>
            <a:ext cx="381000" cy="285750"/>
          </a:xfrm>
          <a:prstGeom xmlns:a="http://schemas.openxmlformats.org/drawingml/2006/main" prst="leftArrow">
            <a:avLst/>
          </a:prstGeom>
          <a:solidFill xmlns:a="http://schemas.openxmlformats.org/drawingml/2006/main">
            <a:srgbClr val="244763"/>
          </a:solidFill>
          <a:ln xmlns:a="http://schemas.openxmlformats.org/drawingml/2006/main" w="0">
            <a:noFill/>
          </a:ln>
        </p:spPr>
      </p:sp>
      <p:sp>
        <p:nvSpPr>
          <p:cNvPr id="38" name="Spark processing is distributed-capable; model training runs">
            <a:extLst xmlns:a="http://schemas.openxmlformats.org/drawingml/2006/main">
              <a:ext uri="{FF2B5EF4-FFF2-40B4-BE49-F238E27FC236}">
                <a16:creationId xmlns:a16="http://schemas.microsoft.com/office/drawing/2014/main" id="{4AE4C76E-4E2A-43CE-A96C-B1149B53E688}"/>
              </a:ext>
            </a:extLst>
          </p:cNvPr>
          <p:cNvSpPr>
            <a:spLocks xmlns:a="http://schemas.openxmlformats.org/drawingml/2006/main" noGrp="1"/>
          </p:cNvSpPr>
          <p:nvPr/>
        </p:nvSpPr>
        <p:spPr>
          <a:xfrm xmlns:a="http://schemas.openxmlformats.org/drawingml/2006/main">
            <a:off x="571500" y="606742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56616B"/>
                </a:solidFill>
                <a:latin typeface="Times New Roman"/>
                <a:ea typeface="Times New Roman"/>
                <a:cs typeface="Times New Roman"/>
              </a:defRPr>
            </a:defPPr>
            <a:lvl1pPr algn="l">
              <a:defRPr sz="1500" b="0">
                <a:solidFill>
                  <a:srgbClr val="56616B"/>
                </a:solidFill>
                <a:latin typeface="Times New Roman"/>
                <a:ea typeface="Times New Roman"/>
                <a:cs typeface="Times New Roman"/>
              </a:defRPr>
            </a:lvl1pPr>
            <a:lvl2pPr algn="l">
              <a:defRPr sz="1500" b="0">
                <a:solidFill>
                  <a:srgbClr val="56616B"/>
                </a:solidFill>
                <a:latin typeface="Times New Roman"/>
                <a:ea typeface="Times New Roman"/>
                <a:cs typeface="Times New Roman"/>
              </a:defRPr>
            </a:lvl2pPr>
            <a:lvl3pPr algn="l">
              <a:defRPr sz="1500" b="0">
                <a:solidFill>
                  <a:srgbClr val="56616B"/>
                </a:solidFill>
                <a:latin typeface="Times New Roman"/>
                <a:ea typeface="Times New Roman"/>
                <a:cs typeface="Times New Roman"/>
              </a:defRPr>
            </a:lvl3pPr>
            <a:lvl4pPr algn="l">
              <a:defRPr sz="1500" b="0">
                <a:solidFill>
                  <a:srgbClr val="56616B"/>
                </a:solidFill>
                <a:latin typeface="Times New Roman"/>
                <a:ea typeface="Times New Roman"/>
                <a:cs typeface="Times New Roman"/>
              </a:defRPr>
            </a:lvl4pPr>
            <a:lvl5pPr algn="l">
              <a:defRPr sz="1500" b="0">
                <a:solidFill>
                  <a:srgbClr val="56616B"/>
                </a:solidFill>
                <a:latin typeface="Times New Roman"/>
                <a:ea typeface="Times New Roman"/>
                <a:cs typeface="Times New Roman"/>
              </a:defRPr>
            </a:lvl5pPr>
            <a:lvl6pPr algn="l">
              <a:defRPr sz="1500" b="0">
                <a:solidFill>
                  <a:srgbClr val="56616B"/>
                </a:solidFill>
                <a:latin typeface="Times New Roman"/>
                <a:ea typeface="Times New Roman"/>
                <a:cs typeface="Times New Roman"/>
              </a:defRPr>
            </a:lvl6pPr>
            <a:lvl7pPr algn="l">
              <a:defRPr sz="1500" b="0">
                <a:solidFill>
                  <a:srgbClr val="56616B"/>
                </a:solidFill>
                <a:latin typeface="Times New Roman"/>
                <a:ea typeface="Times New Roman"/>
                <a:cs typeface="Times New Roman"/>
              </a:defRPr>
            </a:lvl7pPr>
            <a:lvl8pPr algn="l">
              <a:defRPr sz="1500" b="0">
                <a:solidFill>
                  <a:srgbClr val="56616B"/>
                </a:solidFill>
                <a:latin typeface="Times New Roman"/>
                <a:ea typeface="Times New Roman"/>
                <a:cs typeface="Times New Roman"/>
              </a:defRPr>
            </a:lvl8pPr>
            <a:lvl9pPr algn="l">
              <a:defRPr sz="1500" b="0">
                <a:solidFill>
                  <a:srgbClr val="56616B"/>
                </a:solidFill>
                <a:latin typeface="Times New Roman"/>
                <a:ea typeface="Times New Roman"/>
                <a:cs typeface="Times New Roman"/>
              </a:defRPr>
            </a:lvl9pPr>
          </a:lstStyle>
          <a:p xmlns:a="http://schemas.openxmlformats.org/drawingml/2006/main">
            <a:pPr algn="l">
              <a:defRPr sz="1500" b="0">
                <a:solidFill>
                  <a:srgbClr val="56616B"/>
                </a:solidFill>
                <a:latin typeface="Times New Roman"/>
                <a:ea typeface="Times New Roman"/>
                <a:cs typeface="Times New Roman"/>
              </a:defRPr>
            </a:pPr>
            <a:r>
              <a:rPr sz="1500" b="0">
                <a:solidFill>
                  <a:srgbClr val="56616B"/>
                </a:solidFill>
                <a:latin typeface="Times New Roman"/>
                <a:ea typeface="Times New Roman"/>
                <a:cs typeface="Times New Roman"/>
              </a:rPr>
              <a:t>Spark processing is distributed-capable; model training runs on the Python driver.</a:t>
            </a:r>
          </a:p>
        </p:txBody>
      </p:sp>
    </p:spTree>
    <p:extLst>
      <p:ext uri="{BB962C8B-B14F-4D97-AF65-F5344CB8AC3E}">
        <p14:creationId xmlns:p14="http://schemas.microsoft.com/office/powerpoint/2010/main" val="354572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ocessed dataset and analytical grain">
            <a:extLst xmlns:a="http://schemas.openxmlformats.org/drawingml/2006/main">
              <a:ext uri="{FF2B5EF4-FFF2-40B4-BE49-F238E27FC236}">
                <a16:creationId xmlns:a16="http://schemas.microsoft.com/office/drawing/2014/main" id="{739C9217-9678-4BB3-95E5-3BCDD282AC6D}"/>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Processed dataset and analytical grain</a:t>
            </a:r>
          </a:p>
        </p:txBody>
      </p:sp>
      <p:sp>
        <p:nvSpPr>
          <p:cNvPr id="2" name="BCSE402L  Big Data Analytics  |  DA3  |  20 October 2026">
            <a:extLst xmlns:a="http://schemas.openxmlformats.org/drawingml/2006/main">
              <a:ext uri="{FF2B5EF4-FFF2-40B4-BE49-F238E27FC236}">
                <a16:creationId xmlns:a16="http://schemas.microsoft.com/office/drawing/2014/main" id="{E5A69FDA-02CA-4887-8043-8152C6C3F2D9}"/>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4">
            <a:extLst xmlns:a="http://schemas.openxmlformats.org/drawingml/2006/main">
              <a:ext uri="{FF2B5EF4-FFF2-40B4-BE49-F238E27FC236}">
                <a16:creationId xmlns:a16="http://schemas.microsoft.com/office/drawing/2014/main" id="{53B2B620-4765-4802-B988-65F9A5A1EA0D}"/>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04</a:t>
            </a:r>
          </a:p>
        </p:txBody>
      </p:sp>
      <p:graphicFrame>
        <p:nvGraphicFramePr>
          <p:cNvPr id="4" name="">
            <a:extLst xmlns:a="http://schemas.openxmlformats.org/drawingml/2006/main">
              <a:ext uri="{FF2B5EF4-FFF2-40B4-BE49-F238E27FC236}">
                <a16:creationId xmlns:a16="http://schemas.microsoft.com/office/drawing/2014/main" id="{EDB1407B-06FB-45E0-9B6E-A4B262A2394D}"/>
              </a:ext>
            </a:extLst>
          </p:cNvPr>
          <p:cNvGraphicFramePr/>
          <p:nvPr/>
        </p:nvGraphicFramePr>
        <p:xfrm>
          <a:off xmlns:a="http://schemas.openxmlformats.org/drawingml/2006/main" x="571500" y="1381125"/>
          <a:ext xmlns:a="http://schemas.openxmlformats.org/drawingml/2006/main" cx="5715000" cy="3429000"/>
        </p:xfrm>
        <a:graphic xmlns:a="http://schemas.openxmlformats.org/drawingml/2006/main">
          <a:graphicData uri="http://schemas.openxmlformats.org/drawingml/2006/table">
            <a:tbl>
              <a:tblPr/>
              <a:tblGrid>
                <a:gridCol w="3905250"/>
                <a:gridCol w="1809750"/>
              </a:tblGrid>
              <a:tr h="571500">
                <a:tc>
                  <a:txBody>
                    <a:bodyPr/>
                    <a:lstStyle/>
                    <a:p>
                      <a:pPr algn="l"/>
                      <a:r>
                        <a:rPr sz="1875" b="1">
                          <a:solidFill>
                            <a:srgbClr val="111111"/>
                          </a:solidFill>
                          <a:latin typeface="Times New Roman"/>
                          <a:ea typeface="Times New Roman"/>
                          <a:cs typeface="Times New Roman"/>
                        </a:rPr>
                        <a:t>Processing stage</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875" b="1">
                          <a:solidFill>
                            <a:srgbClr val="111111"/>
                          </a:solidFill>
                          <a:latin typeface="Times New Roman"/>
                          <a:ea typeface="Times New Roman"/>
                          <a:cs typeface="Times New Roman"/>
                        </a:rPr>
                        <a:t>Count</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r>
              <a:tr h="571500">
                <a:tc>
                  <a:txBody>
                    <a:bodyPr/>
                    <a:lstStyle/>
                    <a:p>
                      <a:pPr algn="l"/>
                      <a:r>
                        <a:rPr sz="1875" b="0">
                          <a:solidFill>
                            <a:srgbClr val="111111"/>
                          </a:solidFill>
                          <a:latin typeface="Times New Roman"/>
                          <a:ea typeface="Times New Roman"/>
                          <a:cs typeface="Times New Roman"/>
                        </a:rPr>
                        <a:t>Raw item rows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875" b="0">
                          <a:solidFill>
                            <a:srgbClr val="111111"/>
                          </a:solidFill>
                          <a:latin typeface="Times New Roman"/>
                          <a:ea typeface="Times New Roman"/>
                          <a:cs typeface="Times New Roman"/>
                        </a:rPr>
                        <a:t>181,169</a:t>
                      </a:r>
                    </a:p>
                  </a:txBody>
                  <a:tcPr marL="91440" marR="91440" marT="45720" marB="45720">
                    <a:lnR w="9525">
                      <a:solidFill>
                        <a:srgbClr val="D9D9D9"/>
                      </a:solidFill>
                      <a:prstDash val="solid"/>
                    </a:lnR>
                    <a:lnB w="9525">
                      <a:solidFill>
                        <a:srgbClr val="D9D9D9"/>
                      </a:solidFill>
                      <a:prstDash val="solid"/>
                    </a:lnB>
                    <a:solidFill>
                      <a:srgbClr val="FFFFFF"/>
                    </a:solidFill>
                  </a:tcPr>
                </a:tc>
              </a:tr>
              <a:tr h="571500">
                <a:tc>
                  <a:txBody>
                    <a:bodyPr/>
                    <a:lstStyle/>
                    <a:p>
                      <a:pPr algn="l"/>
                      <a:r>
                        <a:rPr sz="1875" b="0">
                          <a:solidFill>
                            <a:srgbClr val="111111"/>
                          </a:solidFill>
                          <a:latin typeface="Times New Roman"/>
                          <a:ea typeface="Times New Roman"/>
                          <a:cs typeface="Times New Roman"/>
                        </a:rPr>
                        <a:t>Exact duplicates removed</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875" b="0">
                          <a:solidFill>
                            <a:srgbClr val="111111"/>
                          </a:solidFill>
                          <a:latin typeface="Times New Roman"/>
                          <a:ea typeface="Times New Roman"/>
                          <a:cs typeface="Times New Roman"/>
                        </a:rPr>
                        <a:t>650</a:t>
                      </a:r>
                    </a:p>
                  </a:txBody>
                  <a:tcPr marL="91440" marR="91440" marT="45720" marB="45720">
                    <a:lnR w="9525">
                      <a:solidFill>
                        <a:srgbClr val="D9D9D9"/>
                      </a:solidFill>
                      <a:prstDash val="solid"/>
                    </a:lnR>
                    <a:lnB w="9525">
                      <a:solidFill>
                        <a:srgbClr val="D9D9D9"/>
                      </a:solidFill>
                      <a:prstDash val="solid"/>
                    </a:lnB>
                    <a:solidFill>
                      <a:srgbClr val="F5F7F9"/>
                    </a:solidFill>
                  </a:tcPr>
                </a:tc>
              </a:tr>
              <a:tr h="571500">
                <a:tc>
                  <a:txBody>
                    <a:bodyPr/>
                    <a:lstStyle/>
                    <a:p>
                      <a:pPr algn="l"/>
                      <a:r>
                        <a:rPr sz="1875" b="0">
                          <a:solidFill>
                            <a:srgbClr val="111111"/>
                          </a:solidFill>
                          <a:latin typeface="Times New Roman"/>
                          <a:ea typeface="Times New Roman"/>
                          <a:cs typeface="Times New Roman"/>
                        </a:rPr>
                        <a:t>Distinct orders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875" b="0">
                          <a:solidFill>
                            <a:srgbClr val="111111"/>
                          </a:solidFill>
                          <a:latin typeface="Times New Roman"/>
                          <a:ea typeface="Times New Roman"/>
                          <a:cs typeface="Times New Roman"/>
                        </a:rPr>
                        <a:t>65,752</a:t>
                      </a:r>
                    </a:p>
                  </a:txBody>
                  <a:tcPr marL="91440" marR="91440" marT="45720" marB="45720">
                    <a:lnR w="9525">
                      <a:solidFill>
                        <a:srgbClr val="D9D9D9"/>
                      </a:solidFill>
                      <a:prstDash val="solid"/>
                    </a:lnR>
                    <a:lnB w="9525">
                      <a:solidFill>
                        <a:srgbClr val="D9D9D9"/>
                      </a:solidFill>
                      <a:prstDash val="solid"/>
                    </a:lnB>
                    <a:solidFill>
                      <a:srgbClr val="FFFFFF"/>
                    </a:solidFill>
                  </a:tcPr>
                </a:tc>
              </a:tr>
              <a:tr h="571500">
                <a:tc>
                  <a:txBody>
                    <a:bodyPr/>
                    <a:lstStyle/>
                    <a:p>
                      <a:pPr algn="l"/>
                      <a:r>
                        <a:rPr sz="1875" b="0">
                          <a:solidFill>
                            <a:srgbClr val="111111"/>
                          </a:solidFill>
                          <a:latin typeface="Times New Roman"/>
                          <a:ea typeface="Times New Roman"/>
                          <a:cs typeface="Times New Roman"/>
                        </a:rPr>
                        <a:t>Excluded non-transit orders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875" b="0">
                          <a:solidFill>
                            <a:srgbClr val="111111"/>
                          </a:solidFill>
                          <a:latin typeface="Times New Roman"/>
                          <a:ea typeface="Times New Roman"/>
                          <a:cs typeface="Times New Roman"/>
                        </a:rPr>
                        <a:t>2,855</a:t>
                      </a:r>
                    </a:p>
                  </a:txBody>
                  <a:tcPr marL="91440" marR="91440" marT="45720" marB="45720">
                    <a:lnR w="9525">
                      <a:solidFill>
                        <a:srgbClr val="D9D9D9"/>
                      </a:solidFill>
                      <a:prstDash val="solid"/>
                    </a:lnR>
                    <a:lnB w="9525">
                      <a:solidFill>
                        <a:srgbClr val="D9D9D9"/>
                      </a:solidFill>
                      <a:prstDash val="solid"/>
                    </a:lnB>
                    <a:solidFill>
                      <a:srgbClr val="F5F7F9"/>
                    </a:solidFill>
                  </a:tcPr>
                </a:tc>
              </a:tr>
              <a:tr h="571500">
                <a:tc>
                  <a:txBody>
                    <a:bodyPr/>
                    <a:lstStyle/>
                    <a:p>
                      <a:pPr algn="l"/>
                      <a:r>
                        <a:rPr sz="1875" b="0">
                          <a:solidFill>
                            <a:srgbClr val="111111"/>
                          </a:solidFill>
                          <a:latin typeface="Times New Roman"/>
                          <a:ea typeface="Times New Roman"/>
                          <a:cs typeface="Times New Roman"/>
                        </a:rPr>
                        <a:t>Eligible order proxies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875" b="0">
                          <a:solidFill>
                            <a:srgbClr val="111111"/>
                          </a:solidFill>
                          <a:latin typeface="Times New Roman"/>
                          <a:ea typeface="Times New Roman"/>
                          <a:cs typeface="Times New Roman"/>
                        </a:rPr>
                        <a:t>62,897</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90038B0C-391B-43C7-B54E-C4BB2FAC86D4}"/>
              </a:ext>
            </a:extLst>
          </p:cNvPr>
          <p:cNvGraphicFramePr/>
          <p:nvPr/>
        </p:nvGraphicFramePr>
        <p:xfrm>
          <a:off xmlns:a="http://schemas.openxmlformats.org/drawingml/2006/main" x="6762750" y="1619250"/>
          <a:ext xmlns:a="http://schemas.openxmlformats.org/drawingml/2006/main" cx="4762500" cy="2952750"/>
        </p:xfrm>
        <a:graphic xmlns:a="http://schemas.openxmlformats.org/drawingml/2006/main">
          <a:graphicData uri="http://schemas.openxmlformats.org/drawingml/2006/chart">
            <c:chart xmlns:r="http://schemas.openxmlformats.org/officeDocument/2006/relationships" xmlns:c="http://schemas.openxmlformats.org/drawingml/2006/chart" r:id="R1422a7894bd4429a"/>
          </a:graphicData>
        </a:graphic>
      </p:graphicFrame>
      <p:sp>
        <p:nvSpPr>
          <p:cNvPr id="6" name="57.31% delayed&#10;42.69% on time or early">
            <a:extLst xmlns:a="http://schemas.openxmlformats.org/drawingml/2006/main">
              <a:ext uri="{FF2B5EF4-FFF2-40B4-BE49-F238E27FC236}">
                <a16:creationId xmlns:a16="http://schemas.microsoft.com/office/drawing/2014/main" id="{395825CE-3C0C-4E37-B11E-DBB990F36810}"/>
              </a:ext>
            </a:extLst>
          </p:cNvPr>
          <p:cNvSpPr>
            <a:spLocks xmlns:a="http://schemas.openxmlformats.org/drawingml/2006/main" noGrp="1"/>
          </p:cNvSpPr>
          <p:nvPr/>
        </p:nvSpPr>
        <p:spPr>
          <a:xfrm xmlns:a="http://schemas.openxmlformats.org/drawingml/2006/main">
            <a:off x="7048500" y="495300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325" b="1">
                <a:solidFill>
                  <a:srgbClr val="244763"/>
                </a:solidFill>
                <a:latin typeface="Times New Roman"/>
                <a:ea typeface="Times New Roman"/>
                <a:cs typeface="Times New Roman"/>
              </a:defRPr>
            </a:defPPr>
            <a:lvl1pPr algn="ctr">
              <a:defRPr sz="2325" b="1">
                <a:solidFill>
                  <a:srgbClr val="244763"/>
                </a:solidFill>
                <a:latin typeface="Times New Roman"/>
                <a:ea typeface="Times New Roman"/>
                <a:cs typeface="Times New Roman"/>
              </a:defRPr>
            </a:lvl1pPr>
            <a:lvl2pPr algn="ctr">
              <a:defRPr sz="2325" b="1">
                <a:solidFill>
                  <a:srgbClr val="244763"/>
                </a:solidFill>
                <a:latin typeface="Times New Roman"/>
                <a:ea typeface="Times New Roman"/>
                <a:cs typeface="Times New Roman"/>
              </a:defRPr>
            </a:lvl2pPr>
            <a:lvl3pPr algn="ctr">
              <a:defRPr sz="2325" b="1">
                <a:solidFill>
                  <a:srgbClr val="244763"/>
                </a:solidFill>
                <a:latin typeface="Times New Roman"/>
                <a:ea typeface="Times New Roman"/>
                <a:cs typeface="Times New Roman"/>
              </a:defRPr>
            </a:lvl3pPr>
            <a:lvl4pPr algn="ctr">
              <a:defRPr sz="2325" b="1">
                <a:solidFill>
                  <a:srgbClr val="244763"/>
                </a:solidFill>
                <a:latin typeface="Times New Roman"/>
                <a:ea typeface="Times New Roman"/>
                <a:cs typeface="Times New Roman"/>
              </a:defRPr>
            </a:lvl4pPr>
            <a:lvl5pPr algn="ctr">
              <a:defRPr sz="2325" b="1">
                <a:solidFill>
                  <a:srgbClr val="244763"/>
                </a:solidFill>
                <a:latin typeface="Times New Roman"/>
                <a:ea typeface="Times New Roman"/>
                <a:cs typeface="Times New Roman"/>
              </a:defRPr>
            </a:lvl5pPr>
            <a:lvl6pPr algn="ctr">
              <a:defRPr sz="2325" b="1">
                <a:solidFill>
                  <a:srgbClr val="244763"/>
                </a:solidFill>
                <a:latin typeface="Times New Roman"/>
                <a:ea typeface="Times New Roman"/>
                <a:cs typeface="Times New Roman"/>
              </a:defRPr>
            </a:lvl6pPr>
            <a:lvl7pPr algn="ctr">
              <a:defRPr sz="2325" b="1">
                <a:solidFill>
                  <a:srgbClr val="244763"/>
                </a:solidFill>
                <a:latin typeface="Times New Roman"/>
                <a:ea typeface="Times New Roman"/>
                <a:cs typeface="Times New Roman"/>
              </a:defRPr>
            </a:lvl7pPr>
            <a:lvl8pPr algn="ctr">
              <a:defRPr sz="2325" b="1">
                <a:solidFill>
                  <a:srgbClr val="244763"/>
                </a:solidFill>
                <a:latin typeface="Times New Roman"/>
                <a:ea typeface="Times New Roman"/>
                <a:cs typeface="Times New Roman"/>
              </a:defRPr>
            </a:lvl8pPr>
            <a:lvl9pPr algn="ctr">
              <a:defRPr sz="2325" b="1">
                <a:solidFill>
                  <a:srgbClr val="244763"/>
                </a:solidFill>
                <a:latin typeface="Times New Roman"/>
                <a:ea typeface="Times New Roman"/>
                <a:cs typeface="Times New Roman"/>
              </a:defRPr>
            </a:lvl9pPr>
          </a:lstStyle>
          <a:p xmlns:a="http://schemas.openxmlformats.org/drawingml/2006/main">
            <a:pPr algn="ctr">
              <a:defRPr sz="2325" b="1">
                <a:solidFill>
                  <a:srgbClr val="244763"/>
                </a:solidFill>
                <a:latin typeface="Times New Roman"/>
                <a:ea typeface="Times New Roman"/>
                <a:cs typeface="Times New Roman"/>
              </a:defRPr>
            </a:pPr>
            <a:r>
              <a:rPr sz="2325" b="1">
                <a:solidFill>
                  <a:srgbClr val="244763"/>
                </a:solidFill>
                <a:latin typeface="Times New Roman"/>
                <a:ea typeface="Times New Roman"/>
                <a:cs typeface="Times New Roman"/>
              </a:rPr>
              <a:t>57.31% delayed</a:t>
            </a:r>
          </a:p>
          <a:p xmlns:a="http://schemas.openxmlformats.org/drawingml/2006/main">
            <a:pPr algn="ctr">
              <a:defRPr sz="2325" b="1">
                <a:solidFill>
                  <a:srgbClr val="244763"/>
                </a:solidFill>
                <a:latin typeface="Times New Roman"/>
                <a:ea typeface="Times New Roman"/>
                <a:cs typeface="Times New Roman"/>
              </a:defRPr>
            </a:pPr>
            <a:r>
              <a:rPr sz="2325" b="1">
                <a:solidFill>
                  <a:srgbClr val="244763"/>
                </a:solidFill>
                <a:latin typeface="Times New Roman"/>
                <a:ea typeface="Times New Roman"/>
                <a:cs typeface="Times New Roman"/>
              </a:rPr>
              <a:t>42.69% on time or early</a:t>
            </a:r>
          </a:p>
        </p:txBody>
      </p:sp>
      <p:sp>
        <p:nvSpPr>
          <p:cNvPr id="7" name="Item-level duplicates are removed before whole-order validat">
            <a:extLst xmlns:a="http://schemas.openxmlformats.org/drawingml/2006/main">
              <a:ext uri="{FF2B5EF4-FFF2-40B4-BE49-F238E27FC236}">
                <a16:creationId xmlns:a16="http://schemas.microsoft.com/office/drawing/2014/main" id="{940C479E-4567-49E9-8EA8-C0C0DFF11E90}"/>
              </a:ext>
            </a:extLst>
          </p:cNvPr>
          <p:cNvSpPr>
            <a:spLocks xmlns:a="http://schemas.openxmlformats.org/drawingml/2006/main" noGrp="1"/>
          </p:cNvSpPr>
          <p:nvPr/>
        </p:nvSpPr>
        <p:spPr>
          <a:xfrm xmlns:a="http://schemas.openxmlformats.org/drawingml/2006/main">
            <a:off x="619125" y="5743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11111"/>
                </a:solidFill>
                <a:latin typeface="Times New Roman"/>
                <a:ea typeface="Times New Roman"/>
                <a:cs typeface="Times New Roman"/>
              </a:defRPr>
            </a:defPPr>
            <a:lvl1pPr algn="l">
              <a:defRPr sz="1950" b="0">
                <a:solidFill>
                  <a:srgbClr val="111111"/>
                </a:solidFill>
                <a:latin typeface="Times New Roman"/>
                <a:ea typeface="Times New Roman"/>
                <a:cs typeface="Times New Roman"/>
              </a:defRPr>
            </a:lvl1pPr>
            <a:lvl2pPr algn="l">
              <a:defRPr sz="1950" b="0">
                <a:solidFill>
                  <a:srgbClr val="111111"/>
                </a:solidFill>
                <a:latin typeface="Times New Roman"/>
                <a:ea typeface="Times New Roman"/>
                <a:cs typeface="Times New Roman"/>
              </a:defRPr>
            </a:lvl2pPr>
            <a:lvl3pPr algn="l">
              <a:defRPr sz="1950" b="0">
                <a:solidFill>
                  <a:srgbClr val="111111"/>
                </a:solidFill>
                <a:latin typeface="Times New Roman"/>
                <a:ea typeface="Times New Roman"/>
                <a:cs typeface="Times New Roman"/>
              </a:defRPr>
            </a:lvl3pPr>
            <a:lvl4pPr algn="l">
              <a:defRPr sz="1950" b="0">
                <a:solidFill>
                  <a:srgbClr val="111111"/>
                </a:solidFill>
                <a:latin typeface="Times New Roman"/>
                <a:ea typeface="Times New Roman"/>
                <a:cs typeface="Times New Roman"/>
              </a:defRPr>
            </a:lvl4pPr>
            <a:lvl5pPr algn="l">
              <a:defRPr sz="1950" b="0">
                <a:solidFill>
                  <a:srgbClr val="111111"/>
                </a:solidFill>
                <a:latin typeface="Times New Roman"/>
                <a:ea typeface="Times New Roman"/>
                <a:cs typeface="Times New Roman"/>
              </a:defRPr>
            </a:lvl5pPr>
            <a:lvl6pPr algn="l">
              <a:defRPr sz="1950" b="0">
                <a:solidFill>
                  <a:srgbClr val="111111"/>
                </a:solidFill>
                <a:latin typeface="Times New Roman"/>
                <a:ea typeface="Times New Roman"/>
                <a:cs typeface="Times New Roman"/>
              </a:defRPr>
            </a:lvl6pPr>
            <a:lvl7pPr algn="l">
              <a:defRPr sz="1950" b="0">
                <a:solidFill>
                  <a:srgbClr val="111111"/>
                </a:solidFill>
                <a:latin typeface="Times New Roman"/>
                <a:ea typeface="Times New Roman"/>
                <a:cs typeface="Times New Roman"/>
              </a:defRPr>
            </a:lvl7pPr>
            <a:lvl8pPr algn="l">
              <a:defRPr sz="1950" b="0">
                <a:solidFill>
                  <a:srgbClr val="111111"/>
                </a:solidFill>
                <a:latin typeface="Times New Roman"/>
                <a:ea typeface="Times New Roman"/>
                <a:cs typeface="Times New Roman"/>
              </a:defRPr>
            </a:lvl8pPr>
            <a:lvl9pPr algn="l">
              <a:defRPr sz="1950" b="0">
                <a:solidFill>
                  <a:srgbClr val="111111"/>
                </a:solidFill>
                <a:latin typeface="Times New Roman"/>
                <a:ea typeface="Times New Roman"/>
                <a:cs typeface="Times New Roman"/>
              </a:defRPr>
            </a:lvl9pPr>
          </a:lstStyle>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Item-level duplicates are removed before whole-order validation and aggregation.</a:t>
            </a:r>
          </a:p>
        </p:txBody>
      </p:sp>
    </p:spTree>
    <p:extLst>
      <p:ext uri="{BB962C8B-B14F-4D97-AF65-F5344CB8AC3E}">
        <p14:creationId xmlns:p14="http://schemas.microsoft.com/office/powerpoint/2010/main" val="532687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me-aware modelling and leakage control">
            <a:extLst xmlns:a="http://schemas.openxmlformats.org/drawingml/2006/main">
              <a:ext uri="{FF2B5EF4-FFF2-40B4-BE49-F238E27FC236}">
                <a16:creationId xmlns:a16="http://schemas.microsoft.com/office/drawing/2014/main" id="{A32C050F-1164-4246-B867-3F0CE7B9826C}"/>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Time-aware modelling and leakage control</a:t>
            </a:r>
          </a:p>
        </p:txBody>
      </p:sp>
      <p:sp>
        <p:nvSpPr>
          <p:cNvPr id="2" name="BCSE402L  Big Data Analytics  |  DA3  |  20 October 2026">
            <a:extLst xmlns:a="http://schemas.openxmlformats.org/drawingml/2006/main">
              <a:ext uri="{FF2B5EF4-FFF2-40B4-BE49-F238E27FC236}">
                <a16:creationId xmlns:a16="http://schemas.microsoft.com/office/drawing/2014/main" id="{A5E4DB29-4B96-4213-BE63-2CE86D7159B6}"/>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5">
            <a:extLst xmlns:a="http://schemas.openxmlformats.org/drawingml/2006/main">
              <a:ext uri="{FF2B5EF4-FFF2-40B4-BE49-F238E27FC236}">
                <a16:creationId xmlns:a16="http://schemas.microsoft.com/office/drawing/2014/main" id="{787A39C5-B6EE-4FBB-B9FE-3C90F217A661}"/>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05</a:t>
            </a:r>
          </a:p>
        </p:txBody>
      </p:sp>
      <p:sp>
        <p:nvSpPr>
          <p:cNvPr id="4" name="">
            <a:extLst xmlns:a="http://schemas.openxmlformats.org/drawingml/2006/main">
              <a:ext uri="{FF2B5EF4-FFF2-40B4-BE49-F238E27FC236}">
                <a16:creationId xmlns:a16="http://schemas.microsoft.com/office/drawing/2014/main" id="{DF11F530-97B2-412A-9B97-FE896978B9E6}"/>
              </a:ext>
            </a:extLst>
          </p:cNvPr>
          <p:cNvSpPr>
            <a:spLocks xmlns:a="http://schemas.openxmlformats.org/drawingml/2006/main" noGrp="1"/>
          </p:cNvSpPr>
          <p:nvPr/>
        </p:nvSpPr>
        <p:spPr>
          <a:xfrm xmlns:a="http://schemas.openxmlformats.org/drawingml/2006/main">
            <a:off x="571500" y="1428750"/>
            <a:ext cx="3667125" cy="1047750"/>
          </a:xfrm>
          <a:prstGeom xmlns:a="http://schemas.openxmlformats.org/drawingml/2006/main" prst="roundRect">
            <a:avLst>
              <a:gd name="adj" fmla="val 7273"/>
            </a:avLst>
          </a:prstGeom>
          <a:solidFill xmlns:a="http://schemas.openxmlformats.org/drawingml/2006/main">
            <a:srgbClr val="F1F5F8"/>
          </a:solidFill>
          <a:ln xmlns:a="http://schemas.openxmlformats.org/drawingml/2006/main" w="9525">
            <a:solidFill>
              <a:srgbClr val="244763"/>
            </a:solidFill>
          </a:ln>
        </p:spPr>
      </p:sp>
      <p:sp>
        <p:nvSpPr>
          <p:cNvPr id="5" name="Development population">
            <a:extLst xmlns:a="http://schemas.openxmlformats.org/drawingml/2006/main">
              <a:ext uri="{FF2B5EF4-FFF2-40B4-BE49-F238E27FC236}">
                <a16:creationId xmlns:a16="http://schemas.microsoft.com/office/drawing/2014/main" id="{905AA55F-80EC-43B8-AA73-CDC1FB4034E5}"/>
              </a:ext>
            </a:extLst>
          </p:cNvPr>
          <p:cNvSpPr>
            <a:spLocks xmlns:a="http://schemas.openxmlformats.org/drawingml/2006/main" noGrp="1"/>
          </p:cNvSpPr>
          <p:nvPr/>
        </p:nvSpPr>
        <p:spPr>
          <a:xfrm xmlns:a="http://schemas.openxmlformats.org/drawingml/2006/main">
            <a:off x="647700" y="1524000"/>
            <a:ext cx="3514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Development population</a:t>
            </a:r>
          </a:p>
        </p:txBody>
      </p:sp>
      <p:sp>
        <p:nvSpPr>
          <p:cNvPr id="6" name="50,266 earlier orders&#10;Two expanding validation folds">
            <a:extLst xmlns:a="http://schemas.openxmlformats.org/drawingml/2006/main">
              <a:ext uri="{FF2B5EF4-FFF2-40B4-BE49-F238E27FC236}">
                <a16:creationId xmlns:a16="http://schemas.microsoft.com/office/drawing/2014/main" id="{3E8A13D3-07D3-4C1C-AE1E-893DE8BFCE62}"/>
              </a:ext>
            </a:extLst>
          </p:cNvPr>
          <p:cNvSpPr>
            <a:spLocks xmlns:a="http://schemas.openxmlformats.org/drawingml/2006/main" noGrp="1"/>
          </p:cNvSpPr>
          <p:nvPr/>
        </p:nvSpPr>
        <p:spPr>
          <a:xfrm xmlns:a="http://schemas.openxmlformats.org/drawingml/2006/main">
            <a:off x="666750" y="186690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50,266 earlier orders</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Two expanding validation folds</a:t>
            </a:r>
          </a:p>
        </p:txBody>
      </p:sp>
      <p:sp>
        <p:nvSpPr>
          <p:cNvPr id="7" name="">
            <a:extLst xmlns:a="http://schemas.openxmlformats.org/drawingml/2006/main">
              <a:ext uri="{FF2B5EF4-FFF2-40B4-BE49-F238E27FC236}">
                <a16:creationId xmlns:a16="http://schemas.microsoft.com/office/drawing/2014/main" id="{826B09A0-599E-47A5-99C9-8C12621FCA2A}"/>
              </a:ext>
            </a:extLst>
          </p:cNvPr>
          <p:cNvSpPr>
            <a:spLocks xmlns:a="http://schemas.openxmlformats.org/drawingml/2006/main" noGrp="1"/>
          </p:cNvSpPr>
          <p:nvPr/>
        </p:nvSpPr>
        <p:spPr>
          <a:xfrm xmlns:a="http://schemas.openxmlformats.org/drawingml/2006/main">
            <a:off x="4429125" y="1790700"/>
            <a:ext cx="523875" cy="285750"/>
          </a:xfrm>
          <a:prstGeom xmlns:a="http://schemas.openxmlformats.org/drawingml/2006/main" prst="rightArrow">
            <a:avLst/>
          </a:prstGeom>
          <a:solidFill xmlns:a="http://schemas.openxmlformats.org/drawingml/2006/main">
            <a:srgbClr val="2447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C0D2B1-0271-4663-8865-251FF3DE6CAC}"/>
              </a:ext>
            </a:extLst>
          </p:cNvPr>
          <p:cNvSpPr>
            <a:spLocks xmlns:a="http://schemas.openxmlformats.org/drawingml/2006/main" noGrp="1"/>
          </p:cNvSpPr>
          <p:nvPr/>
        </p:nvSpPr>
        <p:spPr>
          <a:xfrm xmlns:a="http://schemas.openxmlformats.org/drawingml/2006/main">
            <a:off x="5143500" y="1428750"/>
            <a:ext cx="3238500" cy="1047750"/>
          </a:xfrm>
          <a:prstGeom xmlns:a="http://schemas.openxmlformats.org/drawingml/2006/main" prst="roundRect">
            <a:avLst>
              <a:gd name="adj" fmla="val 7273"/>
            </a:avLst>
          </a:prstGeom>
          <a:solidFill xmlns:a="http://schemas.openxmlformats.org/drawingml/2006/main">
            <a:srgbClr val="F1F5F8"/>
          </a:solidFill>
          <a:ln xmlns:a="http://schemas.openxmlformats.org/drawingml/2006/main" w="9525">
            <a:solidFill>
              <a:srgbClr val="244763"/>
            </a:solidFill>
          </a:ln>
        </p:spPr>
      </p:sp>
      <p:sp>
        <p:nvSpPr>
          <p:cNvPr id="9" name="Separate explanation block">
            <a:extLst xmlns:a="http://schemas.openxmlformats.org/drawingml/2006/main">
              <a:ext uri="{FF2B5EF4-FFF2-40B4-BE49-F238E27FC236}">
                <a16:creationId xmlns:a16="http://schemas.microsoft.com/office/drawing/2014/main" id="{85108F3D-87A4-4BE0-BBB7-343D5CC0C248}"/>
              </a:ext>
            </a:extLst>
          </p:cNvPr>
          <p:cNvSpPr>
            <a:spLocks xmlns:a="http://schemas.openxmlformats.org/drawingml/2006/main" noGrp="1"/>
          </p:cNvSpPr>
          <p:nvPr/>
        </p:nvSpPr>
        <p:spPr>
          <a:xfrm xmlns:a="http://schemas.openxmlformats.org/drawingml/2006/main">
            <a:off x="5219700" y="1524000"/>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Separate explanation block</a:t>
            </a:r>
          </a:p>
        </p:txBody>
      </p:sp>
      <p:sp>
        <p:nvSpPr>
          <p:cNvPr id="10" name="7,540 orders excluded from fitting&#10;Global SHAP sample: 96">
            <a:extLst xmlns:a="http://schemas.openxmlformats.org/drawingml/2006/main">
              <a:ext uri="{FF2B5EF4-FFF2-40B4-BE49-F238E27FC236}">
                <a16:creationId xmlns:a16="http://schemas.microsoft.com/office/drawing/2014/main" id="{8DFEBF3D-8A93-495B-89D1-3ABF540B6048}"/>
              </a:ext>
            </a:extLst>
          </p:cNvPr>
          <p:cNvSpPr>
            <a:spLocks xmlns:a="http://schemas.openxmlformats.org/drawingml/2006/main" noGrp="1"/>
          </p:cNvSpPr>
          <p:nvPr/>
        </p:nvSpPr>
        <p:spPr>
          <a:xfrm xmlns:a="http://schemas.openxmlformats.org/drawingml/2006/main">
            <a:off x="5238750" y="186690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7,540 orders excluded from fitting</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Global SHAP sample: 96</a:t>
            </a:r>
          </a:p>
        </p:txBody>
      </p:sp>
      <p:sp>
        <p:nvSpPr>
          <p:cNvPr id="11" name="">
            <a:extLst xmlns:a="http://schemas.openxmlformats.org/drawingml/2006/main">
              <a:ext uri="{FF2B5EF4-FFF2-40B4-BE49-F238E27FC236}">
                <a16:creationId xmlns:a16="http://schemas.microsoft.com/office/drawing/2014/main" id="{2378696D-A872-4ACA-A437-2F04ABD63E0C}"/>
              </a:ext>
            </a:extLst>
          </p:cNvPr>
          <p:cNvSpPr>
            <a:spLocks xmlns:a="http://schemas.openxmlformats.org/drawingml/2006/main" noGrp="1"/>
          </p:cNvSpPr>
          <p:nvPr/>
        </p:nvSpPr>
        <p:spPr>
          <a:xfrm xmlns:a="http://schemas.openxmlformats.org/drawingml/2006/main">
            <a:off x="8572500" y="1790700"/>
            <a:ext cx="476250" cy="285750"/>
          </a:xfrm>
          <a:prstGeom xmlns:a="http://schemas.openxmlformats.org/drawingml/2006/main" prst="rightArrow">
            <a:avLst/>
          </a:prstGeom>
          <a:solidFill xmlns:a="http://schemas.openxmlformats.org/drawingml/2006/main">
            <a:srgbClr val="24476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929D96-EBF7-4149-8EEB-54539BE4CCFB}"/>
              </a:ext>
            </a:extLst>
          </p:cNvPr>
          <p:cNvSpPr>
            <a:spLocks xmlns:a="http://schemas.openxmlformats.org/drawingml/2006/main" noGrp="1"/>
          </p:cNvSpPr>
          <p:nvPr/>
        </p:nvSpPr>
        <p:spPr>
          <a:xfrm xmlns:a="http://schemas.openxmlformats.org/drawingml/2006/main">
            <a:off x="9239250" y="1428750"/>
            <a:ext cx="2333625" cy="1047750"/>
          </a:xfrm>
          <a:prstGeom xmlns:a="http://schemas.openxmlformats.org/drawingml/2006/main" prst="roundRect">
            <a:avLst>
              <a:gd name="adj" fmla="val 7273"/>
            </a:avLst>
          </a:prstGeom>
          <a:solidFill xmlns:a="http://schemas.openxmlformats.org/drawingml/2006/main">
            <a:srgbClr val="F1F5F8"/>
          </a:solidFill>
          <a:ln xmlns:a="http://schemas.openxmlformats.org/drawingml/2006/main" w="9525">
            <a:solidFill>
              <a:srgbClr val="244763"/>
            </a:solidFill>
          </a:ln>
        </p:spPr>
      </p:sp>
      <p:sp>
        <p:nvSpPr>
          <p:cNvPr id="13" name="Final test">
            <a:extLst xmlns:a="http://schemas.openxmlformats.org/drawingml/2006/main">
              <a:ext uri="{FF2B5EF4-FFF2-40B4-BE49-F238E27FC236}">
                <a16:creationId xmlns:a16="http://schemas.microsoft.com/office/drawing/2014/main" id="{5066AAE9-A3F4-4D99-B6CB-A00B9A38144F}"/>
              </a:ext>
            </a:extLst>
          </p:cNvPr>
          <p:cNvSpPr>
            <a:spLocks xmlns:a="http://schemas.openxmlformats.org/drawingml/2006/main" noGrp="1"/>
          </p:cNvSpPr>
          <p:nvPr/>
        </p:nvSpPr>
        <p:spPr>
          <a:xfrm xmlns:a="http://schemas.openxmlformats.org/drawingml/2006/main">
            <a:off x="9315450" y="1524000"/>
            <a:ext cx="2181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11111"/>
                </a:solidFill>
                <a:latin typeface="Times New Roman"/>
                <a:ea typeface="Times New Roman"/>
                <a:cs typeface="Times New Roman"/>
              </a:defRPr>
            </a:defPPr>
            <a:lvl1pPr algn="ctr">
              <a:defRPr sz="1725" b="1">
                <a:solidFill>
                  <a:srgbClr val="111111"/>
                </a:solidFill>
                <a:latin typeface="Times New Roman"/>
                <a:ea typeface="Times New Roman"/>
                <a:cs typeface="Times New Roman"/>
              </a:defRPr>
            </a:lvl1pPr>
            <a:lvl2pPr algn="ctr">
              <a:defRPr sz="1725" b="1">
                <a:solidFill>
                  <a:srgbClr val="111111"/>
                </a:solidFill>
                <a:latin typeface="Times New Roman"/>
                <a:ea typeface="Times New Roman"/>
                <a:cs typeface="Times New Roman"/>
              </a:defRPr>
            </a:lvl2pPr>
            <a:lvl3pPr algn="ctr">
              <a:defRPr sz="1725" b="1">
                <a:solidFill>
                  <a:srgbClr val="111111"/>
                </a:solidFill>
                <a:latin typeface="Times New Roman"/>
                <a:ea typeface="Times New Roman"/>
                <a:cs typeface="Times New Roman"/>
              </a:defRPr>
            </a:lvl3pPr>
            <a:lvl4pPr algn="ctr">
              <a:defRPr sz="1725" b="1">
                <a:solidFill>
                  <a:srgbClr val="111111"/>
                </a:solidFill>
                <a:latin typeface="Times New Roman"/>
                <a:ea typeface="Times New Roman"/>
                <a:cs typeface="Times New Roman"/>
              </a:defRPr>
            </a:lvl4pPr>
            <a:lvl5pPr algn="ctr">
              <a:defRPr sz="1725" b="1">
                <a:solidFill>
                  <a:srgbClr val="111111"/>
                </a:solidFill>
                <a:latin typeface="Times New Roman"/>
                <a:ea typeface="Times New Roman"/>
                <a:cs typeface="Times New Roman"/>
              </a:defRPr>
            </a:lvl5pPr>
            <a:lvl6pPr algn="ctr">
              <a:defRPr sz="1725" b="1">
                <a:solidFill>
                  <a:srgbClr val="111111"/>
                </a:solidFill>
                <a:latin typeface="Times New Roman"/>
                <a:ea typeface="Times New Roman"/>
                <a:cs typeface="Times New Roman"/>
              </a:defRPr>
            </a:lvl6pPr>
            <a:lvl7pPr algn="ctr">
              <a:defRPr sz="1725" b="1">
                <a:solidFill>
                  <a:srgbClr val="111111"/>
                </a:solidFill>
                <a:latin typeface="Times New Roman"/>
                <a:ea typeface="Times New Roman"/>
                <a:cs typeface="Times New Roman"/>
              </a:defRPr>
            </a:lvl7pPr>
            <a:lvl8pPr algn="ctr">
              <a:defRPr sz="1725" b="1">
                <a:solidFill>
                  <a:srgbClr val="111111"/>
                </a:solidFill>
                <a:latin typeface="Times New Roman"/>
                <a:ea typeface="Times New Roman"/>
                <a:cs typeface="Times New Roman"/>
              </a:defRPr>
            </a:lvl8pPr>
            <a:lvl9pPr algn="ctr">
              <a:defRPr sz="1725" b="1">
                <a:solidFill>
                  <a:srgbClr val="111111"/>
                </a:solidFill>
                <a:latin typeface="Times New Roman"/>
                <a:ea typeface="Times New Roman"/>
                <a:cs typeface="Times New Roman"/>
              </a:defRPr>
            </a:lvl9pPr>
          </a:lstStyle>
          <a:p xmlns:a="http://schemas.openxmlformats.org/drawingml/2006/main">
            <a:pPr algn="ctr">
              <a:defRPr sz="1725" b="1">
                <a:solidFill>
                  <a:srgbClr val="111111"/>
                </a:solidFill>
                <a:latin typeface="Times New Roman"/>
                <a:ea typeface="Times New Roman"/>
                <a:cs typeface="Times New Roman"/>
              </a:defRPr>
            </a:pPr>
            <a:r>
              <a:rPr sz="1725" b="1">
                <a:solidFill>
                  <a:srgbClr val="111111"/>
                </a:solidFill>
                <a:latin typeface="Times New Roman"/>
                <a:ea typeface="Times New Roman"/>
                <a:cs typeface="Times New Roman"/>
              </a:rPr>
              <a:t>Final test</a:t>
            </a:r>
          </a:p>
        </p:txBody>
      </p:sp>
      <p:sp>
        <p:nvSpPr>
          <p:cNvPr id="14" name="12,631 later orders&#10;No test-based selection">
            <a:extLst xmlns:a="http://schemas.openxmlformats.org/drawingml/2006/main">
              <a:ext uri="{FF2B5EF4-FFF2-40B4-BE49-F238E27FC236}">
                <a16:creationId xmlns:a16="http://schemas.microsoft.com/office/drawing/2014/main" id="{8EE2D223-C3A8-4ABD-97CF-0CF46071D482}"/>
              </a:ext>
            </a:extLst>
          </p:cNvPr>
          <p:cNvSpPr>
            <a:spLocks xmlns:a="http://schemas.openxmlformats.org/drawingml/2006/main" noGrp="1"/>
          </p:cNvSpPr>
          <p:nvPr/>
        </p:nvSpPr>
        <p:spPr>
          <a:xfrm xmlns:a="http://schemas.openxmlformats.org/drawingml/2006/main">
            <a:off x="9334500" y="1866900"/>
            <a:ext cx="2143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111111"/>
                </a:solidFill>
                <a:latin typeface="Times New Roman"/>
                <a:ea typeface="Times New Roman"/>
                <a:cs typeface="Times New Roman"/>
              </a:defRPr>
            </a:defPPr>
            <a:lvl1pPr algn="ctr">
              <a:defRPr sz="1425" b="0">
                <a:solidFill>
                  <a:srgbClr val="111111"/>
                </a:solidFill>
                <a:latin typeface="Times New Roman"/>
                <a:ea typeface="Times New Roman"/>
                <a:cs typeface="Times New Roman"/>
              </a:defRPr>
            </a:lvl1pPr>
            <a:lvl2pPr algn="ctr">
              <a:defRPr sz="1425" b="0">
                <a:solidFill>
                  <a:srgbClr val="111111"/>
                </a:solidFill>
                <a:latin typeface="Times New Roman"/>
                <a:ea typeface="Times New Roman"/>
                <a:cs typeface="Times New Roman"/>
              </a:defRPr>
            </a:lvl2pPr>
            <a:lvl3pPr algn="ctr">
              <a:defRPr sz="1425" b="0">
                <a:solidFill>
                  <a:srgbClr val="111111"/>
                </a:solidFill>
                <a:latin typeface="Times New Roman"/>
                <a:ea typeface="Times New Roman"/>
                <a:cs typeface="Times New Roman"/>
              </a:defRPr>
            </a:lvl3pPr>
            <a:lvl4pPr algn="ctr">
              <a:defRPr sz="1425" b="0">
                <a:solidFill>
                  <a:srgbClr val="111111"/>
                </a:solidFill>
                <a:latin typeface="Times New Roman"/>
                <a:ea typeface="Times New Roman"/>
                <a:cs typeface="Times New Roman"/>
              </a:defRPr>
            </a:lvl4pPr>
            <a:lvl5pPr algn="ctr">
              <a:defRPr sz="1425" b="0">
                <a:solidFill>
                  <a:srgbClr val="111111"/>
                </a:solidFill>
                <a:latin typeface="Times New Roman"/>
                <a:ea typeface="Times New Roman"/>
                <a:cs typeface="Times New Roman"/>
              </a:defRPr>
            </a:lvl5pPr>
            <a:lvl6pPr algn="ctr">
              <a:defRPr sz="1425" b="0">
                <a:solidFill>
                  <a:srgbClr val="111111"/>
                </a:solidFill>
                <a:latin typeface="Times New Roman"/>
                <a:ea typeface="Times New Roman"/>
                <a:cs typeface="Times New Roman"/>
              </a:defRPr>
            </a:lvl6pPr>
            <a:lvl7pPr algn="ctr">
              <a:defRPr sz="1425" b="0">
                <a:solidFill>
                  <a:srgbClr val="111111"/>
                </a:solidFill>
                <a:latin typeface="Times New Roman"/>
                <a:ea typeface="Times New Roman"/>
                <a:cs typeface="Times New Roman"/>
              </a:defRPr>
            </a:lvl7pPr>
            <a:lvl8pPr algn="ctr">
              <a:defRPr sz="1425" b="0">
                <a:solidFill>
                  <a:srgbClr val="111111"/>
                </a:solidFill>
                <a:latin typeface="Times New Roman"/>
                <a:ea typeface="Times New Roman"/>
                <a:cs typeface="Times New Roman"/>
              </a:defRPr>
            </a:lvl8pPr>
            <a:lvl9pPr algn="ctr">
              <a:defRPr sz="1425" b="0">
                <a:solidFill>
                  <a:srgbClr val="111111"/>
                </a:solidFill>
                <a:latin typeface="Times New Roman"/>
                <a:ea typeface="Times New Roman"/>
                <a:cs typeface="Times New Roman"/>
              </a:defRPr>
            </a:lvl9pPr>
          </a:lstStyle>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12,631 later orders</a:t>
            </a:r>
          </a:p>
          <a:p xmlns:a="http://schemas.openxmlformats.org/drawingml/2006/main">
            <a:pPr algn="ctr">
              <a:defRPr sz="1425" b="0">
                <a:solidFill>
                  <a:srgbClr val="111111"/>
                </a:solidFill>
                <a:latin typeface="Times New Roman"/>
                <a:ea typeface="Times New Roman"/>
                <a:cs typeface="Times New Roman"/>
              </a:defRPr>
            </a:pPr>
            <a:r>
              <a:rPr sz="1425" b="0">
                <a:solidFill>
                  <a:srgbClr val="111111"/>
                </a:solidFill>
                <a:latin typeface="Times New Roman"/>
                <a:ea typeface="Times New Roman"/>
                <a:cs typeface="Times New Roman"/>
              </a:rPr>
              <a:t>No test-based selection</a:t>
            </a:r>
          </a:p>
        </p:txBody>
      </p:sp>
      <p:graphicFrame>
        <p:nvGraphicFramePr>
          <p:cNvPr id="15" name="">
            <a:extLst xmlns:a="http://schemas.openxmlformats.org/drawingml/2006/main">
              <a:ext uri="{FF2B5EF4-FFF2-40B4-BE49-F238E27FC236}">
                <a16:creationId xmlns:a16="http://schemas.microsoft.com/office/drawing/2014/main" id="{1FEF1BD5-DECF-4E85-A93E-DA74E5C05297}"/>
              </a:ext>
            </a:extLst>
          </p:cNvPr>
          <p:cNvGraphicFramePr/>
          <p:nvPr/>
        </p:nvGraphicFramePr>
        <p:xfrm>
          <a:off xmlns:a="http://schemas.openxmlformats.org/drawingml/2006/main" x="571500" y="2905125"/>
          <a:ext xmlns:a="http://schemas.openxmlformats.org/drawingml/2006/main" cx="11001375" cy="2524125"/>
        </p:xfrm>
        <a:graphic xmlns:a="http://schemas.openxmlformats.org/drawingml/2006/main">
          <a:graphicData uri="http://schemas.openxmlformats.org/drawingml/2006/table">
            <a:tbl>
              <a:tblPr/>
              <a:tblGrid>
                <a:gridCol w="3143250"/>
                <a:gridCol w="7858125"/>
              </a:tblGrid>
              <a:tr h="504825">
                <a:tc>
                  <a:txBody>
                    <a:bodyPr/>
                    <a:lstStyle/>
                    <a:p>
                      <a:pPr algn="l"/>
                      <a:r>
                        <a:rPr sz="1800" b="1">
                          <a:solidFill>
                            <a:srgbClr val="111111"/>
                          </a:solidFill>
                          <a:latin typeface="Times New Roman"/>
                          <a:ea typeface="Times New Roman"/>
                          <a:cs typeface="Times New Roman"/>
                        </a:rPr>
                        <a:t>Feature choice</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800" b="1">
                          <a:solidFill>
                            <a:srgbClr val="111111"/>
                          </a:solidFill>
                          <a:latin typeface="Times New Roman"/>
                          <a:ea typeface="Times New Roman"/>
                          <a:cs typeface="Times New Roman"/>
                        </a:rPr>
                        <a:t>Validation evidence and decision</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r>
              <a:tr h="504825">
                <a:tc>
                  <a:txBody>
                    <a:bodyPr/>
                    <a:lstStyle/>
                    <a:p>
                      <a:pPr algn="l"/>
                      <a:r>
                        <a:rPr sz="1800" b="0">
                          <a:solidFill>
                            <a:srgbClr val="111111"/>
                          </a:solidFill>
                          <a:latin typeface="Times New Roman"/>
                          <a:ea typeface="Times New Roman"/>
                          <a:cs typeface="Times New Roman"/>
                        </a:rPr>
                        <a:t>Order-time inputs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800" b="0">
                          <a:solidFill>
                            <a:srgbClr val="111111"/>
                          </a:solidFill>
                          <a:latin typeface="Times New Roman"/>
                          <a:ea typeface="Times New Roman"/>
                          <a:cs typeface="Times New Roman"/>
                        </a:rPr>
                        <a:t>Schedule, basket, calendar, market, region, segment and payment</a:t>
                      </a:r>
                    </a:p>
                  </a:txBody>
                  <a:tcPr marL="91440" marR="91440" marT="45720" marB="45720">
                    <a:lnR w="9525">
                      <a:solidFill>
                        <a:srgbClr val="D9D9D9"/>
                      </a:solidFill>
                      <a:prstDash val="solid"/>
                    </a:lnR>
                    <a:lnB w="9525">
                      <a:solidFill>
                        <a:srgbClr val="D9D9D9"/>
                      </a:solidFill>
                      <a:prstDash val="solid"/>
                    </a:lnB>
                    <a:solidFill>
                      <a:srgbClr val="FFFFFF"/>
                    </a:solidFill>
                  </a:tcPr>
                </a:tc>
              </a:tr>
              <a:tr h="504825">
                <a:tc>
                  <a:txBody>
                    <a:bodyPr/>
                    <a:lstStyle/>
                    <a:p>
                      <a:pPr algn="l"/>
                      <a:r>
                        <a:rPr sz="1800" b="0">
                          <a:solidFill>
                            <a:srgbClr val="111111"/>
                          </a:solidFill>
                          <a:latin typeface="Times New Roman"/>
                          <a:ea typeface="Times New Roman"/>
                          <a:cs typeface="Times New Roman"/>
                        </a:rPr>
                        <a:t>Cyclical weekday/month</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800" b="0">
                          <a:solidFill>
                            <a:srgbClr val="111111"/>
                          </a:solidFill>
                          <a:latin typeface="Times New Roman"/>
                          <a:ea typeface="Times New Roman"/>
                          <a:cs typeface="Times New Roman"/>
                        </a:rPr>
                        <a:t>Forest AUC 0.73969; rejected versus numeric 0.73993</a:t>
                      </a:r>
                    </a:p>
                  </a:txBody>
                  <a:tcPr marL="91440" marR="91440" marT="45720" marB="45720">
                    <a:lnR w="9525">
                      <a:solidFill>
                        <a:srgbClr val="D9D9D9"/>
                      </a:solidFill>
                      <a:prstDash val="solid"/>
                    </a:lnR>
                    <a:lnB w="9525">
                      <a:solidFill>
                        <a:srgbClr val="D9D9D9"/>
                      </a:solidFill>
                      <a:prstDash val="solid"/>
                    </a:lnB>
                    <a:solidFill>
                      <a:srgbClr val="F5F7F9"/>
                    </a:solidFill>
                  </a:tcPr>
                </a:tc>
              </a:tr>
              <a:tr h="504825">
                <a:tc>
                  <a:txBody>
                    <a:bodyPr/>
                    <a:lstStyle/>
                    <a:p>
                      <a:pPr algn="l"/>
                      <a:r>
                        <a:rPr sz="1800" b="0">
                          <a:solidFill>
                            <a:srgbClr val="111111"/>
                          </a:solidFill>
                          <a:latin typeface="Times New Roman"/>
                          <a:ea typeface="Times New Roman"/>
                          <a:cs typeface="Times New Roman"/>
                        </a:rPr>
                        <a:t>Basket ratios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800" b="0">
                          <a:solidFill>
                            <a:srgbClr val="111111"/>
                          </a:solidFill>
                          <a:latin typeface="Times New Roman"/>
                          <a:ea typeface="Times New Roman"/>
                          <a:cs typeface="Times New Roman"/>
                        </a:rPr>
                        <a:t>Forest AUC 0.74048; gain below required 0.002</a:t>
                      </a:r>
                    </a:p>
                  </a:txBody>
                  <a:tcPr marL="91440" marR="91440" marT="45720" marB="45720">
                    <a:lnR w="9525">
                      <a:solidFill>
                        <a:srgbClr val="D9D9D9"/>
                      </a:solidFill>
                      <a:prstDash val="solid"/>
                    </a:lnR>
                    <a:lnB w="9525">
                      <a:solidFill>
                        <a:srgbClr val="D9D9D9"/>
                      </a:solidFill>
                      <a:prstDash val="solid"/>
                    </a:lnB>
                    <a:solidFill>
                      <a:srgbClr val="FFFFFF"/>
                    </a:solidFill>
                  </a:tcPr>
                </a:tc>
              </a:tr>
              <a:tr h="504825">
                <a:tc>
                  <a:txBody>
                    <a:bodyPr/>
                    <a:lstStyle/>
                    <a:p>
                      <a:pPr algn="l"/>
                      <a:r>
                        <a:rPr sz="1800" b="0">
                          <a:solidFill>
                            <a:srgbClr val="111111"/>
                          </a:solidFill>
                          <a:latin typeface="Times New Roman"/>
                          <a:ea typeface="Times New Roman"/>
                          <a:cs typeface="Times New Roman"/>
                        </a:rPr>
                        <a:t>Model configuration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800" b="0">
                          <a:solidFill>
                            <a:srgbClr val="111111"/>
                          </a:solidFill>
                          <a:latin typeface="Times New Roman"/>
                          <a:ea typeface="Times New Roman"/>
                          <a:cs typeface="Times New Roman"/>
                        </a:rPr>
                        <a:t>200 trees; depth 16; minimum leaf 5; threshold 0.50</a:t>
                      </a:r>
                    </a:p>
                  </a:txBody>
                  <a:tcPr marL="91440" marR="91440" marT="45720" marB="45720">
                    <a:lnR w="9525">
                      <a:solidFill>
                        <a:srgbClr val="D9D9D9"/>
                      </a:solidFill>
                      <a:prstDash val="solid"/>
                    </a:lnR>
                    <a:lnB w="9525">
                      <a:solidFill>
                        <a:srgbClr val="D9D9D9"/>
                      </a:solidFill>
                      <a:prstDash val="solid"/>
                    </a:lnB>
                    <a:solidFill>
                      <a:srgbClr val="F5F7F9"/>
                    </a:solidFill>
                  </a:tcPr>
                </a:tc>
              </a:tr>
            </a:tbl>
          </a:graphicData>
        </a:graphic>
      </p:graphicFrame>
      <p:sp>
        <p:nvSpPr>
          <p:cNvPr id="16" name="Actual shipping duration and delivery status are labels/anal">
            <a:extLst xmlns:a="http://schemas.openxmlformats.org/drawingml/2006/main">
              <a:ext uri="{FF2B5EF4-FFF2-40B4-BE49-F238E27FC236}">
                <a16:creationId xmlns:a16="http://schemas.microsoft.com/office/drawing/2014/main" id="{C50566FA-A5C2-4974-93E0-65CCC2C562F1}"/>
              </a:ext>
            </a:extLst>
          </p:cNvPr>
          <p:cNvSpPr>
            <a:spLocks xmlns:a="http://schemas.openxmlformats.org/drawingml/2006/main" noGrp="1"/>
          </p:cNvSpPr>
          <p:nvPr/>
        </p:nvSpPr>
        <p:spPr>
          <a:xfrm xmlns:a="http://schemas.openxmlformats.org/drawingml/2006/main">
            <a:off x="619125"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A94032"/>
                </a:solidFill>
                <a:latin typeface="Times New Roman"/>
                <a:ea typeface="Times New Roman"/>
                <a:cs typeface="Times New Roman"/>
              </a:defRPr>
            </a:defPPr>
            <a:lvl1pPr algn="l">
              <a:defRPr sz="2025" b="1">
                <a:solidFill>
                  <a:srgbClr val="A94032"/>
                </a:solidFill>
                <a:latin typeface="Times New Roman"/>
                <a:ea typeface="Times New Roman"/>
                <a:cs typeface="Times New Roman"/>
              </a:defRPr>
            </a:lvl1pPr>
            <a:lvl2pPr algn="l">
              <a:defRPr sz="2025" b="1">
                <a:solidFill>
                  <a:srgbClr val="A94032"/>
                </a:solidFill>
                <a:latin typeface="Times New Roman"/>
                <a:ea typeface="Times New Roman"/>
                <a:cs typeface="Times New Roman"/>
              </a:defRPr>
            </a:lvl2pPr>
            <a:lvl3pPr algn="l">
              <a:defRPr sz="2025" b="1">
                <a:solidFill>
                  <a:srgbClr val="A94032"/>
                </a:solidFill>
                <a:latin typeface="Times New Roman"/>
                <a:ea typeface="Times New Roman"/>
                <a:cs typeface="Times New Roman"/>
              </a:defRPr>
            </a:lvl3pPr>
            <a:lvl4pPr algn="l">
              <a:defRPr sz="2025" b="1">
                <a:solidFill>
                  <a:srgbClr val="A94032"/>
                </a:solidFill>
                <a:latin typeface="Times New Roman"/>
                <a:ea typeface="Times New Roman"/>
                <a:cs typeface="Times New Roman"/>
              </a:defRPr>
            </a:lvl4pPr>
            <a:lvl5pPr algn="l">
              <a:defRPr sz="2025" b="1">
                <a:solidFill>
                  <a:srgbClr val="A94032"/>
                </a:solidFill>
                <a:latin typeface="Times New Roman"/>
                <a:ea typeface="Times New Roman"/>
                <a:cs typeface="Times New Roman"/>
              </a:defRPr>
            </a:lvl5pPr>
            <a:lvl6pPr algn="l">
              <a:defRPr sz="2025" b="1">
                <a:solidFill>
                  <a:srgbClr val="A94032"/>
                </a:solidFill>
                <a:latin typeface="Times New Roman"/>
                <a:ea typeface="Times New Roman"/>
                <a:cs typeface="Times New Roman"/>
              </a:defRPr>
            </a:lvl6pPr>
            <a:lvl7pPr algn="l">
              <a:defRPr sz="2025" b="1">
                <a:solidFill>
                  <a:srgbClr val="A94032"/>
                </a:solidFill>
                <a:latin typeface="Times New Roman"/>
                <a:ea typeface="Times New Roman"/>
                <a:cs typeface="Times New Roman"/>
              </a:defRPr>
            </a:lvl7pPr>
            <a:lvl8pPr algn="l">
              <a:defRPr sz="2025" b="1">
                <a:solidFill>
                  <a:srgbClr val="A94032"/>
                </a:solidFill>
                <a:latin typeface="Times New Roman"/>
                <a:ea typeface="Times New Roman"/>
                <a:cs typeface="Times New Roman"/>
              </a:defRPr>
            </a:lvl8pPr>
            <a:lvl9pPr algn="l">
              <a:defRPr sz="2025" b="1">
                <a:solidFill>
                  <a:srgbClr val="A94032"/>
                </a:solidFill>
                <a:latin typeface="Times New Roman"/>
                <a:ea typeface="Times New Roman"/>
                <a:cs typeface="Times New Roman"/>
              </a:defRPr>
            </a:lvl9pPr>
          </a:lstStyle>
          <a:p xmlns:a="http://schemas.openxmlformats.org/drawingml/2006/main">
            <a:pPr algn="l">
              <a:defRPr sz="2025" b="1">
                <a:solidFill>
                  <a:srgbClr val="A94032"/>
                </a:solidFill>
                <a:latin typeface="Times New Roman"/>
                <a:ea typeface="Times New Roman"/>
                <a:cs typeface="Times New Roman"/>
              </a:defRPr>
            </a:pPr>
            <a:r>
              <a:rPr sz="2025" b="1">
                <a:solidFill>
                  <a:srgbClr val="A94032"/>
                </a:solidFill>
                <a:latin typeface="Times New Roman"/>
                <a:ea typeface="Times New Roman"/>
                <a:cs typeface="Times New Roman"/>
              </a:rPr>
              <a:t>Actual shipping duration and delivery status are labels/analytics inputs only.</a:t>
            </a:r>
          </a:p>
        </p:txBody>
      </p:sp>
    </p:spTree>
    <p:extLst>
      <p:ext uri="{BB962C8B-B14F-4D97-AF65-F5344CB8AC3E}">
        <p14:creationId xmlns:p14="http://schemas.microsoft.com/office/powerpoint/2010/main" val="15533154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odel comparison and final evaluation">
            <a:extLst xmlns:a="http://schemas.openxmlformats.org/drawingml/2006/main">
              <a:ext uri="{FF2B5EF4-FFF2-40B4-BE49-F238E27FC236}">
                <a16:creationId xmlns:a16="http://schemas.microsoft.com/office/drawing/2014/main" id="{F69B5239-EEA1-4F4D-B5D4-71937BC60D46}"/>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Model comparison and final evaluation</a:t>
            </a:r>
          </a:p>
        </p:txBody>
      </p:sp>
      <p:sp>
        <p:nvSpPr>
          <p:cNvPr id="2" name="BCSE402L  Big Data Analytics  |  DA3  |  20 October 2026">
            <a:extLst xmlns:a="http://schemas.openxmlformats.org/drawingml/2006/main">
              <a:ext uri="{FF2B5EF4-FFF2-40B4-BE49-F238E27FC236}">
                <a16:creationId xmlns:a16="http://schemas.microsoft.com/office/drawing/2014/main" id="{9556617C-5788-424D-B496-DE69C8B928F3}"/>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6">
            <a:extLst xmlns:a="http://schemas.openxmlformats.org/drawingml/2006/main">
              <a:ext uri="{FF2B5EF4-FFF2-40B4-BE49-F238E27FC236}">
                <a16:creationId xmlns:a16="http://schemas.microsoft.com/office/drawing/2014/main" id="{CC496FF6-CB4B-4593-8911-FB755BD254BB}"/>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06</a:t>
            </a:r>
          </a:p>
        </p:txBody>
      </p:sp>
      <p:graphicFrame>
        <p:nvGraphicFramePr>
          <p:cNvPr id="4" name="">
            <a:extLst xmlns:a="http://schemas.openxmlformats.org/drawingml/2006/main">
              <a:ext uri="{FF2B5EF4-FFF2-40B4-BE49-F238E27FC236}">
                <a16:creationId xmlns:a16="http://schemas.microsoft.com/office/drawing/2014/main" id="{86805C21-55E8-42B0-86B2-FB31E38154CC}"/>
              </a:ext>
            </a:extLst>
          </p:cNvPr>
          <p:cNvGraphicFramePr/>
          <p:nvPr/>
        </p:nvGraphicFramePr>
        <p:xfrm>
          <a:off xmlns:a="http://schemas.openxmlformats.org/drawingml/2006/main" x="571500" y="1333500"/>
          <a:ext xmlns:a="http://schemas.openxmlformats.org/drawingml/2006/main" cx="10953750" cy="1524000"/>
        </p:xfrm>
        <a:graphic xmlns:a="http://schemas.openxmlformats.org/drawingml/2006/main">
          <a:graphicData uri="http://schemas.openxmlformats.org/drawingml/2006/table">
            <a:tbl>
              <a:tblPr/>
              <a:tblGrid>
                <a:gridCol w="5143500"/>
                <a:gridCol w="2857500"/>
                <a:gridCol w="2952750"/>
              </a:tblGrid>
              <a:tr h="508000">
                <a:tc>
                  <a:txBody>
                    <a:bodyPr/>
                    <a:lstStyle/>
                    <a:p>
                      <a:pPr algn="l"/>
                      <a:r>
                        <a:rPr sz="1950" b="1">
                          <a:solidFill>
                            <a:srgbClr val="111111"/>
                          </a:solidFill>
                          <a:latin typeface="Times New Roman"/>
                          <a:ea typeface="Times New Roman"/>
                          <a:cs typeface="Times New Roman"/>
                        </a:rPr>
                        <a:t>Model on validation</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950" b="1">
                          <a:solidFill>
                            <a:srgbClr val="111111"/>
                          </a:solidFill>
                          <a:latin typeface="Times New Roman"/>
                          <a:ea typeface="Times New Roman"/>
                          <a:cs typeface="Times New Roman"/>
                        </a:rPr>
                        <a:t>Mean ROC-AUC</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950" b="1">
                          <a:solidFill>
                            <a:srgbClr val="111111"/>
                          </a:solidFill>
                          <a:latin typeface="Times New Roman"/>
                          <a:ea typeface="Times New Roman"/>
                          <a:cs typeface="Times New Roman"/>
                        </a:rPr>
                        <a:t>Accuracy at 0.50</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r>
              <a:tr h="508000">
                <a:tc>
                  <a:txBody>
                    <a:bodyPr/>
                    <a:lstStyle/>
                    <a:p>
                      <a:pPr algn="l"/>
                      <a:r>
                        <a:rPr sz="1950" b="0">
                          <a:solidFill>
                            <a:srgbClr val="111111"/>
                          </a:solidFill>
                          <a:latin typeface="Times New Roman"/>
                          <a:ea typeface="Times New Roman"/>
                          <a:cs typeface="Times New Roman"/>
                        </a:rPr>
                        <a:t>Logistic Regression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950" b="0">
                          <a:solidFill>
                            <a:srgbClr val="111111"/>
                          </a:solidFill>
                          <a:latin typeface="Times New Roman"/>
                          <a:ea typeface="Times New Roman"/>
                          <a:cs typeface="Times New Roman"/>
                        </a:rPr>
                        <a:t>0.70520</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pPr algn="ctr"/>
                      <a:r>
                        <a:rPr sz="1950" b="0">
                          <a:solidFill>
                            <a:srgbClr val="111111"/>
                          </a:solidFill>
                          <a:latin typeface="Times New Roman"/>
                          <a:ea typeface="Times New Roman"/>
                          <a:cs typeface="Times New Roman"/>
                        </a:rPr>
                        <a:t>69.25%</a:t>
                      </a:r>
                    </a:p>
                  </a:txBody>
                  <a:tcPr marL="91440" marR="91440" marT="45720" marB="45720">
                    <a:lnR w="9525">
                      <a:solidFill>
                        <a:srgbClr val="D9D9D9"/>
                      </a:solidFill>
                      <a:prstDash val="solid"/>
                    </a:lnR>
                    <a:lnB w="9525">
                      <a:solidFill>
                        <a:srgbClr val="D9D9D9"/>
                      </a:solidFill>
                      <a:prstDash val="solid"/>
                    </a:lnB>
                    <a:solidFill>
                      <a:srgbClr val="FFFFFF"/>
                    </a:solidFill>
                  </a:tcPr>
                </a:tc>
              </a:tr>
              <a:tr h="508000">
                <a:tc>
                  <a:txBody>
                    <a:bodyPr/>
                    <a:lstStyle/>
                    <a:p>
                      <a:pPr algn="l"/>
                      <a:r>
                        <a:rPr sz="1950" b="0">
                          <a:solidFill>
                            <a:srgbClr val="111111"/>
                          </a:solidFill>
                          <a:latin typeface="Times New Roman"/>
                          <a:ea typeface="Times New Roman"/>
                          <a:cs typeface="Times New Roman"/>
                        </a:rPr>
                        <a:t>Random Forest selected</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950" b="0">
                          <a:solidFill>
                            <a:srgbClr val="111111"/>
                          </a:solidFill>
                          <a:latin typeface="Times New Roman"/>
                          <a:ea typeface="Times New Roman"/>
                          <a:cs typeface="Times New Roman"/>
                        </a:rPr>
                        <a:t>0.73993</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pPr algn="ctr"/>
                      <a:r>
                        <a:rPr sz="1950" b="0">
                          <a:solidFill>
                            <a:srgbClr val="111111"/>
                          </a:solidFill>
                          <a:latin typeface="Times New Roman"/>
                          <a:ea typeface="Times New Roman"/>
                          <a:cs typeface="Times New Roman"/>
                        </a:rPr>
                        <a:t>68.96%</a:t>
                      </a:r>
                    </a:p>
                  </a:txBody>
                  <a:tcPr marL="91440" marR="91440" marT="45720" marB="45720">
                    <a:lnR w="9525">
                      <a:solidFill>
                        <a:srgbClr val="D9D9D9"/>
                      </a:solidFill>
                      <a:prstDash val="solid"/>
                    </a:lnR>
                    <a:lnB w="9525">
                      <a:solidFill>
                        <a:srgbClr val="D9D9D9"/>
                      </a:solidFill>
                      <a:prstDash val="solid"/>
                    </a:lnB>
                    <a:solidFill>
                      <a:srgbClr val="F5F7F9"/>
                    </a:solidFill>
                  </a:tcPr>
                </a:tc>
              </a:tr>
            </a:tbl>
          </a:graphicData>
        </a:graphic>
      </p:graphicFrame>
      <p:graphicFrame>
        <p:nvGraphicFramePr>
          <p:cNvPr id="5" name="">
            <a:extLst xmlns:a="http://schemas.openxmlformats.org/drawingml/2006/main">
              <a:ext uri="{FF2B5EF4-FFF2-40B4-BE49-F238E27FC236}">
                <a16:creationId xmlns:a16="http://schemas.microsoft.com/office/drawing/2014/main" id="{C4DEA77B-C5DB-4C35-8E2F-718B3BF9273F}"/>
              </a:ext>
            </a:extLst>
          </p:cNvPr>
          <p:cNvGraphicFramePr/>
          <p:nvPr/>
        </p:nvGraphicFramePr>
        <p:xfrm>
          <a:off xmlns:a="http://schemas.openxmlformats.org/drawingml/2006/main" x="571500" y="3381375"/>
          <a:ext xmlns:a="http://schemas.openxmlformats.org/drawingml/2006/main" cx="5334000" cy="1857375"/>
        </p:xfrm>
        <a:graphic xmlns:a="http://schemas.openxmlformats.org/drawingml/2006/main">
          <a:graphicData uri="http://schemas.openxmlformats.org/drawingml/2006/table">
            <a:tbl>
              <a:tblPr/>
              <a:tblGrid>
                <a:gridCol w="2667000"/>
                <a:gridCol w="1333500"/>
                <a:gridCol w="1333500"/>
              </a:tblGrid>
              <a:tr h="619125">
                <a:tc>
                  <a:txBody>
                    <a:bodyPr/>
                    <a:lstStyle/>
                    <a:p>
                      <a:pPr algn="l"/>
                      <a:r>
                        <a:rPr sz="2025" b="1">
                          <a:solidFill>
                            <a:srgbClr val="111111"/>
                          </a:solidFill>
                          <a:latin typeface="Times New Roman"/>
                          <a:ea typeface="Times New Roman"/>
                          <a:cs typeface="Times New Roman"/>
                        </a:rPr>
                        <a:t>Actual / predicted</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2025" b="1">
                          <a:solidFill>
                            <a:srgbClr val="111111"/>
                          </a:solidFill>
                          <a:latin typeface="Times New Roman"/>
                          <a:ea typeface="Times New Roman"/>
                          <a:cs typeface="Times New Roman"/>
                        </a:rPr>
                        <a:t>On time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2025" b="1">
                          <a:solidFill>
                            <a:srgbClr val="111111"/>
                          </a:solidFill>
                          <a:latin typeface="Times New Roman"/>
                          <a:ea typeface="Times New Roman"/>
                          <a:cs typeface="Times New Roman"/>
                        </a:rPr>
                        <a:t>Delayed</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r>
              <a:tr h="619125">
                <a:tc>
                  <a:txBody>
                    <a:bodyPr/>
                    <a:lstStyle/>
                    <a:p>
                      <a:pPr algn="l"/>
                      <a:r>
                        <a:rPr sz="2025" b="0">
                          <a:solidFill>
                            <a:srgbClr val="111111"/>
                          </a:solidFill>
                          <a:latin typeface="Times New Roman"/>
                          <a:ea typeface="Times New Roman"/>
                          <a:cs typeface="Times New Roman"/>
                        </a:rPr>
                        <a:t>On time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2025" b="0">
                          <a:solidFill>
                            <a:srgbClr val="111111"/>
                          </a:solidFill>
                          <a:latin typeface="Times New Roman"/>
                          <a:ea typeface="Times New Roman"/>
                          <a:cs typeface="Times New Roman"/>
                        </a:rPr>
                        <a:t>4,294</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pPr algn="ctr"/>
                      <a:r>
                        <a:rPr sz="2025" b="0">
                          <a:solidFill>
                            <a:srgbClr val="111111"/>
                          </a:solidFill>
                          <a:latin typeface="Times New Roman"/>
                          <a:ea typeface="Times New Roman"/>
                          <a:cs typeface="Times New Roman"/>
                        </a:rPr>
                        <a:t>1,073</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pPr algn="l"/>
                      <a:r>
                        <a:rPr sz="2025" b="0">
                          <a:solidFill>
                            <a:srgbClr val="111111"/>
                          </a:solidFill>
                          <a:latin typeface="Times New Roman"/>
                          <a:ea typeface="Times New Roman"/>
                          <a:cs typeface="Times New Roman"/>
                        </a:rPr>
                        <a:t>Delayed</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2025" b="0">
                          <a:solidFill>
                            <a:srgbClr val="111111"/>
                          </a:solidFill>
                          <a:latin typeface="Times New Roman"/>
                          <a:ea typeface="Times New Roman"/>
                          <a:cs typeface="Times New Roman"/>
                        </a:rPr>
                        <a:t>2,784</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pPr algn="ctr"/>
                      <a:r>
                        <a:rPr sz="2025" b="0">
                          <a:solidFill>
                            <a:srgbClr val="111111"/>
                          </a:solidFill>
                          <a:latin typeface="Times New Roman"/>
                          <a:ea typeface="Times New Roman"/>
                          <a:cs typeface="Times New Roman"/>
                        </a:rPr>
                        <a:t>4,480</a:t>
                      </a:r>
                    </a:p>
                  </a:txBody>
                  <a:tcPr marL="91440" marR="91440" marT="45720" marB="45720">
                    <a:lnR w="9525">
                      <a:solidFill>
                        <a:srgbClr val="D9D9D9"/>
                      </a:solidFill>
                      <a:prstDash val="solid"/>
                    </a:lnR>
                    <a:lnB w="9525">
                      <a:solidFill>
                        <a:srgbClr val="D9D9D9"/>
                      </a:solidFill>
                      <a:prstDash val="solid"/>
                    </a:lnB>
                    <a:solidFill>
                      <a:srgbClr val="F5F7F9"/>
                    </a:solidFill>
                  </a:tcPr>
                </a:tc>
              </a:tr>
            </a:tbl>
          </a:graphicData>
        </a:graphic>
      </p:graphicFrame>
      <p:sp>
        <p:nvSpPr>
          <p:cNvPr id="6" name="Final chronological test  n = 12,631">
            <a:extLst xmlns:a="http://schemas.openxmlformats.org/drawingml/2006/main">
              <a:ext uri="{FF2B5EF4-FFF2-40B4-BE49-F238E27FC236}">
                <a16:creationId xmlns:a16="http://schemas.microsoft.com/office/drawing/2014/main" id="{6793DB76-AC5B-47D4-99AB-94488867EA14}"/>
              </a:ext>
            </a:extLst>
          </p:cNvPr>
          <p:cNvSpPr>
            <a:spLocks xmlns:a="http://schemas.openxmlformats.org/drawingml/2006/main" noGrp="1"/>
          </p:cNvSpPr>
          <p:nvPr/>
        </p:nvSpPr>
        <p:spPr>
          <a:xfrm xmlns:a="http://schemas.openxmlformats.org/drawingml/2006/main">
            <a:off x="6477000" y="3238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11111"/>
                </a:solidFill>
                <a:latin typeface="Times New Roman"/>
                <a:ea typeface="Times New Roman"/>
                <a:cs typeface="Times New Roman"/>
              </a:defRPr>
            </a:defPPr>
            <a:lvl1pPr algn="l">
              <a:defRPr sz="2175" b="1">
                <a:solidFill>
                  <a:srgbClr val="111111"/>
                </a:solidFill>
                <a:latin typeface="Times New Roman"/>
                <a:ea typeface="Times New Roman"/>
                <a:cs typeface="Times New Roman"/>
              </a:defRPr>
            </a:lvl1pPr>
            <a:lvl2pPr algn="l">
              <a:defRPr sz="2175" b="1">
                <a:solidFill>
                  <a:srgbClr val="111111"/>
                </a:solidFill>
                <a:latin typeface="Times New Roman"/>
                <a:ea typeface="Times New Roman"/>
                <a:cs typeface="Times New Roman"/>
              </a:defRPr>
            </a:lvl2pPr>
            <a:lvl3pPr algn="l">
              <a:defRPr sz="2175" b="1">
                <a:solidFill>
                  <a:srgbClr val="111111"/>
                </a:solidFill>
                <a:latin typeface="Times New Roman"/>
                <a:ea typeface="Times New Roman"/>
                <a:cs typeface="Times New Roman"/>
              </a:defRPr>
            </a:lvl3pPr>
            <a:lvl4pPr algn="l">
              <a:defRPr sz="2175" b="1">
                <a:solidFill>
                  <a:srgbClr val="111111"/>
                </a:solidFill>
                <a:latin typeface="Times New Roman"/>
                <a:ea typeface="Times New Roman"/>
                <a:cs typeface="Times New Roman"/>
              </a:defRPr>
            </a:lvl4pPr>
            <a:lvl5pPr algn="l">
              <a:defRPr sz="2175" b="1">
                <a:solidFill>
                  <a:srgbClr val="111111"/>
                </a:solidFill>
                <a:latin typeface="Times New Roman"/>
                <a:ea typeface="Times New Roman"/>
                <a:cs typeface="Times New Roman"/>
              </a:defRPr>
            </a:lvl5pPr>
            <a:lvl6pPr algn="l">
              <a:defRPr sz="2175" b="1">
                <a:solidFill>
                  <a:srgbClr val="111111"/>
                </a:solidFill>
                <a:latin typeface="Times New Roman"/>
                <a:ea typeface="Times New Roman"/>
                <a:cs typeface="Times New Roman"/>
              </a:defRPr>
            </a:lvl6pPr>
            <a:lvl7pPr algn="l">
              <a:defRPr sz="2175" b="1">
                <a:solidFill>
                  <a:srgbClr val="111111"/>
                </a:solidFill>
                <a:latin typeface="Times New Roman"/>
                <a:ea typeface="Times New Roman"/>
                <a:cs typeface="Times New Roman"/>
              </a:defRPr>
            </a:lvl7pPr>
            <a:lvl8pPr algn="l">
              <a:defRPr sz="2175" b="1">
                <a:solidFill>
                  <a:srgbClr val="111111"/>
                </a:solidFill>
                <a:latin typeface="Times New Roman"/>
                <a:ea typeface="Times New Roman"/>
                <a:cs typeface="Times New Roman"/>
              </a:defRPr>
            </a:lvl8pPr>
            <a:lvl9pPr algn="l">
              <a:defRPr sz="2175" b="1">
                <a:solidFill>
                  <a:srgbClr val="111111"/>
                </a:solidFill>
                <a:latin typeface="Times New Roman"/>
                <a:ea typeface="Times New Roman"/>
                <a:cs typeface="Times New Roman"/>
              </a:defRPr>
            </a:lvl9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Final chronological test  n = 12,631</a:t>
            </a:r>
          </a:p>
        </p:txBody>
      </p:sp>
      <p:sp>
        <p:nvSpPr>
          <p:cNvPr id="7" name="ROC-AUC     0.74816&#10;Accuracy     69.46%&#10;Precision     80.68%">
            <a:extLst xmlns:a="http://schemas.openxmlformats.org/drawingml/2006/main">
              <a:ext uri="{FF2B5EF4-FFF2-40B4-BE49-F238E27FC236}">
                <a16:creationId xmlns:a16="http://schemas.microsoft.com/office/drawing/2014/main" id="{E66DCD33-222D-4260-B6CC-99CF91C4A74C}"/>
              </a:ext>
            </a:extLst>
          </p:cNvPr>
          <p:cNvSpPr>
            <a:spLocks xmlns:a="http://schemas.openxmlformats.org/drawingml/2006/main" noGrp="1"/>
          </p:cNvSpPr>
          <p:nvPr/>
        </p:nvSpPr>
        <p:spPr>
          <a:xfrm xmlns:a="http://schemas.openxmlformats.org/drawingml/2006/main">
            <a:off x="6477000" y="3762375"/>
            <a:ext cx="4572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11111"/>
                </a:solidFill>
                <a:latin typeface="Times New Roman"/>
                <a:ea typeface="Times New Roman"/>
                <a:cs typeface="Times New Roman"/>
              </a:defRPr>
            </a:defPPr>
            <a:lvl1pPr algn="l">
              <a:defRPr sz="2100" b="0">
                <a:solidFill>
                  <a:srgbClr val="111111"/>
                </a:solidFill>
                <a:latin typeface="Times New Roman"/>
                <a:ea typeface="Times New Roman"/>
                <a:cs typeface="Times New Roman"/>
              </a:defRPr>
            </a:lvl1pPr>
            <a:lvl2pPr algn="l">
              <a:defRPr sz="2100" b="0">
                <a:solidFill>
                  <a:srgbClr val="111111"/>
                </a:solidFill>
                <a:latin typeface="Times New Roman"/>
                <a:ea typeface="Times New Roman"/>
                <a:cs typeface="Times New Roman"/>
              </a:defRPr>
            </a:lvl2pPr>
            <a:lvl3pPr algn="l">
              <a:defRPr sz="2100" b="0">
                <a:solidFill>
                  <a:srgbClr val="111111"/>
                </a:solidFill>
                <a:latin typeface="Times New Roman"/>
                <a:ea typeface="Times New Roman"/>
                <a:cs typeface="Times New Roman"/>
              </a:defRPr>
            </a:lvl3pPr>
            <a:lvl4pPr algn="l">
              <a:defRPr sz="2100" b="0">
                <a:solidFill>
                  <a:srgbClr val="111111"/>
                </a:solidFill>
                <a:latin typeface="Times New Roman"/>
                <a:ea typeface="Times New Roman"/>
                <a:cs typeface="Times New Roman"/>
              </a:defRPr>
            </a:lvl4pPr>
            <a:lvl5pPr algn="l">
              <a:defRPr sz="2100" b="0">
                <a:solidFill>
                  <a:srgbClr val="111111"/>
                </a:solidFill>
                <a:latin typeface="Times New Roman"/>
                <a:ea typeface="Times New Roman"/>
                <a:cs typeface="Times New Roman"/>
              </a:defRPr>
            </a:lvl5pPr>
            <a:lvl6pPr algn="l">
              <a:defRPr sz="2100" b="0">
                <a:solidFill>
                  <a:srgbClr val="111111"/>
                </a:solidFill>
                <a:latin typeface="Times New Roman"/>
                <a:ea typeface="Times New Roman"/>
                <a:cs typeface="Times New Roman"/>
              </a:defRPr>
            </a:lvl6pPr>
            <a:lvl7pPr algn="l">
              <a:defRPr sz="2100" b="0">
                <a:solidFill>
                  <a:srgbClr val="111111"/>
                </a:solidFill>
                <a:latin typeface="Times New Roman"/>
                <a:ea typeface="Times New Roman"/>
                <a:cs typeface="Times New Roman"/>
              </a:defRPr>
            </a:lvl7pPr>
            <a:lvl8pPr algn="l">
              <a:defRPr sz="2100" b="0">
                <a:solidFill>
                  <a:srgbClr val="111111"/>
                </a:solidFill>
                <a:latin typeface="Times New Roman"/>
                <a:ea typeface="Times New Roman"/>
                <a:cs typeface="Times New Roman"/>
              </a:defRPr>
            </a:lvl8pPr>
            <a:lvl9pPr algn="l">
              <a:defRPr sz="2100" b="0">
                <a:solidFill>
                  <a:srgbClr val="111111"/>
                </a:solidFill>
                <a:latin typeface="Times New Roman"/>
                <a:ea typeface="Times New Roman"/>
                <a:cs typeface="Times New Roman"/>
              </a:defRPr>
            </a:lvl9pPr>
          </a:lstStyle>
          <a:p xmlns:a="http://schemas.openxmlformats.org/drawingml/2006/main">
            <a:pPr algn="l">
              <a:defRPr sz="2100" b="0">
                <a:solidFill>
                  <a:srgbClr val="111111"/>
                </a:solidFill>
                <a:latin typeface="Times New Roman"/>
                <a:ea typeface="Times New Roman"/>
                <a:cs typeface="Times New Roman"/>
              </a:defRPr>
            </a:pPr>
            <a:r>
              <a:rPr sz="2100" b="0">
                <a:solidFill>
                  <a:srgbClr val="111111"/>
                </a:solidFill>
                <a:latin typeface="Times New Roman"/>
                <a:ea typeface="Times New Roman"/>
                <a:cs typeface="Times New Roman"/>
              </a:rPr>
              <a:t>ROC-AUC     0.74816</a:t>
            </a:r>
          </a:p>
          <a:p xmlns:a="http://schemas.openxmlformats.org/drawingml/2006/main">
            <a:pPr algn="l">
              <a:defRPr sz="2100" b="0">
                <a:solidFill>
                  <a:srgbClr val="111111"/>
                </a:solidFill>
                <a:latin typeface="Times New Roman"/>
                <a:ea typeface="Times New Roman"/>
                <a:cs typeface="Times New Roman"/>
              </a:defRPr>
            </a:pPr>
            <a:r>
              <a:rPr sz="2100" b="0">
                <a:solidFill>
                  <a:srgbClr val="111111"/>
                </a:solidFill>
                <a:latin typeface="Times New Roman"/>
                <a:ea typeface="Times New Roman"/>
                <a:cs typeface="Times New Roman"/>
              </a:rPr>
              <a:t>Accuracy     69.46%</a:t>
            </a:r>
          </a:p>
          <a:p xmlns:a="http://schemas.openxmlformats.org/drawingml/2006/main">
            <a:pPr algn="l">
              <a:defRPr sz="2100" b="0">
                <a:solidFill>
                  <a:srgbClr val="111111"/>
                </a:solidFill>
                <a:latin typeface="Times New Roman"/>
                <a:ea typeface="Times New Roman"/>
                <a:cs typeface="Times New Roman"/>
              </a:defRPr>
            </a:pPr>
            <a:r>
              <a:rPr sz="2100" b="0">
                <a:solidFill>
                  <a:srgbClr val="111111"/>
                </a:solidFill>
                <a:latin typeface="Times New Roman"/>
                <a:ea typeface="Times New Roman"/>
                <a:cs typeface="Times New Roman"/>
              </a:rPr>
              <a:t>Precision     80.68%</a:t>
            </a:r>
          </a:p>
          <a:p xmlns:a="http://schemas.openxmlformats.org/drawingml/2006/main">
            <a:pPr algn="l">
              <a:defRPr sz="2100" b="0">
                <a:solidFill>
                  <a:srgbClr val="111111"/>
                </a:solidFill>
                <a:latin typeface="Times New Roman"/>
                <a:ea typeface="Times New Roman"/>
                <a:cs typeface="Times New Roman"/>
              </a:defRPr>
            </a:pPr>
            <a:r>
              <a:rPr sz="2100" b="0">
                <a:solidFill>
                  <a:srgbClr val="111111"/>
                </a:solidFill>
                <a:latin typeface="Times New Roman"/>
                <a:ea typeface="Times New Roman"/>
                <a:cs typeface="Times New Roman"/>
              </a:rPr>
              <a:t>Recall          61.67%</a:t>
            </a:r>
          </a:p>
          <a:p xmlns:a="http://schemas.openxmlformats.org/drawingml/2006/main">
            <a:pPr algn="l">
              <a:defRPr sz="2100" b="0">
                <a:solidFill>
                  <a:srgbClr val="111111"/>
                </a:solidFill>
                <a:latin typeface="Times New Roman"/>
                <a:ea typeface="Times New Roman"/>
                <a:cs typeface="Times New Roman"/>
              </a:defRPr>
            </a:pPr>
            <a:r>
              <a:rPr sz="2100" b="0">
                <a:solidFill>
                  <a:srgbClr val="111111"/>
                </a:solidFill>
                <a:latin typeface="Times New Roman"/>
                <a:ea typeface="Times New Roman"/>
                <a:cs typeface="Times New Roman"/>
              </a:rPr>
              <a:t>F1                69.91%</a:t>
            </a:r>
          </a:p>
        </p:txBody>
      </p:sp>
      <p:sp>
        <p:nvSpPr>
          <p:cNvPr id="8" name="Test majority-class accuracy: 57.51%. Missed delays remain a">
            <a:extLst xmlns:a="http://schemas.openxmlformats.org/drawingml/2006/main">
              <a:ext uri="{FF2B5EF4-FFF2-40B4-BE49-F238E27FC236}">
                <a16:creationId xmlns:a16="http://schemas.microsoft.com/office/drawing/2014/main" id="{2F819FF7-910A-4155-86F7-65050380075B}"/>
              </a:ext>
            </a:extLst>
          </p:cNvPr>
          <p:cNvSpPr>
            <a:spLocks xmlns:a="http://schemas.openxmlformats.org/drawingml/2006/main" noGrp="1"/>
          </p:cNvSpPr>
          <p:nvPr/>
        </p:nvSpPr>
        <p:spPr>
          <a:xfrm xmlns:a="http://schemas.openxmlformats.org/drawingml/2006/main">
            <a:off x="571500" y="58197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94032"/>
                </a:solidFill>
                <a:latin typeface="Times New Roman"/>
                <a:ea typeface="Times New Roman"/>
                <a:cs typeface="Times New Roman"/>
              </a:defRPr>
            </a:defPPr>
            <a:lvl1pPr algn="l">
              <a:defRPr sz="1800" b="0">
                <a:solidFill>
                  <a:srgbClr val="A94032"/>
                </a:solidFill>
                <a:latin typeface="Times New Roman"/>
                <a:ea typeface="Times New Roman"/>
                <a:cs typeface="Times New Roman"/>
              </a:defRPr>
            </a:lvl1pPr>
            <a:lvl2pPr algn="l">
              <a:defRPr sz="1800" b="0">
                <a:solidFill>
                  <a:srgbClr val="A94032"/>
                </a:solidFill>
                <a:latin typeface="Times New Roman"/>
                <a:ea typeface="Times New Roman"/>
                <a:cs typeface="Times New Roman"/>
              </a:defRPr>
            </a:lvl2pPr>
            <a:lvl3pPr algn="l">
              <a:defRPr sz="1800" b="0">
                <a:solidFill>
                  <a:srgbClr val="A94032"/>
                </a:solidFill>
                <a:latin typeface="Times New Roman"/>
                <a:ea typeface="Times New Roman"/>
                <a:cs typeface="Times New Roman"/>
              </a:defRPr>
            </a:lvl3pPr>
            <a:lvl4pPr algn="l">
              <a:defRPr sz="1800" b="0">
                <a:solidFill>
                  <a:srgbClr val="A94032"/>
                </a:solidFill>
                <a:latin typeface="Times New Roman"/>
                <a:ea typeface="Times New Roman"/>
                <a:cs typeface="Times New Roman"/>
              </a:defRPr>
            </a:lvl4pPr>
            <a:lvl5pPr algn="l">
              <a:defRPr sz="1800" b="0">
                <a:solidFill>
                  <a:srgbClr val="A94032"/>
                </a:solidFill>
                <a:latin typeface="Times New Roman"/>
                <a:ea typeface="Times New Roman"/>
                <a:cs typeface="Times New Roman"/>
              </a:defRPr>
            </a:lvl5pPr>
            <a:lvl6pPr algn="l">
              <a:defRPr sz="1800" b="0">
                <a:solidFill>
                  <a:srgbClr val="A94032"/>
                </a:solidFill>
                <a:latin typeface="Times New Roman"/>
                <a:ea typeface="Times New Roman"/>
                <a:cs typeface="Times New Roman"/>
              </a:defRPr>
            </a:lvl6pPr>
            <a:lvl7pPr algn="l">
              <a:defRPr sz="1800" b="0">
                <a:solidFill>
                  <a:srgbClr val="A94032"/>
                </a:solidFill>
                <a:latin typeface="Times New Roman"/>
                <a:ea typeface="Times New Roman"/>
                <a:cs typeface="Times New Roman"/>
              </a:defRPr>
            </a:lvl7pPr>
            <a:lvl8pPr algn="l">
              <a:defRPr sz="1800" b="0">
                <a:solidFill>
                  <a:srgbClr val="A94032"/>
                </a:solidFill>
                <a:latin typeface="Times New Roman"/>
                <a:ea typeface="Times New Roman"/>
                <a:cs typeface="Times New Roman"/>
              </a:defRPr>
            </a:lvl8pPr>
            <a:lvl9pPr algn="l">
              <a:defRPr sz="1800" b="0">
                <a:solidFill>
                  <a:srgbClr val="A94032"/>
                </a:solidFill>
                <a:latin typeface="Times New Roman"/>
                <a:ea typeface="Times New Roman"/>
                <a:cs typeface="Times New Roman"/>
              </a:defRPr>
            </a:lvl9pPr>
          </a:lstStyle>
          <a:p xmlns:a="http://schemas.openxmlformats.org/drawingml/2006/main">
            <a:pPr algn="l">
              <a:defRPr sz="1800" b="0">
                <a:solidFill>
                  <a:srgbClr val="A94032"/>
                </a:solidFill>
                <a:latin typeface="Times New Roman"/>
                <a:ea typeface="Times New Roman"/>
                <a:cs typeface="Times New Roman"/>
              </a:defRPr>
            </a:pPr>
            <a:r>
              <a:rPr sz="1800" b="0">
                <a:solidFill>
                  <a:srgbClr val="A94032"/>
                </a:solidFill>
                <a:latin typeface="Times New Roman"/>
                <a:ea typeface="Times New Roman"/>
                <a:cs typeface="Times New Roman"/>
              </a:rPr>
              <a:t>Test majority-class accuracy: 57.51%. Missed delays remain a material limitation.</a:t>
            </a:r>
          </a:p>
        </p:txBody>
      </p:sp>
    </p:spTree>
    <p:extLst>
      <p:ext uri="{BB962C8B-B14F-4D97-AF65-F5344CB8AC3E}">
        <p14:creationId xmlns:p14="http://schemas.microsoft.com/office/powerpoint/2010/main" val="6755685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lay heatmap by region and shipping mode">
            <a:extLst xmlns:a="http://schemas.openxmlformats.org/drawingml/2006/main">
              <a:ext uri="{FF2B5EF4-FFF2-40B4-BE49-F238E27FC236}">
                <a16:creationId xmlns:a16="http://schemas.microsoft.com/office/drawing/2014/main" id="{E1814A7B-ADBA-4DF7-A1D4-6F40CCD305D9}"/>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Delay heatmap by region and shipping mode</a:t>
            </a:r>
          </a:p>
        </p:txBody>
      </p:sp>
      <p:sp>
        <p:nvSpPr>
          <p:cNvPr id="2" name="BCSE402L  Big Data Analytics  |  DA3  |  20 October 2026">
            <a:extLst xmlns:a="http://schemas.openxmlformats.org/drawingml/2006/main">
              <a:ext uri="{FF2B5EF4-FFF2-40B4-BE49-F238E27FC236}">
                <a16:creationId xmlns:a16="http://schemas.microsoft.com/office/drawing/2014/main" id="{93305EF1-8C21-4825-916B-B415F140A145}"/>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7">
            <a:extLst xmlns:a="http://schemas.openxmlformats.org/drawingml/2006/main">
              <a:ext uri="{FF2B5EF4-FFF2-40B4-BE49-F238E27FC236}">
                <a16:creationId xmlns:a16="http://schemas.microsoft.com/office/drawing/2014/main" id="{70BE9669-4E46-453E-80C4-C77E35C4845B}"/>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07</a:t>
            </a:r>
          </a:p>
        </p:txBody>
      </p:sp>
      <p:graphicFrame>
        <p:nvGraphicFramePr>
          <p:cNvPr id="4" name="">
            <a:extLst xmlns:a="http://schemas.openxmlformats.org/drawingml/2006/main">
              <a:ext uri="{FF2B5EF4-FFF2-40B4-BE49-F238E27FC236}">
                <a16:creationId xmlns:a16="http://schemas.microsoft.com/office/drawing/2014/main" id="{05FC5692-72C3-4DDA-9A7D-EE1A208C6E4E}"/>
              </a:ext>
            </a:extLst>
          </p:cNvPr>
          <p:cNvGraphicFramePr/>
          <p:nvPr/>
        </p:nvGraphicFramePr>
        <p:xfrm>
          <a:off xmlns:a="http://schemas.openxmlformats.org/drawingml/2006/main" x="571500" y="1381125"/>
          <a:ext xmlns:a="http://schemas.openxmlformats.org/drawingml/2006/main" cx="10953750" cy="4095750"/>
        </p:xfrm>
        <a:graphic xmlns:a="http://schemas.openxmlformats.org/drawingml/2006/main">
          <a:graphicData uri="http://schemas.openxmlformats.org/drawingml/2006/table">
            <a:tbl>
              <a:tblPr/>
              <a:tblGrid>
                <a:gridCol w="2762250"/>
                <a:gridCol w="1638300"/>
                <a:gridCol w="1638300"/>
                <a:gridCol w="1638300"/>
                <a:gridCol w="1638300"/>
                <a:gridCol w="1638300"/>
              </a:tblGrid>
              <a:tr h="585107">
                <a:tc>
                  <a:txBody>
                    <a:bodyPr/>
                    <a:lstStyle/>
                    <a:p>
                      <a:pPr algn="l"/>
                      <a:r>
                        <a:rPr sz="1650" b="1">
                          <a:solidFill>
                            <a:srgbClr val="111111"/>
                          </a:solidFill>
                          <a:latin typeface="Times New Roman"/>
                          <a:ea typeface="Times New Roman"/>
                          <a:cs typeface="Times New Roman"/>
                        </a:rPr>
                        <a:t>Region</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650" b="1">
                          <a:solidFill>
                            <a:srgbClr val="111111"/>
                          </a:solidFill>
                          <a:latin typeface="Times New Roman"/>
                          <a:ea typeface="Times New Roman"/>
                          <a:cs typeface="Times New Roman"/>
                        </a:rPr>
                        <a:t>First Class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650" b="1">
                          <a:solidFill>
                            <a:srgbClr val="111111"/>
                          </a:solidFill>
                          <a:latin typeface="Times New Roman"/>
                          <a:ea typeface="Times New Roman"/>
                          <a:cs typeface="Times New Roman"/>
                        </a:rPr>
                        <a:t>Same Day</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650" b="1">
                          <a:solidFill>
                            <a:srgbClr val="111111"/>
                          </a:solidFill>
                          <a:latin typeface="Times New Roman"/>
                          <a:ea typeface="Times New Roman"/>
                          <a:cs typeface="Times New Roman"/>
                        </a:rPr>
                        <a:t>Second Class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650" b="1">
                          <a:solidFill>
                            <a:srgbClr val="111111"/>
                          </a:solidFill>
                          <a:latin typeface="Times New Roman"/>
                          <a:ea typeface="Times New Roman"/>
                          <a:cs typeface="Times New Roman"/>
                        </a:rPr>
                        <a:t>Standard Class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c>
                  <a:txBody>
                    <a:bodyPr/>
                    <a:lstStyle/>
                    <a:p>
                      <a:pPr algn="ctr"/>
                      <a:r>
                        <a:rPr sz="1650" b="1">
                          <a:solidFill>
                            <a:srgbClr val="111111"/>
                          </a:solidFill>
                          <a:latin typeface="Times New Roman"/>
                          <a:ea typeface="Times New Roman"/>
                          <a:cs typeface="Times New Roman"/>
                        </a:rPr>
                        <a:t>Unknown</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4EBF1"/>
                    </a:solidFill>
                  </a:tcPr>
                </a:tc>
              </a:tr>
              <a:tr h="585107">
                <a:tc>
                  <a:txBody>
                    <a:bodyPr/>
                    <a:lstStyle/>
                    <a:p>
                      <a:pPr algn="l"/>
                      <a:r>
                        <a:rPr sz="1650" b="0">
                          <a:solidFill>
                            <a:srgbClr val="111111"/>
                          </a:solidFill>
                          <a:latin typeface="Times New Roman"/>
                          <a:ea typeface="Times New Roman"/>
                          <a:cs typeface="Times New Roman"/>
                        </a:rPr>
                        <a:t>Western Europe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650" b="0">
                          <a:solidFill>
                            <a:srgbClr val="FFFFFF"/>
                          </a:solidFill>
                          <a:latin typeface="Times New Roman"/>
                          <a:ea typeface="Times New Roman"/>
                          <a:cs typeface="Times New Roman"/>
                        </a:rPr>
                        <a:t>100.00%</a:t>
                      </a:r>
                    </a:p>
                    <a:p>
                      <a:pPr algn="ctr"/>
                      <a:r>
                        <a:rPr sz="1650" b="0">
                          <a:solidFill>
                            <a:srgbClr val="FFFFFF"/>
                          </a:solidFill>
                          <a:latin typeface="Times New Roman"/>
                          <a:ea typeface="Times New Roman"/>
                          <a:cs typeface="Times New Roman"/>
                        </a:rPr>
                        <a:t>n = 1,513</a:t>
                      </a:r>
                    </a:p>
                  </a:txBody>
                  <a:tcPr marL="91440" marR="91440" marT="45720" marB="45720">
                    <a:lnR w="9525">
                      <a:solidFill>
                        <a:srgbClr val="D9D9D9"/>
                      </a:solidFill>
                      <a:prstDash val="solid"/>
                    </a:lnR>
                    <a:lnB w="9525">
                      <a:solidFill>
                        <a:srgbClr val="D9D9D9"/>
                      </a:solidFill>
                      <a:prstDash val="solid"/>
                    </a:lnB>
                    <a:solidFill>
                      <a:srgbClr val="962A1D"/>
                    </a:solidFill>
                  </a:tcPr>
                </a:tc>
                <a:tc>
                  <a:txBody>
                    <a:bodyPr/>
                    <a:lstStyle/>
                    <a:p>
                      <a:pPr algn="ctr"/>
                      <a:r>
                        <a:rPr sz="1650" b="0">
                          <a:solidFill>
                            <a:srgbClr val="111111"/>
                          </a:solidFill>
                          <a:latin typeface="Times New Roman"/>
                          <a:ea typeface="Times New Roman"/>
                          <a:cs typeface="Times New Roman"/>
                        </a:rPr>
                        <a:t>50.00%</a:t>
                      </a:r>
                    </a:p>
                    <a:p>
                      <a:pPr algn="ctr"/>
                      <a:r>
                        <a:rPr sz="1650" b="0">
                          <a:solidFill>
                            <a:srgbClr val="111111"/>
                          </a:solidFill>
                          <a:latin typeface="Times New Roman"/>
                          <a:ea typeface="Times New Roman"/>
                          <a:cs typeface="Times New Roman"/>
                        </a:rPr>
                        <a:t>n = 498</a:t>
                      </a:r>
                    </a:p>
                  </a:txBody>
                  <a:tcPr marL="91440" marR="91440" marT="45720" marB="45720">
                    <a:lnR w="9525">
                      <a:solidFill>
                        <a:srgbClr val="D9D9D9"/>
                      </a:solidFill>
                      <a:prstDash val="solid"/>
                    </a:lnR>
                    <a:lnB w="9525">
                      <a:solidFill>
                        <a:srgbClr val="D9D9D9"/>
                      </a:solidFill>
                      <a:prstDash val="solid"/>
                    </a:lnB>
                    <a:solidFill>
                      <a:srgbClr val="C99088"/>
                    </a:solidFill>
                  </a:tcPr>
                </a:tc>
                <a:tc>
                  <a:txBody>
                    <a:bodyPr/>
                    <a:lstStyle/>
                    <a:p>
                      <a:pPr algn="ctr"/>
                      <a:r>
                        <a:rPr sz="1650" b="0">
                          <a:solidFill>
                            <a:srgbClr val="FFFFFF"/>
                          </a:solidFill>
                          <a:latin typeface="Times New Roman"/>
                          <a:ea typeface="Times New Roman"/>
                          <a:cs typeface="Times New Roman"/>
                        </a:rPr>
                        <a:t>80.75%</a:t>
                      </a:r>
                    </a:p>
                    <a:p>
                      <a:pPr algn="ctr"/>
                      <a:r>
                        <a:rPr sz="1650" b="0">
                          <a:solidFill>
                            <a:srgbClr val="FFFFFF"/>
                          </a:solidFill>
                          <a:latin typeface="Times New Roman"/>
                          <a:ea typeface="Times New Roman"/>
                          <a:cs typeface="Times New Roman"/>
                        </a:rPr>
                        <a:t>n = 1,870</a:t>
                      </a:r>
                    </a:p>
                  </a:txBody>
                  <a:tcPr marL="91440" marR="91440" marT="45720" marB="45720">
                    <a:lnR w="9525">
                      <a:solidFill>
                        <a:srgbClr val="D9D9D9"/>
                      </a:solidFill>
                      <a:prstDash val="solid"/>
                    </a:lnR>
                    <a:lnB w="9525">
                      <a:solidFill>
                        <a:srgbClr val="D9D9D9"/>
                      </a:solidFill>
                      <a:prstDash val="solid"/>
                    </a:lnB>
                    <a:solidFill>
                      <a:srgbClr val="AA5146"/>
                    </a:solidFill>
                  </a:tcPr>
                </a:tc>
                <a:tc>
                  <a:txBody>
                    <a:bodyPr/>
                    <a:lstStyle/>
                    <a:p>
                      <a:pPr algn="ctr"/>
                      <a:r>
                        <a:rPr sz="1650" b="0">
                          <a:solidFill>
                            <a:srgbClr val="111111"/>
                          </a:solidFill>
                          <a:latin typeface="Times New Roman"/>
                          <a:ea typeface="Times New Roman"/>
                          <a:cs typeface="Times New Roman"/>
                        </a:rPr>
                        <a:t>40.64%</a:t>
                      </a:r>
                    </a:p>
                    <a:p>
                      <a:pPr algn="ctr"/>
                      <a:r>
                        <a:rPr sz="1650" b="0">
                          <a:solidFill>
                            <a:srgbClr val="111111"/>
                          </a:solidFill>
                          <a:latin typeface="Times New Roman"/>
                          <a:ea typeface="Times New Roman"/>
                          <a:cs typeface="Times New Roman"/>
                        </a:rPr>
                        <a:t>n = 5,665</a:t>
                      </a:r>
                    </a:p>
                  </a:txBody>
                  <a:tcPr marL="91440" marR="91440" marT="45720" marB="45720">
                    <a:lnR w="9525">
                      <a:solidFill>
                        <a:srgbClr val="D9D9D9"/>
                      </a:solidFill>
                      <a:prstDash val="solid"/>
                    </a:lnR>
                    <a:lnB w="9525">
                      <a:solidFill>
                        <a:srgbClr val="D9D9D9"/>
                      </a:solidFill>
                      <a:prstDash val="solid"/>
                    </a:lnB>
                    <a:solidFill>
                      <a:srgbClr val="D3A39B"/>
                    </a:solidFill>
                  </a:tcPr>
                </a:tc>
                <a:tc>
                  <a:txBody>
                    <a:bodyPr/>
                    <a:lstStyle/>
                    <a:p>
                      <a:pPr algn="ctr"/>
                      <a:r>
                        <a:rPr sz="1650" b="0">
                          <a:solidFill>
                            <a:srgbClr val="FFFFFF"/>
                          </a:solidFill>
                          <a:latin typeface="Times New Roman"/>
                          <a:ea typeface="Times New Roman"/>
                          <a:cs typeface="Times New Roman"/>
                        </a:rPr>
                        <a:t>66.67%</a:t>
                      </a:r>
                    </a:p>
                    <a:p>
                      <a:pPr algn="ctr"/>
                      <a:r>
                        <a:rPr sz="1650" b="0">
                          <a:solidFill>
                            <a:srgbClr val="FFFFFF"/>
                          </a:solidFill>
                          <a:latin typeface="Times New Roman"/>
                          <a:ea typeface="Times New Roman"/>
                          <a:cs typeface="Times New Roman"/>
                        </a:rPr>
                        <a:t>n = 6</a:t>
                      </a:r>
                    </a:p>
                  </a:txBody>
                  <a:tcPr marL="91440" marR="91440" marT="45720" marB="45720">
                    <a:lnR w="9525">
                      <a:solidFill>
                        <a:srgbClr val="D9D9D9"/>
                      </a:solidFill>
                      <a:prstDash val="solid"/>
                    </a:lnR>
                    <a:lnB w="9525">
                      <a:solidFill>
                        <a:srgbClr val="D9D9D9"/>
                      </a:solidFill>
                      <a:prstDash val="solid"/>
                    </a:lnB>
                    <a:solidFill>
                      <a:srgbClr val="B86E64"/>
                    </a:solidFill>
                  </a:tcPr>
                </a:tc>
              </a:tr>
              <a:tr h="585107">
                <a:tc>
                  <a:txBody>
                    <a:bodyPr/>
                    <a:lstStyle/>
                    <a:p>
                      <a:pPr algn="l"/>
                      <a:r>
                        <a:rPr sz="1650" b="0">
                          <a:solidFill>
                            <a:srgbClr val="111111"/>
                          </a:solidFill>
                          <a:latin typeface="Times New Roman"/>
                          <a:ea typeface="Times New Roman"/>
                          <a:cs typeface="Times New Roman"/>
                        </a:rPr>
                        <a:t>Central America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650" b="0">
                          <a:solidFill>
                            <a:srgbClr val="FFFFFF"/>
                          </a:solidFill>
                          <a:latin typeface="Times New Roman"/>
                          <a:ea typeface="Times New Roman"/>
                          <a:cs typeface="Times New Roman"/>
                        </a:rPr>
                        <a:t>100.00%</a:t>
                      </a:r>
                    </a:p>
                    <a:p>
                      <a:pPr algn="ctr"/>
                      <a:r>
                        <a:rPr sz="1650" b="0">
                          <a:solidFill>
                            <a:srgbClr val="FFFFFF"/>
                          </a:solidFill>
                          <a:latin typeface="Times New Roman"/>
                          <a:ea typeface="Times New Roman"/>
                          <a:cs typeface="Times New Roman"/>
                        </a:rPr>
                        <a:t>n = 1,382</a:t>
                      </a:r>
                    </a:p>
                  </a:txBody>
                  <a:tcPr marL="91440" marR="91440" marT="45720" marB="45720">
                    <a:lnR w="9525">
                      <a:solidFill>
                        <a:srgbClr val="D9D9D9"/>
                      </a:solidFill>
                      <a:prstDash val="solid"/>
                    </a:lnR>
                    <a:lnB w="9525">
                      <a:solidFill>
                        <a:srgbClr val="D9D9D9"/>
                      </a:solidFill>
                      <a:prstDash val="solid"/>
                    </a:lnB>
                    <a:solidFill>
                      <a:srgbClr val="962A1D"/>
                    </a:solidFill>
                  </a:tcPr>
                </a:tc>
                <a:tc>
                  <a:txBody>
                    <a:bodyPr/>
                    <a:lstStyle/>
                    <a:p>
                      <a:pPr algn="ctr"/>
                      <a:r>
                        <a:rPr sz="1650" b="0">
                          <a:solidFill>
                            <a:srgbClr val="111111"/>
                          </a:solidFill>
                          <a:latin typeface="Times New Roman"/>
                          <a:ea typeface="Times New Roman"/>
                          <a:cs typeface="Times New Roman"/>
                        </a:rPr>
                        <a:t>49.89%</a:t>
                      </a:r>
                    </a:p>
                    <a:p>
                      <a:pPr algn="ctr"/>
                      <a:r>
                        <a:rPr sz="1650" b="0">
                          <a:solidFill>
                            <a:srgbClr val="111111"/>
                          </a:solidFill>
                          <a:latin typeface="Times New Roman"/>
                          <a:ea typeface="Times New Roman"/>
                          <a:cs typeface="Times New Roman"/>
                        </a:rPr>
                        <a:t>n = 467</a:t>
                      </a:r>
                    </a:p>
                  </a:txBody>
                  <a:tcPr marL="91440" marR="91440" marT="45720" marB="45720">
                    <a:lnR w="9525">
                      <a:solidFill>
                        <a:srgbClr val="D9D9D9"/>
                      </a:solidFill>
                      <a:prstDash val="solid"/>
                    </a:lnR>
                    <a:lnB w="9525">
                      <a:solidFill>
                        <a:srgbClr val="D9D9D9"/>
                      </a:solidFill>
                      <a:prstDash val="solid"/>
                    </a:lnB>
                    <a:solidFill>
                      <a:srgbClr val="C99088"/>
                    </a:solidFill>
                  </a:tcPr>
                </a:tc>
                <a:tc>
                  <a:txBody>
                    <a:bodyPr/>
                    <a:lstStyle/>
                    <a:p>
                      <a:pPr algn="ctr"/>
                      <a:r>
                        <a:rPr sz="1650" b="0">
                          <a:solidFill>
                            <a:srgbClr val="FFFFFF"/>
                          </a:solidFill>
                          <a:latin typeface="Times New Roman"/>
                          <a:ea typeface="Times New Roman"/>
                          <a:cs typeface="Times New Roman"/>
                        </a:rPr>
                        <a:t>78.81%</a:t>
                      </a:r>
                    </a:p>
                    <a:p>
                      <a:pPr algn="ctr"/>
                      <a:r>
                        <a:rPr sz="1650" b="0">
                          <a:solidFill>
                            <a:srgbClr val="FFFFFF"/>
                          </a:solidFill>
                          <a:latin typeface="Times New Roman"/>
                          <a:ea typeface="Times New Roman"/>
                          <a:cs typeface="Times New Roman"/>
                        </a:rPr>
                        <a:t>n = 1,746</a:t>
                      </a:r>
                    </a:p>
                  </a:txBody>
                  <a:tcPr marL="91440" marR="91440" marT="45720" marB="45720">
                    <a:lnR w="9525">
                      <a:solidFill>
                        <a:srgbClr val="D9D9D9"/>
                      </a:solidFill>
                      <a:prstDash val="solid"/>
                    </a:lnR>
                    <a:lnB w="9525">
                      <a:solidFill>
                        <a:srgbClr val="D9D9D9"/>
                      </a:solidFill>
                      <a:prstDash val="solid"/>
                    </a:lnB>
                    <a:solidFill>
                      <a:srgbClr val="AC554A"/>
                    </a:solidFill>
                  </a:tcPr>
                </a:tc>
                <a:tc>
                  <a:txBody>
                    <a:bodyPr/>
                    <a:lstStyle/>
                    <a:p>
                      <a:pPr algn="ctr"/>
                      <a:r>
                        <a:rPr sz="1650" b="0">
                          <a:solidFill>
                            <a:srgbClr val="111111"/>
                          </a:solidFill>
                          <a:latin typeface="Times New Roman"/>
                          <a:ea typeface="Times New Roman"/>
                          <a:cs typeface="Times New Roman"/>
                        </a:rPr>
                        <a:t>40.02%</a:t>
                      </a:r>
                    </a:p>
                    <a:p>
                      <a:pPr algn="ctr"/>
                      <a:r>
                        <a:rPr sz="1650" b="0">
                          <a:solidFill>
                            <a:srgbClr val="111111"/>
                          </a:solidFill>
                          <a:latin typeface="Times New Roman"/>
                          <a:ea typeface="Times New Roman"/>
                          <a:cs typeface="Times New Roman"/>
                        </a:rPr>
                        <a:t>n = 5,397</a:t>
                      </a:r>
                    </a:p>
                  </a:txBody>
                  <a:tcPr marL="91440" marR="91440" marT="45720" marB="45720">
                    <a:lnR w="9525">
                      <a:solidFill>
                        <a:srgbClr val="D9D9D9"/>
                      </a:solidFill>
                      <a:prstDash val="solid"/>
                    </a:lnR>
                    <a:lnB w="9525">
                      <a:solidFill>
                        <a:srgbClr val="D9D9D9"/>
                      </a:solidFill>
                      <a:prstDash val="solid"/>
                    </a:lnB>
                    <a:solidFill>
                      <a:srgbClr val="D3A49D"/>
                    </a:solidFill>
                  </a:tcPr>
                </a:tc>
                <a:tc>
                  <a:txBody>
                    <a:bodyPr/>
                    <a:lstStyle/>
                    <a:p>
                      <a:pPr algn="ctr"/>
                      <a:r>
                        <a:rPr sz="1650" b="0">
                          <a:solidFill>
                            <a:srgbClr val="111111"/>
                          </a:solidFill>
                          <a:latin typeface="Times New Roman"/>
                          <a:ea typeface="Times New Roman"/>
                          <a:cs typeface="Times New Roman"/>
                        </a:rPr>
                        <a:t>0.00%</a:t>
                      </a:r>
                    </a:p>
                    <a:p>
                      <a:pPr algn="ctr"/>
                      <a:r>
                        <a:rPr sz="1650" b="0">
                          <a:solidFill>
                            <a:srgbClr val="111111"/>
                          </a:solidFill>
                          <a:latin typeface="Times New Roman"/>
                          <a:ea typeface="Times New Roman"/>
                          <a:cs typeface="Times New Roman"/>
                        </a:rPr>
                        <a:t>n = 1</a:t>
                      </a:r>
                    </a:p>
                  </a:txBody>
                  <a:tcPr marL="91440" marR="91440" marT="45720" marB="45720">
                    <a:lnR w="9525">
                      <a:solidFill>
                        <a:srgbClr val="D9D9D9"/>
                      </a:solidFill>
                      <a:prstDash val="solid"/>
                    </a:lnR>
                    <a:lnB w="9525">
                      <a:solidFill>
                        <a:srgbClr val="D9D9D9"/>
                      </a:solidFill>
                      <a:prstDash val="solid"/>
                    </a:lnB>
                    <a:solidFill>
                      <a:srgbClr val="FCF5F2"/>
                    </a:solidFill>
                  </a:tcPr>
                </a:tc>
              </a:tr>
              <a:tr h="585107">
                <a:tc>
                  <a:txBody>
                    <a:bodyPr/>
                    <a:lstStyle/>
                    <a:p>
                      <a:pPr algn="l"/>
                      <a:r>
                        <a:rPr sz="1650" b="0">
                          <a:solidFill>
                            <a:srgbClr val="111111"/>
                          </a:solidFill>
                          <a:latin typeface="Times New Roman"/>
                          <a:ea typeface="Times New Roman"/>
                          <a:cs typeface="Times New Roman"/>
                        </a:rPr>
                        <a:t>South America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650" b="0">
                          <a:solidFill>
                            <a:srgbClr val="FFFFFF"/>
                          </a:solidFill>
                          <a:latin typeface="Times New Roman"/>
                          <a:ea typeface="Times New Roman"/>
                          <a:cs typeface="Times New Roman"/>
                        </a:rPr>
                        <a:t>100.00%</a:t>
                      </a:r>
                    </a:p>
                    <a:p>
                      <a:pPr algn="ctr"/>
                      <a:r>
                        <a:rPr sz="1650" b="0">
                          <a:solidFill>
                            <a:srgbClr val="FFFFFF"/>
                          </a:solidFill>
                          <a:latin typeface="Times New Roman"/>
                          <a:ea typeface="Times New Roman"/>
                          <a:cs typeface="Times New Roman"/>
                        </a:rPr>
                        <a:t>n = 724</a:t>
                      </a:r>
                    </a:p>
                  </a:txBody>
                  <a:tcPr marL="91440" marR="91440" marT="45720" marB="45720">
                    <a:lnR w="9525">
                      <a:solidFill>
                        <a:srgbClr val="D9D9D9"/>
                      </a:solidFill>
                      <a:prstDash val="solid"/>
                    </a:lnR>
                    <a:lnB w="9525">
                      <a:solidFill>
                        <a:srgbClr val="D9D9D9"/>
                      </a:solidFill>
                      <a:prstDash val="solid"/>
                    </a:lnB>
                    <a:solidFill>
                      <a:srgbClr val="962A1D"/>
                    </a:solidFill>
                  </a:tcPr>
                </a:tc>
                <a:tc>
                  <a:txBody>
                    <a:bodyPr/>
                    <a:lstStyle/>
                    <a:p>
                      <a:pPr algn="ctr"/>
                      <a:r>
                        <a:rPr sz="1650" b="0">
                          <a:solidFill>
                            <a:srgbClr val="111111"/>
                          </a:solidFill>
                          <a:latin typeface="Times New Roman"/>
                          <a:ea typeface="Times New Roman"/>
                          <a:cs typeface="Times New Roman"/>
                        </a:rPr>
                        <a:t>50.99%</a:t>
                      </a:r>
                    </a:p>
                    <a:p>
                      <a:pPr algn="ctr"/>
                      <a:r>
                        <a:rPr sz="1650" b="0">
                          <a:solidFill>
                            <a:srgbClr val="111111"/>
                          </a:solidFill>
                          <a:latin typeface="Times New Roman"/>
                          <a:ea typeface="Times New Roman"/>
                          <a:cs typeface="Times New Roman"/>
                        </a:rPr>
                        <a:t>n = 253</a:t>
                      </a:r>
                    </a:p>
                  </a:txBody>
                  <a:tcPr marL="91440" marR="91440" marT="45720" marB="45720">
                    <a:lnR w="9525">
                      <a:solidFill>
                        <a:srgbClr val="D9D9D9"/>
                      </a:solidFill>
                      <a:prstDash val="solid"/>
                    </a:lnR>
                    <a:lnB w="9525">
                      <a:solidFill>
                        <a:srgbClr val="D9D9D9"/>
                      </a:solidFill>
                      <a:prstDash val="solid"/>
                    </a:lnB>
                    <a:solidFill>
                      <a:srgbClr val="C88D85"/>
                    </a:solidFill>
                  </a:tcPr>
                </a:tc>
                <a:tc>
                  <a:txBody>
                    <a:bodyPr/>
                    <a:lstStyle/>
                    <a:p>
                      <a:pPr algn="ctr"/>
                      <a:r>
                        <a:rPr sz="1650" b="0">
                          <a:solidFill>
                            <a:srgbClr val="FFFFFF"/>
                          </a:solidFill>
                          <a:latin typeface="Times New Roman"/>
                          <a:ea typeface="Times New Roman"/>
                          <a:cs typeface="Times New Roman"/>
                        </a:rPr>
                        <a:t>79.31%</a:t>
                      </a:r>
                    </a:p>
                    <a:p>
                      <a:pPr algn="ctr"/>
                      <a:r>
                        <a:rPr sz="1650" b="0">
                          <a:solidFill>
                            <a:srgbClr val="FFFFFF"/>
                          </a:solidFill>
                          <a:latin typeface="Times New Roman"/>
                          <a:ea typeface="Times New Roman"/>
                          <a:cs typeface="Times New Roman"/>
                        </a:rPr>
                        <a:t>n = 899</a:t>
                      </a:r>
                    </a:p>
                  </a:txBody>
                  <a:tcPr marL="91440" marR="91440" marT="45720" marB="45720">
                    <a:lnR w="9525">
                      <a:solidFill>
                        <a:srgbClr val="D9D9D9"/>
                      </a:solidFill>
                      <a:prstDash val="solid"/>
                    </a:lnR>
                    <a:lnB w="9525">
                      <a:solidFill>
                        <a:srgbClr val="D9D9D9"/>
                      </a:solidFill>
                      <a:prstDash val="solid"/>
                    </a:lnB>
                    <a:solidFill>
                      <a:srgbClr val="AB5449"/>
                    </a:solidFill>
                  </a:tcPr>
                </a:tc>
                <a:tc>
                  <a:txBody>
                    <a:bodyPr/>
                    <a:lstStyle/>
                    <a:p>
                      <a:pPr algn="ctr"/>
                      <a:r>
                        <a:rPr sz="1650" b="0">
                          <a:solidFill>
                            <a:srgbClr val="111111"/>
                          </a:solidFill>
                          <a:latin typeface="Times New Roman"/>
                          <a:ea typeface="Times New Roman"/>
                          <a:cs typeface="Times New Roman"/>
                        </a:rPr>
                        <a:t>39.51%</a:t>
                      </a:r>
                    </a:p>
                    <a:p>
                      <a:pPr algn="ctr"/>
                      <a:r>
                        <a:rPr sz="1650" b="0">
                          <a:solidFill>
                            <a:srgbClr val="111111"/>
                          </a:solidFill>
                          <a:latin typeface="Times New Roman"/>
                          <a:ea typeface="Times New Roman"/>
                          <a:cs typeface="Times New Roman"/>
                        </a:rPr>
                        <a:t>n = 2,860</a:t>
                      </a:r>
                    </a:p>
                  </a:txBody>
                  <a:tcPr marL="91440" marR="91440" marT="45720" marB="45720">
                    <a:lnR w="9525">
                      <a:solidFill>
                        <a:srgbClr val="D9D9D9"/>
                      </a:solidFill>
                      <a:prstDash val="solid"/>
                    </a:lnR>
                    <a:lnB w="9525">
                      <a:solidFill>
                        <a:srgbClr val="D9D9D9"/>
                      </a:solidFill>
                      <a:prstDash val="solid"/>
                    </a:lnB>
                    <a:solidFill>
                      <a:srgbClr val="D4A59E"/>
                    </a:solidFill>
                  </a:tcPr>
                </a:tc>
                <a:tc>
                  <a:txBody>
                    <a:bodyPr/>
                    <a:lstStyle/>
                    <a:p>
                      <a:pPr algn="ctr"/>
                      <a:r>
                        <a:rPr sz="1650" b="0">
                          <a:solidFill>
                            <a:srgbClr val="111111"/>
                          </a:solidFill>
                          <a:latin typeface="Times New Roman"/>
                          <a:ea typeface="Times New Roman"/>
                          <a:cs typeface="Times New Roman"/>
                        </a:rPr>
                        <a:t>—</a:t>
                      </a:r>
                    </a:p>
                  </a:txBody>
                  <a:tcPr marL="91440" marR="91440" marT="45720" marB="45720">
                    <a:lnR w="9525">
                      <a:solidFill>
                        <a:srgbClr val="D9D9D9"/>
                      </a:solidFill>
                      <a:prstDash val="solid"/>
                    </a:lnR>
                    <a:lnB w="9525">
                      <a:solidFill>
                        <a:srgbClr val="D9D9D9"/>
                      </a:solidFill>
                      <a:prstDash val="solid"/>
                    </a:lnB>
                    <a:solidFill>
                      <a:srgbClr val="FFFFFF"/>
                    </a:solidFill>
                  </a:tcPr>
                </a:tc>
              </a:tr>
              <a:tr h="585107">
                <a:tc>
                  <a:txBody>
                    <a:bodyPr/>
                    <a:lstStyle/>
                    <a:p>
                      <a:pPr algn="l"/>
                      <a:r>
                        <a:rPr sz="1650" b="0">
                          <a:solidFill>
                            <a:srgbClr val="111111"/>
                          </a:solidFill>
                          <a:latin typeface="Times New Roman"/>
                          <a:ea typeface="Times New Roman"/>
                          <a:cs typeface="Times New Roman"/>
                        </a:rPr>
                        <a:t>Oceania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650" b="0">
                          <a:solidFill>
                            <a:srgbClr val="FFFFFF"/>
                          </a:solidFill>
                          <a:latin typeface="Times New Roman"/>
                          <a:ea typeface="Times New Roman"/>
                          <a:cs typeface="Times New Roman"/>
                        </a:rPr>
                        <a:t>100.00%</a:t>
                      </a:r>
                    </a:p>
                    <a:p>
                      <a:pPr algn="ctr"/>
                      <a:r>
                        <a:rPr sz="1650" b="0">
                          <a:solidFill>
                            <a:srgbClr val="FFFFFF"/>
                          </a:solidFill>
                          <a:latin typeface="Times New Roman"/>
                          <a:ea typeface="Times New Roman"/>
                          <a:cs typeface="Times New Roman"/>
                        </a:rPr>
                        <a:t>n = 566</a:t>
                      </a:r>
                    </a:p>
                  </a:txBody>
                  <a:tcPr marL="91440" marR="91440" marT="45720" marB="45720">
                    <a:lnR w="9525">
                      <a:solidFill>
                        <a:srgbClr val="D9D9D9"/>
                      </a:solidFill>
                      <a:prstDash val="solid"/>
                    </a:lnR>
                    <a:lnB w="9525">
                      <a:solidFill>
                        <a:srgbClr val="D9D9D9"/>
                      </a:solidFill>
                      <a:prstDash val="solid"/>
                    </a:lnB>
                    <a:solidFill>
                      <a:srgbClr val="962A1D"/>
                    </a:solidFill>
                  </a:tcPr>
                </a:tc>
                <a:tc>
                  <a:txBody>
                    <a:bodyPr/>
                    <a:lstStyle/>
                    <a:p>
                      <a:pPr algn="ctr"/>
                      <a:r>
                        <a:rPr sz="1650" b="0">
                          <a:solidFill>
                            <a:srgbClr val="111111"/>
                          </a:solidFill>
                          <a:latin typeface="Times New Roman"/>
                          <a:ea typeface="Times New Roman"/>
                          <a:cs typeface="Times New Roman"/>
                        </a:rPr>
                        <a:t>47.53%</a:t>
                      </a:r>
                    </a:p>
                    <a:p>
                      <a:pPr algn="ctr"/>
                      <a:r>
                        <a:rPr sz="1650" b="0">
                          <a:solidFill>
                            <a:srgbClr val="111111"/>
                          </a:solidFill>
                          <a:latin typeface="Times New Roman"/>
                          <a:ea typeface="Times New Roman"/>
                          <a:cs typeface="Times New Roman"/>
                        </a:rPr>
                        <a:t>n = 263</a:t>
                      </a:r>
                    </a:p>
                  </a:txBody>
                  <a:tcPr marL="91440" marR="91440" marT="45720" marB="45720">
                    <a:lnR w="9525">
                      <a:solidFill>
                        <a:srgbClr val="D9D9D9"/>
                      </a:solidFill>
                      <a:prstDash val="solid"/>
                    </a:lnR>
                    <a:lnB w="9525">
                      <a:solidFill>
                        <a:srgbClr val="D9D9D9"/>
                      </a:solidFill>
                      <a:prstDash val="solid"/>
                    </a:lnB>
                    <a:solidFill>
                      <a:srgbClr val="CC958D"/>
                    </a:solidFill>
                  </a:tcPr>
                </a:tc>
                <a:tc>
                  <a:txBody>
                    <a:bodyPr/>
                    <a:lstStyle/>
                    <a:p>
                      <a:pPr algn="ctr"/>
                      <a:r>
                        <a:rPr sz="1650" b="0">
                          <a:solidFill>
                            <a:srgbClr val="FFFFFF"/>
                          </a:solidFill>
                          <a:latin typeface="Times New Roman"/>
                          <a:ea typeface="Times New Roman"/>
                          <a:cs typeface="Times New Roman"/>
                        </a:rPr>
                        <a:t>79.15%</a:t>
                      </a:r>
                    </a:p>
                    <a:p>
                      <a:pPr algn="ctr"/>
                      <a:r>
                        <a:rPr sz="1650" b="0">
                          <a:solidFill>
                            <a:srgbClr val="FFFFFF"/>
                          </a:solidFill>
                          <a:latin typeface="Times New Roman"/>
                          <a:ea typeface="Times New Roman"/>
                          <a:cs typeface="Times New Roman"/>
                        </a:rPr>
                        <a:t>n = 849</a:t>
                      </a:r>
                    </a:p>
                  </a:txBody>
                  <a:tcPr marL="91440" marR="91440" marT="45720" marB="45720">
                    <a:lnR w="9525">
                      <a:solidFill>
                        <a:srgbClr val="D9D9D9"/>
                      </a:solidFill>
                      <a:prstDash val="solid"/>
                    </a:lnR>
                    <a:lnB w="9525">
                      <a:solidFill>
                        <a:srgbClr val="D9D9D9"/>
                      </a:solidFill>
                      <a:prstDash val="solid"/>
                    </a:lnB>
                    <a:solidFill>
                      <a:srgbClr val="AB5449"/>
                    </a:solidFill>
                  </a:tcPr>
                </a:tc>
                <a:tc>
                  <a:txBody>
                    <a:bodyPr/>
                    <a:lstStyle/>
                    <a:p>
                      <a:pPr algn="ctr"/>
                      <a:r>
                        <a:rPr sz="1650" b="0">
                          <a:solidFill>
                            <a:srgbClr val="111111"/>
                          </a:solidFill>
                          <a:latin typeface="Times New Roman"/>
                          <a:ea typeface="Times New Roman"/>
                          <a:cs typeface="Times New Roman"/>
                        </a:rPr>
                        <a:t>40.74%</a:t>
                      </a:r>
                    </a:p>
                    <a:p>
                      <a:pPr algn="ctr"/>
                      <a:r>
                        <a:rPr sz="1650" b="0">
                          <a:solidFill>
                            <a:srgbClr val="111111"/>
                          </a:solidFill>
                          <a:latin typeface="Times New Roman"/>
                          <a:ea typeface="Times New Roman"/>
                          <a:cs typeface="Times New Roman"/>
                        </a:rPr>
                        <a:t>n = 2,489</a:t>
                      </a:r>
                    </a:p>
                  </a:txBody>
                  <a:tcPr marL="91440" marR="91440" marT="45720" marB="45720">
                    <a:lnR w="9525">
                      <a:solidFill>
                        <a:srgbClr val="D9D9D9"/>
                      </a:solidFill>
                      <a:prstDash val="solid"/>
                    </a:lnR>
                    <a:lnB w="9525">
                      <a:solidFill>
                        <a:srgbClr val="D9D9D9"/>
                      </a:solidFill>
                      <a:prstDash val="solid"/>
                    </a:lnB>
                    <a:solidFill>
                      <a:srgbClr val="D2A29B"/>
                    </a:solidFill>
                  </a:tcPr>
                </a:tc>
                <a:tc>
                  <a:txBody>
                    <a:bodyPr/>
                    <a:lstStyle/>
                    <a:p>
                      <a:pPr algn="ctr"/>
                      <a:r>
                        <a:rPr sz="1650" b="0">
                          <a:solidFill>
                            <a:srgbClr val="111111"/>
                          </a:solidFill>
                          <a:latin typeface="Times New Roman"/>
                          <a:ea typeface="Times New Roman"/>
                          <a:cs typeface="Times New Roman"/>
                        </a:rPr>
                        <a:t>50.00%</a:t>
                      </a:r>
                    </a:p>
                    <a:p>
                      <a:pPr algn="ctr"/>
                      <a:r>
                        <a:rPr sz="1650" b="0">
                          <a:solidFill>
                            <a:srgbClr val="111111"/>
                          </a:solidFill>
                          <a:latin typeface="Times New Roman"/>
                          <a:ea typeface="Times New Roman"/>
                          <a:cs typeface="Times New Roman"/>
                        </a:rPr>
                        <a:t>n = 4</a:t>
                      </a:r>
                    </a:p>
                  </a:txBody>
                  <a:tcPr marL="91440" marR="91440" marT="45720" marB="45720">
                    <a:lnR w="9525">
                      <a:solidFill>
                        <a:srgbClr val="D9D9D9"/>
                      </a:solidFill>
                      <a:prstDash val="solid"/>
                    </a:lnR>
                    <a:lnB w="9525">
                      <a:solidFill>
                        <a:srgbClr val="D9D9D9"/>
                      </a:solidFill>
                      <a:prstDash val="solid"/>
                    </a:lnB>
                    <a:solidFill>
                      <a:srgbClr val="C99088"/>
                    </a:solidFill>
                  </a:tcPr>
                </a:tc>
              </a:tr>
              <a:tr h="585107">
                <a:tc>
                  <a:txBody>
                    <a:bodyPr/>
                    <a:lstStyle/>
                    <a:p>
                      <a:pPr algn="l"/>
                      <a:r>
                        <a:rPr sz="1650" b="0">
                          <a:solidFill>
                            <a:srgbClr val="111111"/>
                          </a:solidFill>
                          <a:latin typeface="Times New Roman"/>
                          <a:ea typeface="Times New Roman"/>
                          <a:cs typeface="Times New Roman"/>
                        </a:rPr>
                        <a:t>Southeast Asia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pPr algn="ctr"/>
                      <a:r>
                        <a:rPr sz="1650" b="0">
                          <a:solidFill>
                            <a:srgbClr val="FFFFFF"/>
                          </a:solidFill>
                          <a:latin typeface="Times New Roman"/>
                          <a:ea typeface="Times New Roman"/>
                          <a:cs typeface="Times New Roman"/>
                        </a:rPr>
                        <a:t>100.00%</a:t>
                      </a:r>
                    </a:p>
                    <a:p>
                      <a:pPr algn="ctr"/>
                      <a:r>
                        <a:rPr sz="1650" b="0">
                          <a:solidFill>
                            <a:srgbClr val="FFFFFF"/>
                          </a:solidFill>
                          <a:latin typeface="Times New Roman"/>
                          <a:ea typeface="Times New Roman"/>
                          <a:cs typeface="Times New Roman"/>
                        </a:rPr>
                        <a:t>n = 650</a:t>
                      </a:r>
                    </a:p>
                  </a:txBody>
                  <a:tcPr marL="91440" marR="91440" marT="45720" marB="45720">
                    <a:lnR w="9525">
                      <a:solidFill>
                        <a:srgbClr val="D9D9D9"/>
                      </a:solidFill>
                      <a:prstDash val="solid"/>
                    </a:lnR>
                    <a:lnB w="9525">
                      <a:solidFill>
                        <a:srgbClr val="D9D9D9"/>
                      </a:solidFill>
                      <a:prstDash val="solid"/>
                    </a:lnB>
                    <a:solidFill>
                      <a:srgbClr val="962A1D"/>
                    </a:solidFill>
                  </a:tcPr>
                </a:tc>
                <a:tc>
                  <a:txBody>
                    <a:bodyPr/>
                    <a:lstStyle/>
                    <a:p>
                      <a:pPr algn="ctr"/>
                      <a:r>
                        <a:rPr sz="1650" b="0">
                          <a:solidFill>
                            <a:srgbClr val="111111"/>
                          </a:solidFill>
                          <a:latin typeface="Times New Roman"/>
                          <a:ea typeface="Times New Roman"/>
                          <a:cs typeface="Times New Roman"/>
                        </a:rPr>
                        <a:t>44.90%</a:t>
                      </a:r>
                    </a:p>
                    <a:p>
                      <a:pPr algn="ctr"/>
                      <a:r>
                        <a:rPr sz="1650" b="0">
                          <a:solidFill>
                            <a:srgbClr val="111111"/>
                          </a:solidFill>
                          <a:latin typeface="Times New Roman"/>
                          <a:ea typeface="Times New Roman"/>
                          <a:cs typeface="Times New Roman"/>
                        </a:rPr>
                        <a:t>n = 196</a:t>
                      </a:r>
                    </a:p>
                  </a:txBody>
                  <a:tcPr marL="91440" marR="91440" marT="45720" marB="45720">
                    <a:lnR w="9525">
                      <a:solidFill>
                        <a:srgbClr val="D9D9D9"/>
                      </a:solidFill>
                      <a:prstDash val="solid"/>
                    </a:lnR>
                    <a:lnB w="9525">
                      <a:solidFill>
                        <a:srgbClr val="D9D9D9"/>
                      </a:solidFill>
                      <a:prstDash val="solid"/>
                    </a:lnB>
                    <a:solidFill>
                      <a:srgbClr val="CE9A92"/>
                    </a:solidFill>
                  </a:tcPr>
                </a:tc>
                <a:tc>
                  <a:txBody>
                    <a:bodyPr/>
                    <a:lstStyle/>
                    <a:p>
                      <a:pPr algn="ctr"/>
                      <a:r>
                        <a:rPr sz="1650" b="0">
                          <a:solidFill>
                            <a:srgbClr val="FFFFFF"/>
                          </a:solidFill>
                          <a:latin typeface="Times New Roman"/>
                          <a:ea typeface="Times New Roman"/>
                          <a:cs typeface="Times New Roman"/>
                        </a:rPr>
                        <a:t>80.10%</a:t>
                      </a:r>
                    </a:p>
                    <a:p>
                      <a:pPr algn="ctr"/>
                      <a:r>
                        <a:rPr sz="1650" b="0">
                          <a:solidFill>
                            <a:srgbClr val="FFFFFF"/>
                          </a:solidFill>
                          <a:latin typeface="Times New Roman"/>
                          <a:ea typeface="Times New Roman"/>
                          <a:cs typeface="Times New Roman"/>
                        </a:rPr>
                        <a:t>n = 809</a:t>
                      </a:r>
                    </a:p>
                  </a:txBody>
                  <a:tcPr marL="91440" marR="91440" marT="45720" marB="45720">
                    <a:lnR w="9525">
                      <a:solidFill>
                        <a:srgbClr val="D9D9D9"/>
                      </a:solidFill>
                      <a:prstDash val="solid"/>
                    </a:lnR>
                    <a:lnB w="9525">
                      <a:solidFill>
                        <a:srgbClr val="D9D9D9"/>
                      </a:solidFill>
                      <a:prstDash val="solid"/>
                    </a:lnB>
                    <a:solidFill>
                      <a:srgbClr val="AA5247"/>
                    </a:solidFill>
                  </a:tcPr>
                </a:tc>
                <a:tc>
                  <a:txBody>
                    <a:bodyPr/>
                    <a:lstStyle/>
                    <a:p>
                      <a:pPr algn="ctr"/>
                      <a:r>
                        <a:rPr sz="1650" b="0">
                          <a:solidFill>
                            <a:srgbClr val="111111"/>
                          </a:solidFill>
                          <a:latin typeface="Times New Roman"/>
                          <a:ea typeface="Times New Roman"/>
                          <a:cs typeface="Times New Roman"/>
                        </a:rPr>
                        <a:t>41.12%</a:t>
                      </a:r>
                    </a:p>
                    <a:p>
                      <a:pPr algn="ctr"/>
                      <a:r>
                        <a:rPr sz="1650" b="0">
                          <a:solidFill>
                            <a:srgbClr val="111111"/>
                          </a:solidFill>
                          <a:latin typeface="Times New Roman"/>
                          <a:ea typeface="Times New Roman"/>
                          <a:cs typeface="Times New Roman"/>
                        </a:rPr>
                        <a:t>n = 2,512</a:t>
                      </a:r>
                    </a:p>
                  </a:txBody>
                  <a:tcPr marL="91440" marR="91440" marT="45720" marB="45720">
                    <a:lnR w="9525">
                      <a:solidFill>
                        <a:srgbClr val="D9D9D9"/>
                      </a:solidFill>
                      <a:prstDash val="solid"/>
                    </a:lnR>
                    <a:lnB w="9525">
                      <a:solidFill>
                        <a:srgbClr val="D9D9D9"/>
                      </a:solidFill>
                      <a:prstDash val="solid"/>
                    </a:lnB>
                    <a:solidFill>
                      <a:srgbClr val="D2A29A"/>
                    </a:solidFill>
                  </a:tcPr>
                </a:tc>
                <a:tc>
                  <a:txBody>
                    <a:bodyPr/>
                    <a:lstStyle/>
                    <a:p>
                      <a:pPr algn="ctr"/>
                      <a:r>
                        <a:rPr sz="1650" b="0">
                          <a:solidFill>
                            <a:srgbClr val="111111"/>
                          </a:solidFill>
                          <a:latin typeface="Times New Roman"/>
                          <a:ea typeface="Times New Roman"/>
                          <a:cs typeface="Times New Roman"/>
                        </a:rPr>
                        <a:t>0.00%</a:t>
                      </a:r>
                    </a:p>
                    <a:p>
                      <a:pPr algn="ctr"/>
                      <a:r>
                        <a:rPr sz="1650" b="0">
                          <a:solidFill>
                            <a:srgbClr val="111111"/>
                          </a:solidFill>
                          <a:latin typeface="Times New Roman"/>
                          <a:ea typeface="Times New Roman"/>
                          <a:cs typeface="Times New Roman"/>
                        </a:rPr>
                        <a:t>n = 3</a:t>
                      </a:r>
                    </a:p>
                  </a:txBody>
                  <a:tcPr marL="91440" marR="91440" marT="45720" marB="45720">
                    <a:lnR w="9525">
                      <a:solidFill>
                        <a:srgbClr val="D9D9D9"/>
                      </a:solidFill>
                      <a:prstDash val="solid"/>
                    </a:lnR>
                    <a:lnB w="9525">
                      <a:solidFill>
                        <a:srgbClr val="D9D9D9"/>
                      </a:solidFill>
                      <a:prstDash val="solid"/>
                    </a:lnB>
                    <a:solidFill>
                      <a:srgbClr val="FCF5F2"/>
                    </a:solidFill>
                  </a:tcPr>
                </a:tc>
              </a:tr>
              <a:tr h="585107">
                <a:tc>
                  <a:txBody>
                    <a:bodyPr/>
                    <a:lstStyle/>
                    <a:p>
                      <a:pPr algn="l"/>
                      <a:r>
                        <a:rPr sz="1650" b="0">
                          <a:solidFill>
                            <a:srgbClr val="111111"/>
                          </a:solidFill>
                          <a:latin typeface="Times New Roman"/>
                          <a:ea typeface="Times New Roman"/>
                          <a:cs typeface="Times New Roman"/>
                        </a:rPr>
                        <a:t>Northern Europe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pPr algn="ctr"/>
                      <a:r>
                        <a:rPr sz="1650" b="0">
                          <a:solidFill>
                            <a:srgbClr val="FFFFFF"/>
                          </a:solidFill>
                          <a:latin typeface="Times New Roman"/>
                          <a:ea typeface="Times New Roman"/>
                          <a:cs typeface="Times New Roman"/>
                        </a:rPr>
                        <a:t>100.00%</a:t>
                      </a:r>
                    </a:p>
                    <a:p>
                      <a:pPr algn="ctr"/>
                      <a:r>
                        <a:rPr sz="1650" b="0">
                          <a:solidFill>
                            <a:srgbClr val="FFFFFF"/>
                          </a:solidFill>
                          <a:latin typeface="Times New Roman"/>
                          <a:ea typeface="Times New Roman"/>
                          <a:cs typeface="Times New Roman"/>
                        </a:rPr>
                        <a:t>n = 528</a:t>
                      </a:r>
                    </a:p>
                  </a:txBody>
                  <a:tcPr marL="91440" marR="91440" marT="45720" marB="45720">
                    <a:lnR w="9525">
                      <a:solidFill>
                        <a:srgbClr val="D9D9D9"/>
                      </a:solidFill>
                      <a:prstDash val="solid"/>
                    </a:lnR>
                    <a:lnB w="9525">
                      <a:solidFill>
                        <a:srgbClr val="D9D9D9"/>
                      </a:solidFill>
                      <a:prstDash val="solid"/>
                    </a:lnB>
                    <a:solidFill>
                      <a:srgbClr val="962A1D"/>
                    </a:solidFill>
                  </a:tcPr>
                </a:tc>
                <a:tc>
                  <a:txBody>
                    <a:bodyPr/>
                    <a:lstStyle/>
                    <a:p>
                      <a:pPr algn="ctr"/>
                      <a:r>
                        <a:rPr sz="1650" b="0">
                          <a:solidFill>
                            <a:srgbClr val="111111"/>
                          </a:solidFill>
                          <a:latin typeface="Times New Roman"/>
                          <a:ea typeface="Times New Roman"/>
                          <a:cs typeface="Times New Roman"/>
                        </a:rPr>
                        <a:t>41.00%</a:t>
                      </a:r>
                    </a:p>
                    <a:p>
                      <a:pPr algn="ctr"/>
                      <a:r>
                        <a:rPr sz="1650" b="0">
                          <a:solidFill>
                            <a:srgbClr val="111111"/>
                          </a:solidFill>
                          <a:latin typeface="Times New Roman"/>
                          <a:ea typeface="Times New Roman"/>
                          <a:cs typeface="Times New Roman"/>
                        </a:rPr>
                        <a:t>n = 200</a:t>
                      </a:r>
                    </a:p>
                  </a:txBody>
                  <a:tcPr marL="91440" marR="91440" marT="45720" marB="45720">
                    <a:lnR w="9525">
                      <a:solidFill>
                        <a:srgbClr val="D9D9D9"/>
                      </a:solidFill>
                      <a:prstDash val="solid"/>
                    </a:lnR>
                    <a:lnB w="9525">
                      <a:solidFill>
                        <a:srgbClr val="D9D9D9"/>
                      </a:solidFill>
                      <a:prstDash val="solid"/>
                    </a:lnB>
                    <a:solidFill>
                      <a:srgbClr val="D2A29B"/>
                    </a:solidFill>
                  </a:tcPr>
                </a:tc>
                <a:tc>
                  <a:txBody>
                    <a:bodyPr/>
                    <a:lstStyle/>
                    <a:p>
                      <a:pPr algn="ctr"/>
                      <a:r>
                        <a:rPr sz="1650" b="0">
                          <a:solidFill>
                            <a:srgbClr val="FFFFFF"/>
                          </a:solidFill>
                          <a:latin typeface="Times New Roman"/>
                          <a:ea typeface="Times New Roman"/>
                          <a:cs typeface="Times New Roman"/>
                        </a:rPr>
                        <a:t>79.30%</a:t>
                      </a:r>
                    </a:p>
                    <a:p>
                      <a:pPr algn="ctr"/>
                      <a:r>
                        <a:rPr sz="1650" b="0">
                          <a:solidFill>
                            <a:srgbClr val="FFFFFF"/>
                          </a:solidFill>
                          <a:latin typeface="Times New Roman"/>
                          <a:ea typeface="Times New Roman"/>
                          <a:cs typeface="Times New Roman"/>
                        </a:rPr>
                        <a:t>n = 686</a:t>
                      </a:r>
                    </a:p>
                  </a:txBody>
                  <a:tcPr marL="91440" marR="91440" marT="45720" marB="45720">
                    <a:lnR w="9525">
                      <a:solidFill>
                        <a:srgbClr val="D9D9D9"/>
                      </a:solidFill>
                      <a:prstDash val="solid"/>
                    </a:lnR>
                    <a:lnB w="9525">
                      <a:solidFill>
                        <a:srgbClr val="D9D9D9"/>
                      </a:solidFill>
                      <a:prstDash val="solid"/>
                    </a:lnB>
                    <a:solidFill>
                      <a:srgbClr val="AB5449"/>
                    </a:solidFill>
                  </a:tcPr>
                </a:tc>
                <a:tc>
                  <a:txBody>
                    <a:bodyPr/>
                    <a:lstStyle/>
                    <a:p>
                      <a:pPr algn="ctr"/>
                      <a:r>
                        <a:rPr sz="1650" b="0">
                          <a:solidFill>
                            <a:srgbClr val="111111"/>
                          </a:solidFill>
                          <a:latin typeface="Times New Roman"/>
                          <a:ea typeface="Times New Roman"/>
                          <a:cs typeface="Times New Roman"/>
                        </a:rPr>
                        <a:t>39.07%</a:t>
                      </a:r>
                    </a:p>
                    <a:p>
                      <a:pPr algn="ctr"/>
                      <a:r>
                        <a:rPr sz="1650" b="0">
                          <a:solidFill>
                            <a:srgbClr val="111111"/>
                          </a:solidFill>
                          <a:latin typeface="Times New Roman"/>
                          <a:ea typeface="Times New Roman"/>
                          <a:cs typeface="Times New Roman"/>
                        </a:rPr>
                        <a:t>n = 2,145</a:t>
                      </a:r>
                    </a:p>
                  </a:txBody>
                  <a:tcPr marL="91440" marR="91440" marT="45720" marB="45720">
                    <a:lnR w="9525">
                      <a:solidFill>
                        <a:srgbClr val="D9D9D9"/>
                      </a:solidFill>
                      <a:prstDash val="solid"/>
                    </a:lnR>
                    <a:lnB w="9525">
                      <a:solidFill>
                        <a:srgbClr val="D9D9D9"/>
                      </a:solidFill>
                      <a:prstDash val="solid"/>
                    </a:lnB>
                    <a:solidFill>
                      <a:srgbClr val="D4A69F"/>
                    </a:solidFill>
                  </a:tcPr>
                </a:tc>
                <a:tc>
                  <a:txBody>
                    <a:bodyPr/>
                    <a:lstStyle/>
                    <a:p>
                      <a:pPr algn="ctr"/>
                      <a:r>
                        <a:rPr sz="1650" b="0">
                          <a:solidFill>
                            <a:srgbClr val="FFFFFF"/>
                          </a:solidFill>
                          <a:latin typeface="Times New Roman"/>
                          <a:ea typeface="Times New Roman"/>
                          <a:cs typeface="Times New Roman"/>
                        </a:rPr>
                        <a:t>66.67%</a:t>
                      </a:r>
                    </a:p>
                    <a:p>
                      <a:pPr algn="ctr"/>
                      <a:r>
                        <a:rPr sz="1650" b="0">
                          <a:solidFill>
                            <a:srgbClr val="FFFFFF"/>
                          </a:solidFill>
                          <a:latin typeface="Times New Roman"/>
                          <a:ea typeface="Times New Roman"/>
                          <a:cs typeface="Times New Roman"/>
                        </a:rPr>
                        <a:t>n = 3</a:t>
                      </a:r>
                    </a:p>
                  </a:txBody>
                  <a:tcPr marL="91440" marR="91440" marT="45720" marB="45720">
                    <a:lnR w="9525">
                      <a:solidFill>
                        <a:srgbClr val="D9D9D9"/>
                      </a:solidFill>
                      <a:prstDash val="solid"/>
                    </a:lnR>
                    <a:lnB w="9525">
                      <a:solidFill>
                        <a:srgbClr val="D9D9D9"/>
                      </a:solidFill>
                      <a:prstDash val="solid"/>
                    </a:lnB>
                    <a:solidFill>
                      <a:srgbClr val="B86E64"/>
                    </a:solidFill>
                  </a:tcPr>
                </a:tc>
              </a:tr>
            </a:tbl>
          </a:graphicData>
        </a:graphic>
      </p:graphicFrame>
      <p:sp>
        <p:nvSpPr>
          <p:cNvPr id="5" name="Six largest regional populations shown. Darker = higher dela">
            <a:extLst xmlns:a="http://schemas.openxmlformats.org/drawingml/2006/main">
              <a:ext uri="{FF2B5EF4-FFF2-40B4-BE49-F238E27FC236}">
                <a16:creationId xmlns:a16="http://schemas.microsoft.com/office/drawing/2014/main" id="{4630ED22-D0B3-4673-9ECD-99AA594D3798}"/>
              </a:ext>
            </a:extLst>
          </p:cNvPr>
          <p:cNvSpPr>
            <a:spLocks xmlns:a="http://schemas.openxmlformats.org/drawingml/2006/main" noGrp="1"/>
          </p:cNvSpPr>
          <p:nvPr/>
        </p:nvSpPr>
        <p:spPr>
          <a:xfrm xmlns:a="http://schemas.openxmlformats.org/drawingml/2006/main">
            <a:off x="619125"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6616B"/>
                </a:solidFill>
                <a:latin typeface="Times New Roman"/>
                <a:ea typeface="Times New Roman"/>
                <a:cs typeface="Times New Roman"/>
              </a:defRPr>
            </a:defPPr>
            <a:lvl1pPr algn="l">
              <a:defRPr sz="1875" b="0">
                <a:solidFill>
                  <a:srgbClr val="56616B"/>
                </a:solidFill>
                <a:latin typeface="Times New Roman"/>
                <a:ea typeface="Times New Roman"/>
                <a:cs typeface="Times New Roman"/>
              </a:defRPr>
            </a:lvl1pPr>
            <a:lvl2pPr algn="l">
              <a:defRPr sz="1875" b="0">
                <a:solidFill>
                  <a:srgbClr val="56616B"/>
                </a:solidFill>
                <a:latin typeface="Times New Roman"/>
                <a:ea typeface="Times New Roman"/>
                <a:cs typeface="Times New Roman"/>
              </a:defRPr>
            </a:lvl2pPr>
            <a:lvl3pPr algn="l">
              <a:defRPr sz="1875" b="0">
                <a:solidFill>
                  <a:srgbClr val="56616B"/>
                </a:solidFill>
                <a:latin typeface="Times New Roman"/>
                <a:ea typeface="Times New Roman"/>
                <a:cs typeface="Times New Roman"/>
              </a:defRPr>
            </a:lvl3pPr>
            <a:lvl4pPr algn="l">
              <a:defRPr sz="1875" b="0">
                <a:solidFill>
                  <a:srgbClr val="56616B"/>
                </a:solidFill>
                <a:latin typeface="Times New Roman"/>
                <a:ea typeface="Times New Roman"/>
                <a:cs typeface="Times New Roman"/>
              </a:defRPr>
            </a:lvl4pPr>
            <a:lvl5pPr algn="l">
              <a:defRPr sz="1875" b="0">
                <a:solidFill>
                  <a:srgbClr val="56616B"/>
                </a:solidFill>
                <a:latin typeface="Times New Roman"/>
                <a:ea typeface="Times New Roman"/>
                <a:cs typeface="Times New Roman"/>
              </a:defRPr>
            </a:lvl5pPr>
            <a:lvl6pPr algn="l">
              <a:defRPr sz="1875" b="0">
                <a:solidFill>
                  <a:srgbClr val="56616B"/>
                </a:solidFill>
                <a:latin typeface="Times New Roman"/>
                <a:ea typeface="Times New Roman"/>
                <a:cs typeface="Times New Roman"/>
              </a:defRPr>
            </a:lvl6pPr>
            <a:lvl7pPr algn="l">
              <a:defRPr sz="1875" b="0">
                <a:solidFill>
                  <a:srgbClr val="56616B"/>
                </a:solidFill>
                <a:latin typeface="Times New Roman"/>
                <a:ea typeface="Times New Roman"/>
                <a:cs typeface="Times New Roman"/>
              </a:defRPr>
            </a:lvl7pPr>
            <a:lvl8pPr algn="l">
              <a:defRPr sz="1875" b="0">
                <a:solidFill>
                  <a:srgbClr val="56616B"/>
                </a:solidFill>
                <a:latin typeface="Times New Roman"/>
                <a:ea typeface="Times New Roman"/>
                <a:cs typeface="Times New Roman"/>
              </a:defRPr>
            </a:lvl8pPr>
            <a:lvl9pPr algn="l">
              <a:defRPr sz="1875" b="0">
                <a:solidFill>
                  <a:srgbClr val="56616B"/>
                </a:solidFill>
                <a:latin typeface="Times New Roman"/>
                <a:ea typeface="Times New Roman"/>
                <a:cs typeface="Times New Roman"/>
              </a:defRPr>
            </a:lvl9pPr>
          </a:lstStyle>
          <a:p xmlns:a="http://schemas.openxmlformats.org/drawingml/2006/main">
            <a:pPr algn="l">
              <a:defRPr sz="1875" b="0">
                <a:solidFill>
                  <a:srgbClr val="56616B"/>
                </a:solidFill>
                <a:latin typeface="Times New Roman"/>
                <a:ea typeface="Times New Roman"/>
                <a:cs typeface="Times New Roman"/>
              </a:defRPr>
            </a:pPr>
            <a:r>
              <a:rPr sz="1875" b="0">
                <a:solidFill>
                  <a:srgbClr val="56616B"/>
                </a:solidFill>
                <a:latin typeface="Times New Roman"/>
                <a:ea typeface="Times New Roman"/>
                <a:cs typeface="Times New Roman"/>
              </a:rPr>
              <a:t>Six largest regional populations shown. Darker = higher delay rate; n = eligible orders.</a:t>
            </a:r>
          </a:p>
        </p:txBody>
      </p:sp>
    </p:spTree>
    <p:extLst>
      <p:ext uri="{BB962C8B-B14F-4D97-AF65-F5344CB8AC3E}">
        <p14:creationId xmlns:p14="http://schemas.microsoft.com/office/powerpoint/2010/main" val="10646521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lobal SHAP explains the fitted forest">
            <a:extLst xmlns:a="http://schemas.openxmlformats.org/drawingml/2006/main">
              <a:ext uri="{FF2B5EF4-FFF2-40B4-BE49-F238E27FC236}">
                <a16:creationId xmlns:a16="http://schemas.microsoft.com/office/drawing/2014/main" id="{7C660533-DAE5-43A6-A0F9-FB76E8C5C943}"/>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Global SHAP explains the fitted forest</a:t>
            </a:r>
          </a:p>
        </p:txBody>
      </p:sp>
      <p:sp>
        <p:nvSpPr>
          <p:cNvPr id="2" name="BCSE402L  Big Data Analytics  |  DA3  |  20 October 2026">
            <a:extLst xmlns:a="http://schemas.openxmlformats.org/drawingml/2006/main">
              <a:ext uri="{FF2B5EF4-FFF2-40B4-BE49-F238E27FC236}">
                <a16:creationId xmlns:a16="http://schemas.microsoft.com/office/drawing/2014/main" id="{018F1981-FC0F-49C1-AE84-3E512A86598C}"/>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8">
            <a:extLst xmlns:a="http://schemas.openxmlformats.org/drawingml/2006/main">
              <a:ext uri="{FF2B5EF4-FFF2-40B4-BE49-F238E27FC236}">
                <a16:creationId xmlns:a16="http://schemas.microsoft.com/office/drawing/2014/main" id="{29D26D58-C90A-4124-BF4C-D0FEB44F37BB}"/>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08</a:t>
            </a:r>
          </a:p>
        </p:txBody>
      </p:sp>
      <p:graphicFrame>
        <p:nvGraphicFramePr>
          <p:cNvPr id="4" name="Chart">
            <a:extLst xmlns:a="http://schemas.openxmlformats.org/drawingml/2006/main">
              <a:ext uri="{FF2B5EF4-FFF2-40B4-BE49-F238E27FC236}">
                <a16:creationId xmlns:a16="http://schemas.microsoft.com/office/drawing/2014/main" id="{99A65AA8-9D1B-4B05-BC43-E3E0BD29A1E5}"/>
              </a:ext>
            </a:extLst>
          </p:cNvPr>
          <p:cNvGraphicFramePr/>
          <p:nvPr/>
        </p:nvGraphicFramePr>
        <p:xfrm>
          <a:off xmlns:a="http://schemas.openxmlformats.org/drawingml/2006/main" x="381000" y="1285875"/>
          <a:ext xmlns:a="http://schemas.openxmlformats.org/drawingml/2006/main" cx="8286750" cy="4286250"/>
        </p:xfrm>
        <a:graphic xmlns:a="http://schemas.openxmlformats.org/drawingml/2006/main">
          <a:graphicData uri="http://schemas.openxmlformats.org/drawingml/2006/chart">
            <c:chart xmlns:r="http://schemas.openxmlformats.org/officeDocument/2006/relationships" xmlns:c="http://schemas.openxmlformats.org/drawingml/2006/chart" r:id="R621ad7be771a41c7"/>
          </a:graphicData>
        </a:graphic>
      </p:graphicFrame>
      <p:sp>
        <p:nvSpPr>
          <p:cNvPr id="5" name="Real fitted pipeline&#10;32 reference orders&#10;96 validation expla">
            <a:extLst xmlns:a="http://schemas.openxmlformats.org/drawingml/2006/main">
              <a:ext uri="{FF2B5EF4-FFF2-40B4-BE49-F238E27FC236}">
                <a16:creationId xmlns:a16="http://schemas.microsoft.com/office/drawing/2014/main" id="{EDD278F6-BC65-42FA-8F89-DE7C4A3F405C}"/>
              </a:ext>
            </a:extLst>
          </p:cNvPr>
          <p:cNvSpPr>
            <a:spLocks xmlns:a="http://schemas.openxmlformats.org/drawingml/2006/main" noGrp="1"/>
          </p:cNvSpPr>
          <p:nvPr/>
        </p:nvSpPr>
        <p:spPr>
          <a:xfrm xmlns:a="http://schemas.openxmlformats.org/drawingml/2006/main">
            <a:off x="8953500" y="1666875"/>
            <a:ext cx="2714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44763"/>
                </a:solidFill>
                <a:latin typeface="Times New Roman"/>
                <a:ea typeface="Times New Roman"/>
                <a:cs typeface="Times New Roman"/>
              </a:defRPr>
            </a:defPPr>
            <a:lvl1pPr algn="l">
              <a:defRPr sz="2025" b="1">
                <a:solidFill>
                  <a:srgbClr val="244763"/>
                </a:solidFill>
                <a:latin typeface="Times New Roman"/>
                <a:ea typeface="Times New Roman"/>
                <a:cs typeface="Times New Roman"/>
              </a:defRPr>
            </a:lvl1pPr>
            <a:lvl2pPr algn="l">
              <a:defRPr sz="2025" b="1">
                <a:solidFill>
                  <a:srgbClr val="244763"/>
                </a:solidFill>
                <a:latin typeface="Times New Roman"/>
                <a:ea typeface="Times New Roman"/>
                <a:cs typeface="Times New Roman"/>
              </a:defRPr>
            </a:lvl2pPr>
            <a:lvl3pPr algn="l">
              <a:defRPr sz="2025" b="1">
                <a:solidFill>
                  <a:srgbClr val="244763"/>
                </a:solidFill>
                <a:latin typeface="Times New Roman"/>
                <a:ea typeface="Times New Roman"/>
                <a:cs typeface="Times New Roman"/>
              </a:defRPr>
            </a:lvl3pPr>
            <a:lvl4pPr algn="l">
              <a:defRPr sz="2025" b="1">
                <a:solidFill>
                  <a:srgbClr val="244763"/>
                </a:solidFill>
                <a:latin typeface="Times New Roman"/>
                <a:ea typeface="Times New Roman"/>
                <a:cs typeface="Times New Roman"/>
              </a:defRPr>
            </a:lvl4pPr>
            <a:lvl5pPr algn="l">
              <a:defRPr sz="2025" b="1">
                <a:solidFill>
                  <a:srgbClr val="244763"/>
                </a:solidFill>
                <a:latin typeface="Times New Roman"/>
                <a:ea typeface="Times New Roman"/>
                <a:cs typeface="Times New Roman"/>
              </a:defRPr>
            </a:lvl5pPr>
            <a:lvl6pPr algn="l">
              <a:defRPr sz="2025" b="1">
                <a:solidFill>
                  <a:srgbClr val="244763"/>
                </a:solidFill>
                <a:latin typeface="Times New Roman"/>
                <a:ea typeface="Times New Roman"/>
                <a:cs typeface="Times New Roman"/>
              </a:defRPr>
            </a:lvl6pPr>
            <a:lvl7pPr algn="l">
              <a:defRPr sz="2025" b="1">
                <a:solidFill>
                  <a:srgbClr val="244763"/>
                </a:solidFill>
                <a:latin typeface="Times New Roman"/>
                <a:ea typeface="Times New Roman"/>
                <a:cs typeface="Times New Roman"/>
              </a:defRPr>
            </a:lvl7pPr>
            <a:lvl8pPr algn="l">
              <a:defRPr sz="2025" b="1">
                <a:solidFill>
                  <a:srgbClr val="244763"/>
                </a:solidFill>
                <a:latin typeface="Times New Roman"/>
                <a:ea typeface="Times New Roman"/>
                <a:cs typeface="Times New Roman"/>
              </a:defRPr>
            </a:lvl8pPr>
            <a:lvl9pPr algn="l">
              <a:defRPr sz="2025" b="1">
                <a:solidFill>
                  <a:srgbClr val="244763"/>
                </a:solidFill>
                <a:latin typeface="Times New Roman"/>
                <a:ea typeface="Times New Roman"/>
                <a:cs typeface="Times New Roman"/>
              </a:defRPr>
            </a:lvl9pPr>
          </a:lstStyle>
          <a:p xmlns:a="http://schemas.openxmlformats.org/drawingml/2006/main">
            <a:pPr algn="l">
              <a:defRPr sz="2025" b="1">
                <a:solidFill>
                  <a:srgbClr val="244763"/>
                </a:solidFill>
                <a:latin typeface="Times New Roman"/>
                <a:ea typeface="Times New Roman"/>
                <a:cs typeface="Times New Roman"/>
              </a:defRPr>
            </a:pPr>
            <a:r>
              <a:rPr sz="2025" b="1">
                <a:solidFill>
                  <a:srgbClr val="244763"/>
                </a:solidFill>
                <a:latin typeface="Times New Roman"/>
                <a:ea typeface="Times New Roman"/>
                <a:cs typeface="Times New Roman"/>
              </a:rPr>
              <a:t>Real fitted pipeline</a:t>
            </a:r>
          </a:p>
          <a:p xmlns:a="http://schemas.openxmlformats.org/drawingml/2006/main">
            <a:pPr algn="l">
              <a:defRPr sz="2025" b="1">
                <a:solidFill>
                  <a:srgbClr val="244763"/>
                </a:solidFill>
                <a:latin typeface="Times New Roman"/>
                <a:ea typeface="Times New Roman"/>
                <a:cs typeface="Times New Roman"/>
              </a:defRPr>
            </a:pPr>
            <a:r>
              <a:rPr sz="2025" b="1">
                <a:solidFill>
                  <a:srgbClr val="244763"/>
                </a:solidFill>
                <a:latin typeface="Times New Roman"/>
                <a:ea typeface="Times New Roman"/>
                <a:cs typeface="Times New Roman"/>
              </a:rPr>
              <a:t>32 reference orders</a:t>
            </a:r>
          </a:p>
          <a:p xmlns:a="http://schemas.openxmlformats.org/drawingml/2006/main">
            <a:pPr algn="l">
              <a:defRPr sz="2025" b="1">
                <a:solidFill>
                  <a:srgbClr val="244763"/>
                </a:solidFill>
                <a:latin typeface="Times New Roman"/>
                <a:ea typeface="Times New Roman"/>
                <a:cs typeface="Times New Roman"/>
              </a:defRPr>
            </a:pPr>
            <a:r>
              <a:rPr sz="2025" b="1">
                <a:solidFill>
                  <a:srgbClr val="244763"/>
                </a:solidFill>
                <a:latin typeface="Times New Roman"/>
                <a:ea typeface="Times New Roman"/>
                <a:cs typeface="Times New Roman"/>
              </a:rPr>
              <a:t>96 validation explanations</a:t>
            </a:r>
          </a:p>
          <a:p xmlns:a="http://schemas.openxmlformats.org/drawingml/2006/main">
            <a:pPr algn="l">
              <a:defRPr sz="2025" b="1">
                <a:solidFill>
                  <a:srgbClr val="244763"/>
                </a:solidFill>
                <a:latin typeface="Times New Roman"/>
                <a:ea typeface="Times New Roman"/>
                <a:cs typeface="Times New Roman"/>
              </a:defRPr>
            </a:pPr>
            <a:r>
              <a:rPr sz="2025" b="1">
                <a:solidFill>
                  <a:srgbClr val="244763"/>
                </a:solidFill>
                <a:latin typeface="Times New Roman"/>
                <a:ea typeface="Times New Roman"/>
                <a:cs typeface="Times New Roman"/>
              </a:rPr>
              <a:t>8 original feature groups</a:t>
            </a:r>
          </a:p>
        </p:txBody>
      </p:sp>
      <p:sp>
        <p:nvSpPr>
          <p:cNvPr id="6" name="No final-test orders&#10;No causal claims&#10;No static importance d">
            <a:extLst xmlns:a="http://schemas.openxmlformats.org/drawingml/2006/main">
              <a:ext uri="{FF2B5EF4-FFF2-40B4-BE49-F238E27FC236}">
                <a16:creationId xmlns:a16="http://schemas.microsoft.com/office/drawing/2014/main" id="{A239FBAD-544C-43D9-943B-87641B7AAC99}"/>
              </a:ext>
            </a:extLst>
          </p:cNvPr>
          <p:cNvSpPr>
            <a:spLocks xmlns:a="http://schemas.openxmlformats.org/drawingml/2006/main" noGrp="1"/>
          </p:cNvSpPr>
          <p:nvPr/>
        </p:nvSpPr>
        <p:spPr>
          <a:xfrm xmlns:a="http://schemas.openxmlformats.org/drawingml/2006/main">
            <a:off x="8953500" y="4095750"/>
            <a:ext cx="266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A94032"/>
                </a:solidFill>
                <a:latin typeface="Times New Roman"/>
                <a:ea typeface="Times New Roman"/>
                <a:cs typeface="Times New Roman"/>
              </a:defRPr>
            </a:defPPr>
            <a:lvl1pPr algn="l">
              <a:defRPr sz="1950" b="0">
                <a:solidFill>
                  <a:srgbClr val="A94032"/>
                </a:solidFill>
                <a:latin typeface="Times New Roman"/>
                <a:ea typeface="Times New Roman"/>
                <a:cs typeface="Times New Roman"/>
              </a:defRPr>
            </a:lvl1pPr>
            <a:lvl2pPr algn="l">
              <a:defRPr sz="1950" b="0">
                <a:solidFill>
                  <a:srgbClr val="A94032"/>
                </a:solidFill>
                <a:latin typeface="Times New Roman"/>
                <a:ea typeface="Times New Roman"/>
                <a:cs typeface="Times New Roman"/>
              </a:defRPr>
            </a:lvl2pPr>
            <a:lvl3pPr algn="l">
              <a:defRPr sz="1950" b="0">
                <a:solidFill>
                  <a:srgbClr val="A94032"/>
                </a:solidFill>
                <a:latin typeface="Times New Roman"/>
                <a:ea typeface="Times New Roman"/>
                <a:cs typeface="Times New Roman"/>
              </a:defRPr>
            </a:lvl3pPr>
            <a:lvl4pPr algn="l">
              <a:defRPr sz="1950" b="0">
                <a:solidFill>
                  <a:srgbClr val="A94032"/>
                </a:solidFill>
                <a:latin typeface="Times New Roman"/>
                <a:ea typeface="Times New Roman"/>
                <a:cs typeface="Times New Roman"/>
              </a:defRPr>
            </a:lvl4pPr>
            <a:lvl5pPr algn="l">
              <a:defRPr sz="1950" b="0">
                <a:solidFill>
                  <a:srgbClr val="A94032"/>
                </a:solidFill>
                <a:latin typeface="Times New Roman"/>
                <a:ea typeface="Times New Roman"/>
                <a:cs typeface="Times New Roman"/>
              </a:defRPr>
            </a:lvl5pPr>
            <a:lvl6pPr algn="l">
              <a:defRPr sz="1950" b="0">
                <a:solidFill>
                  <a:srgbClr val="A94032"/>
                </a:solidFill>
                <a:latin typeface="Times New Roman"/>
                <a:ea typeface="Times New Roman"/>
                <a:cs typeface="Times New Roman"/>
              </a:defRPr>
            </a:lvl6pPr>
            <a:lvl7pPr algn="l">
              <a:defRPr sz="1950" b="0">
                <a:solidFill>
                  <a:srgbClr val="A94032"/>
                </a:solidFill>
                <a:latin typeface="Times New Roman"/>
                <a:ea typeface="Times New Roman"/>
                <a:cs typeface="Times New Roman"/>
              </a:defRPr>
            </a:lvl7pPr>
            <a:lvl8pPr algn="l">
              <a:defRPr sz="1950" b="0">
                <a:solidFill>
                  <a:srgbClr val="A94032"/>
                </a:solidFill>
                <a:latin typeface="Times New Roman"/>
                <a:ea typeface="Times New Roman"/>
                <a:cs typeface="Times New Roman"/>
              </a:defRPr>
            </a:lvl8pPr>
            <a:lvl9pPr algn="l">
              <a:defRPr sz="1950" b="0">
                <a:solidFill>
                  <a:srgbClr val="A94032"/>
                </a:solidFill>
                <a:latin typeface="Times New Roman"/>
                <a:ea typeface="Times New Roman"/>
                <a:cs typeface="Times New Roman"/>
              </a:defRPr>
            </a:lvl9pPr>
          </a:lstStyle>
          <a:p xmlns:a="http://schemas.openxmlformats.org/drawingml/2006/main">
            <a:pPr algn="l">
              <a:defRPr sz="1950" b="0">
                <a:solidFill>
                  <a:srgbClr val="A94032"/>
                </a:solidFill>
                <a:latin typeface="Times New Roman"/>
                <a:ea typeface="Times New Roman"/>
                <a:cs typeface="Times New Roman"/>
              </a:defRPr>
            </a:pPr>
            <a:r>
              <a:rPr sz="1950" b="0">
                <a:solidFill>
                  <a:srgbClr val="A94032"/>
                </a:solidFill>
                <a:latin typeface="Times New Roman"/>
                <a:ea typeface="Times New Roman"/>
                <a:cs typeface="Times New Roman"/>
              </a:rPr>
              <a:t>No final-test orders</a:t>
            </a:r>
          </a:p>
          <a:p xmlns:a="http://schemas.openxmlformats.org/drawingml/2006/main">
            <a:pPr algn="l">
              <a:defRPr sz="1950" b="0">
                <a:solidFill>
                  <a:srgbClr val="A94032"/>
                </a:solidFill>
                <a:latin typeface="Times New Roman"/>
                <a:ea typeface="Times New Roman"/>
                <a:cs typeface="Times New Roman"/>
              </a:defRPr>
            </a:pPr>
            <a:r>
              <a:rPr sz="1950" b="0">
                <a:solidFill>
                  <a:srgbClr val="A94032"/>
                </a:solidFill>
                <a:latin typeface="Times New Roman"/>
                <a:ea typeface="Times New Roman"/>
                <a:cs typeface="Times New Roman"/>
              </a:rPr>
              <a:t>No causal claims</a:t>
            </a:r>
          </a:p>
          <a:p xmlns:a="http://schemas.openxmlformats.org/drawingml/2006/main">
            <a:pPr algn="l">
              <a:defRPr sz="1950" b="0">
                <a:solidFill>
                  <a:srgbClr val="A94032"/>
                </a:solidFill>
                <a:latin typeface="Times New Roman"/>
                <a:ea typeface="Times New Roman"/>
                <a:cs typeface="Times New Roman"/>
              </a:defRPr>
            </a:pPr>
            <a:r>
              <a:rPr sz="1950" b="0">
                <a:solidFill>
                  <a:srgbClr val="A94032"/>
                </a:solidFill>
                <a:latin typeface="Times New Roman"/>
                <a:ea typeface="Times New Roman"/>
                <a:cs typeface="Times New Roman"/>
              </a:rPr>
              <a:t>No static importance data</a:t>
            </a:r>
          </a:p>
        </p:txBody>
      </p:sp>
      <p:sp>
        <p:nvSpPr>
          <p:cNvPr id="7" name="Mean absolute grouped SHAP is in probability units. Schedule">
            <a:extLst xmlns:a="http://schemas.openxmlformats.org/drawingml/2006/main">
              <a:ext uri="{FF2B5EF4-FFF2-40B4-BE49-F238E27FC236}">
                <a16:creationId xmlns:a16="http://schemas.microsoft.com/office/drawing/2014/main" id="{CC8BFAA8-FEF2-4A17-B58D-1BBA00FD9E0B}"/>
              </a:ext>
            </a:extLst>
          </p:cNvPr>
          <p:cNvSpPr>
            <a:spLocks xmlns:a="http://schemas.openxmlformats.org/drawingml/2006/main" noGrp="1"/>
          </p:cNvSpPr>
          <p:nvPr/>
        </p:nvSpPr>
        <p:spPr>
          <a:xfrm xmlns:a="http://schemas.openxmlformats.org/drawingml/2006/main">
            <a:off x="571500" y="58293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11111"/>
                </a:solidFill>
                <a:latin typeface="Times New Roman"/>
                <a:ea typeface="Times New Roman"/>
                <a:cs typeface="Times New Roman"/>
              </a:defRPr>
            </a:defPPr>
            <a:lvl1pPr algn="l">
              <a:defRPr sz="1875" b="0">
                <a:solidFill>
                  <a:srgbClr val="111111"/>
                </a:solidFill>
                <a:latin typeface="Times New Roman"/>
                <a:ea typeface="Times New Roman"/>
                <a:cs typeface="Times New Roman"/>
              </a:defRPr>
            </a:lvl1pPr>
            <a:lvl2pPr algn="l">
              <a:defRPr sz="1875" b="0">
                <a:solidFill>
                  <a:srgbClr val="111111"/>
                </a:solidFill>
                <a:latin typeface="Times New Roman"/>
                <a:ea typeface="Times New Roman"/>
                <a:cs typeface="Times New Roman"/>
              </a:defRPr>
            </a:lvl2pPr>
            <a:lvl3pPr algn="l">
              <a:defRPr sz="1875" b="0">
                <a:solidFill>
                  <a:srgbClr val="111111"/>
                </a:solidFill>
                <a:latin typeface="Times New Roman"/>
                <a:ea typeface="Times New Roman"/>
                <a:cs typeface="Times New Roman"/>
              </a:defRPr>
            </a:lvl3pPr>
            <a:lvl4pPr algn="l">
              <a:defRPr sz="1875" b="0">
                <a:solidFill>
                  <a:srgbClr val="111111"/>
                </a:solidFill>
                <a:latin typeface="Times New Roman"/>
                <a:ea typeface="Times New Roman"/>
                <a:cs typeface="Times New Roman"/>
              </a:defRPr>
            </a:lvl4pPr>
            <a:lvl5pPr algn="l">
              <a:defRPr sz="1875" b="0">
                <a:solidFill>
                  <a:srgbClr val="111111"/>
                </a:solidFill>
                <a:latin typeface="Times New Roman"/>
                <a:ea typeface="Times New Roman"/>
                <a:cs typeface="Times New Roman"/>
              </a:defRPr>
            </a:lvl5pPr>
            <a:lvl6pPr algn="l">
              <a:defRPr sz="1875" b="0">
                <a:solidFill>
                  <a:srgbClr val="111111"/>
                </a:solidFill>
                <a:latin typeface="Times New Roman"/>
                <a:ea typeface="Times New Roman"/>
                <a:cs typeface="Times New Roman"/>
              </a:defRPr>
            </a:lvl6pPr>
            <a:lvl7pPr algn="l">
              <a:defRPr sz="1875" b="0">
                <a:solidFill>
                  <a:srgbClr val="111111"/>
                </a:solidFill>
                <a:latin typeface="Times New Roman"/>
                <a:ea typeface="Times New Roman"/>
                <a:cs typeface="Times New Roman"/>
              </a:defRPr>
            </a:lvl7pPr>
            <a:lvl8pPr algn="l">
              <a:defRPr sz="1875" b="0">
                <a:solidFill>
                  <a:srgbClr val="111111"/>
                </a:solidFill>
                <a:latin typeface="Times New Roman"/>
                <a:ea typeface="Times New Roman"/>
                <a:cs typeface="Times New Roman"/>
              </a:defRPr>
            </a:lvl8pPr>
            <a:lvl9pPr algn="l">
              <a:defRPr sz="1875" b="0">
                <a:solidFill>
                  <a:srgbClr val="111111"/>
                </a:solidFill>
                <a:latin typeface="Times New Roman"/>
                <a:ea typeface="Times New Roman"/>
                <a:cs typeface="Times New Roman"/>
              </a:defRPr>
            </a:lvl9pPr>
          </a:lstStyle>
          <a:p xmlns:a="http://schemas.openxmlformats.org/drawingml/2006/main">
            <a:pPr algn="l">
              <a:defRPr sz="1875" b="0">
                <a:solidFill>
                  <a:srgbClr val="111111"/>
                </a:solidFill>
                <a:latin typeface="Times New Roman"/>
                <a:ea typeface="Times New Roman"/>
                <a:cs typeface="Times New Roman"/>
              </a:defRPr>
            </a:pPr>
            <a:r>
              <a:rPr sz="1875" b="0">
                <a:solidFill>
                  <a:srgbClr val="111111"/>
                </a:solidFill>
                <a:latin typeface="Times New Roman"/>
                <a:ea typeface="Times New Roman"/>
                <a:cs typeface="Times New Roman"/>
              </a:rPr>
              <a:t>Mean absolute grouped SHAP is in probability units. Schedule has the strongest attribution.</a:t>
            </a:r>
          </a:p>
        </p:txBody>
      </p:sp>
    </p:spTree>
    <p:extLst>
      <p:ext uri="{BB962C8B-B14F-4D97-AF65-F5344CB8AC3E}">
        <p14:creationId xmlns:p14="http://schemas.microsoft.com/office/powerpoint/2010/main" val="14035918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dividual prediction and operator recommendations">
            <a:extLst xmlns:a="http://schemas.openxmlformats.org/drawingml/2006/main">
              <a:ext uri="{FF2B5EF4-FFF2-40B4-BE49-F238E27FC236}">
                <a16:creationId xmlns:a16="http://schemas.microsoft.com/office/drawing/2014/main" id="{B23ABC7A-3D85-4736-89F8-E53720CC13B3}"/>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Individual prediction and operator recommendations</a:t>
            </a:r>
          </a:p>
        </p:txBody>
      </p:sp>
      <p:sp>
        <p:nvSpPr>
          <p:cNvPr id="2" name="BCSE402L  Big Data Analytics  |  DA3  |  20 October 2026">
            <a:extLst xmlns:a="http://schemas.openxmlformats.org/drawingml/2006/main">
              <a:ext uri="{FF2B5EF4-FFF2-40B4-BE49-F238E27FC236}">
                <a16:creationId xmlns:a16="http://schemas.microsoft.com/office/drawing/2014/main" id="{B7DA5A26-3681-466E-AD0A-519A5D10C18D}"/>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09">
            <a:extLst xmlns:a="http://schemas.openxmlformats.org/drawingml/2006/main">
              <a:ext uri="{FF2B5EF4-FFF2-40B4-BE49-F238E27FC236}">
                <a16:creationId xmlns:a16="http://schemas.microsoft.com/office/drawing/2014/main" id="{E72A3B02-28F7-4D7D-A847-26264514C610}"/>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09</a:t>
            </a:r>
          </a:p>
        </p:txBody>
      </p:sp>
      <p:sp>
        <p:nvSpPr>
          <p:cNvPr id="4" name="89.69% modeled delay probability">
            <a:extLst xmlns:a="http://schemas.openxmlformats.org/drawingml/2006/main">
              <a:ext uri="{FF2B5EF4-FFF2-40B4-BE49-F238E27FC236}">
                <a16:creationId xmlns:a16="http://schemas.microsoft.com/office/drawing/2014/main" id="{699ABCF2-2F82-4A18-9A03-D23B5B111714}"/>
              </a:ext>
            </a:extLst>
          </p:cNvPr>
          <p:cNvSpPr>
            <a:spLocks xmlns:a="http://schemas.openxmlformats.org/drawingml/2006/main" noGrp="1"/>
          </p:cNvSpPr>
          <p:nvPr/>
        </p:nvSpPr>
        <p:spPr>
          <a:xfrm xmlns:a="http://schemas.openxmlformats.org/drawingml/2006/main">
            <a:off x="571500" y="1285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00" b="1">
                <a:solidFill>
                  <a:srgbClr val="244763"/>
                </a:solidFill>
                <a:latin typeface="Times New Roman"/>
                <a:ea typeface="Times New Roman"/>
                <a:cs typeface="Times New Roman"/>
              </a:defRPr>
            </a:defPPr>
            <a:lvl1pPr algn="l">
              <a:defRPr sz="2700" b="1">
                <a:solidFill>
                  <a:srgbClr val="244763"/>
                </a:solidFill>
                <a:latin typeface="Times New Roman"/>
                <a:ea typeface="Times New Roman"/>
                <a:cs typeface="Times New Roman"/>
              </a:defRPr>
            </a:lvl1pPr>
            <a:lvl2pPr algn="l">
              <a:defRPr sz="2700" b="1">
                <a:solidFill>
                  <a:srgbClr val="244763"/>
                </a:solidFill>
                <a:latin typeface="Times New Roman"/>
                <a:ea typeface="Times New Roman"/>
                <a:cs typeface="Times New Roman"/>
              </a:defRPr>
            </a:lvl2pPr>
            <a:lvl3pPr algn="l">
              <a:defRPr sz="2700" b="1">
                <a:solidFill>
                  <a:srgbClr val="244763"/>
                </a:solidFill>
                <a:latin typeface="Times New Roman"/>
                <a:ea typeface="Times New Roman"/>
                <a:cs typeface="Times New Roman"/>
              </a:defRPr>
            </a:lvl3pPr>
            <a:lvl4pPr algn="l">
              <a:defRPr sz="2700" b="1">
                <a:solidFill>
                  <a:srgbClr val="244763"/>
                </a:solidFill>
                <a:latin typeface="Times New Roman"/>
                <a:ea typeface="Times New Roman"/>
                <a:cs typeface="Times New Roman"/>
              </a:defRPr>
            </a:lvl4pPr>
            <a:lvl5pPr algn="l">
              <a:defRPr sz="2700" b="1">
                <a:solidFill>
                  <a:srgbClr val="244763"/>
                </a:solidFill>
                <a:latin typeface="Times New Roman"/>
                <a:ea typeface="Times New Roman"/>
                <a:cs typeface="Times New Roman"/>
              </a:defRPr>
            </a:lvl5pPr>
            <a:lvl6pPr algn="l">
              <a:defRPr sz="2700" b="1">
                <a:solidFill>
                  <a:srgbClr val="244763"/>
                </a:solidFill>
                <a:latin typeface="Times New Roman"/>
                <a:ea typeface="Times New Roman"/>
                <a:cs typeface="Times New Roman"/>
              </a:defRPr>
            </a:lvl6pPr>
            <a:lvl7pPr algn="l">
              <a:defRPr sz="2700" b="1">
                <a:solidFill>
                  <a:srgbClr val="244763"/>
                </a:solidFill>
                <a:latin typeface="Times New Roman"/>
                <a:ea typeface="Times New Roman"/>
                <a:cs typeface="Times New Roman"/>
              </a:defRPr>
            </a:lvl7pPr>
            <a:lvl8pPr algn="l">
              <a:defRPr sz="2700" b="1">
                <a:solidFill>
                  <a:srgbClr val="244763"/>
                </a:solidFill>
                <a:latin typeface="Times New Roman"/>
                <a:ea typeface="Times New Roman"/>
                <a:cs typeface="Times New Roman"/>
              </a:defRPr>
            </a:lvl8pPr>
            <a:lvl9pPr algn="l">
              <a:defRPr sz="2700" b="1">
                <a:solidFill>
                  <a:srgbClr val="244763"/>
                </a:solidFill>
                <a:latin typeface="Times New Roman"/>
                <a:ea typeface="Times New Roman"/>
                <a:cs typeface="Times New Roman"/>
              </a:defRPr>
            </a:lvl9pPr>
          </a:lstStyle>
          <a:p xmlns:a="http://schemas.openxmlformats.org/drawingml/2006/main">
            <a:pPr algn="l">
              <a:defRPr sz="2700" b="1">
                <a:solidFill>
                  <a:srgbClr val="244763"/>
                </a:solidFill>
                <a:latin typeface="Times New Roman"/>
                <a:ea typeface="Times New Roman"/>
                <a:cs typeface="Times New Roman"/>
              </a:defRPr>
            </a:pPr>
            <a:r>
              <a:rPr sz="2700" b="1">
                <a:solidFill>
                  <a:srgbClr val="244763"/>
                </a:solidFill>
                <a:latin typeface="Times New Roman"/>
                <a:ea typeface="Times New Roman"/>
                <a:cs typeface="Times New Roman"/>
              </a:rPr>
              <a:t>89.69% modeled delay probability</a:t>
            </a:r>
          </a:p>
        </p:txBody>
      </p:sp>
      <p:graphicFrame>
        <p:nvGraphicFramePr>
          <p:cNvPr id="5" name="Chart">
            <a:extLst xmlns:a="http://schemas.openxmlformats.org/drawingml/2006/main">
              <a:ext uri="{FF2B5EF4-FFF2-40B4-BE49-F238E27FC236}">
                <a16:creationId xmlns:a16="http://schemas.microsoft.com/office/drawing/2014/main" id="{DB912ED9-5982-4073-A3DD-DD10C4F34076}"/>
              </a:ext>
            </a:extLst>
          </p:cNvPr>
          <p:cNvGraphicFramePr/>
          <p:nvPr/>
        </p:nvGraphicFramePr>
        <p:xfrm>
          <a:off xmlns:a="http://schemas.openxmlformats.org/drawingml/2006/main" x="333375" y="2095500"/>
          <a:ext xmlns:a="http://schemas.openxmlformats.org/drawingml/2006/main" cx="7477125" cy="3238500"/>
        </p:xfrm>
        <a:graphic xmlns:a="http://schemas.openxmlformats.org/drawingml/2006/main">
          <a:graphicData uri="http://schemas.openxmlformats.org/drawingml/2006/chart">
            <c:chart xmlns:r="http://schemas.openxmlformats.org/officeDocument/2006/relationships" xmlns:c="http://schemas.openxmlformats.org/drawingml/2006/chart" r:id="R329e5af8d5ea4a06"/>
          </a:graphicData>
        </a:graphic>
      </p:graphicFrame>
      <p:sp>
        <p:nvSpPr>
          <p:cNvPr id="6" name="Predefined review actions">
            <a:extLst xmlns:a="http://schemas.openxmlformats.org/drawingml/2006/main">
              <a:ext uri="{FF2B5EF4-FFF2-40B4-BE49-F238E27FC236}">
                <a16:creationId xmlns:a16="http://schemas.microsoft.com/office/drawing/2014/main" id="{3AB6511D-BBCD-4B41-AF7A-08E77B9124CC}"/>
              </a:ext>
            </a:extLst>
          </p:cNvPr>
          <p:cNvSpPr>
            <a:spLocks xmlns:a="http://schemas.openxmlformats.org/drawingml/2006/main" noGrp="1"/>
          </p:cNvSpPr>
          <p:nvPr/>
        </p:nvSpPr>
        <p:spPr>
          <a:xfrm xmlns:a="http://schemas.openxmlformats.org/drawingml/2006/main">
            <a:off x="809625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11111"/>
                </a:solidFill>
                <a:latin typeface="Times New Roman"/>
                <a:ea typeface="Times New Roman"/>
                <a:cs typeface="Times New Roman"/>
              </a:defRPr>
            </a:defPPr>
            <a:lvl1pPr algn="l">
              <a:defRPr sz="2250" b="1">
                <a:solidFill>
                  <a:srgbClr val="111111"/>
                </a:solidFill>
                <a:latin typeface="Times New Roman"/>
                <a:ea typeface="Times New Roman"/>
                <a:cs typeface="Times New Roman"/>
              </a:defRPr>
            </a:lvl1pPr>
            <a:lvl2pPr algn="l">
              <a:defRPr sz="2250" b="1">
                <a:solidFill>
                  <a:srgbClr val="111111"/>
                </a:solidFill>
                <a:latin typeface="Times New Roman"/>
                <a:ea typeface="Times New Roman"/>
                <a:cs typeface="Times New Roman"/>
              </a:defRPr>
            </a:lvl2pPr>
            <a:lvl3pPr algn="l">
              <a:defRPr sz="2250" b="1">
                <a:solidFill>
                  <a:srgbClr val="111111"/>
                </a:solidFill>
                <a:latin typeface="Times New Roman"/>
                <a:ea typeface="Times New Roman"/>
                <a:cs typeface="Times New Roman"/>
              </a:defRPr>
            </a:lvl3pPr>
            <a:lvl4pPr algn="l">
              <a:defRPr sz="2250" b="1">
                <a:solidFill>
                  <a:srgbClr val="111111"/>
                </a:solidFill>
                <a:latin typeface="Times New Roman"/>
                <a:ea typeface="Times New Roman"/>
                <a:cs typeface="Times New Roman"/>
              </a:defRPr>
            </a:lvl4pPr>
            <a:lvl5pPr algn="l">
              <a:defRPr sz="2250" b="1">
                <a:solidFill>
                  <a:srgbClr val="111111"/>
                </a:solidFill>
                <a:latin typeface="Times New Roman"/>
                <a:ea typeface="Times New Roman"/>
                <a:cs typeface="Times New Roman"/>
              </a:defRPr>
            </a:lvl5pPr>
            <a:lvl6pPr algn="l">
              <a:defRPr sz="2250" b="1">
                <a:solidFill>
                  <a:srgbClr val="111111"/>
                </a:solidFill>
                <a:latin typeface="Times New Roman"/>
                <a:ea typeface="Times New Roman"/>
                <a:cs typeface="Times New Roman"/>
              </a:defRPr>
            </a:lvl6pPr>
            <a:lvl7pPr algn="l">
              <a:defRPr sz="2250" b="1">
                <a:solidFill>
                  <a:srgbClr val="111111"/>
                </a:solidFill>
                <a:latin typeface="Times New Roman"/>
                <a:ea typeface="Times New Roman"/>
                <a:cs typeface="Times New Roman"/>
              </a:defRPr>
            </a:lvl7pPr>
            <a:lvl8pPr algn="l">
              <a:defRPr sz="2250" b="1">
                <a:solidFill>
                  <a:srgbClr val="111111"/>
                </a:solidFill>
                <a:latin typeface="Times New Roman"/>
                <a:ea typeface="Times New Roman"/>
                <a:cs typeface="Times New Roman"/>
              </a:defRPr>
            </a:lvl8pPr>
            <a:lvl9pPr algn="l">
              <a:defRPr sz="2250" b="1">
                <a:solidFill>
                  <a:srgbClr val="111111"/>
                </a:solidFill>
                <a:latin typeface="Times New Roman"/>
                <a:ea typeface="Times New Roman"/>
                <a:cs typeface="Times New Roman"/>
              </a:defRPr>
            </a:lvl9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Predefined review actions</a:t>
            </a:r>
          </a:p>
        </p:txBody>
      </p:sp>
      <p:sp>
        <p:nvSpPr>
          <p:cNvPr id="7" name="Check dispatch readiness&#10;&#10;Review fulfilment capacity&#10;&#10;Review">
            <a:extLst xmlns:a="http://schemas.openxmlformats.org/drawingml/2006/main">
              <a:ext uri="{FF2B5EF4-FFF2-40B4-BE49-F238E27FC236}">
                <a16:creationId xmlns:a16="http://schemas.microsoft.com/office/drawing/2014/main" id="{E76E8933-5805-448D-B232-75124217840A}"/>
              </a:ext>
            </a:extLst>
          </p:cNvPr>
          <p:cNvSpPr>
            <a:spLocks xmlns:a="http://schemas.openxmlformats.org/drawingml/2006/main" noGrp="1"/>
          </p:cNvSpPr>
          <p:nvPr/>
        </p:nvSpPr>
        <p:spPr>
          <a:xfrm xmlns:a="http://schemas.openxmlformats.org/drawingml/2006/main">
            <a:off x="8096250" y="2838450"/>
            <a:ext cx="3381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11111"/>
                </a:solidFill>
                <a:latin typeface="Times New Roman"/>
                <a:ea typeface="Times New Roman"/>
                <a:cs typeface="Times New Roman"/>
              </a:defRPr>
            </a:defPPr>
            <a:lvl1pPr algn="l">
              <a:defRPr sz="2025" b="0">
                <a:solidFill>
                  <a:srgbClr val="111111"/>
                </a:solidFill>
                <a:latin typeface="Times New Roman"/>
                <a:ea typeface="Times New Roman"/>
                <a:cs typeface="Times New Roman"/>
              </a:defRPr>
            </a:lvl1pPr>
            <a:lvl2pPr algn="l">
              <a:defRPr sz="2025" b="0">
                <a:solidFill>
                  <a:srgbClr val="111111"/>
                </a:solidFill>
                <a:latin typeface="Times New Roman"/>
                <a:ea typeface="Times New Roman"/>
                <a:cs typeface="Times New Roman"/>
              </a:defRPr>
            </a:lvl2pPr>
            <a:lvl3pPr algn="l">
              <a:defRPr sz="2025" b="0">
                <a:solidFill>
                  <a:srgbClr val="111111"/>
                </a:solidFill>
                <a:latin typeface="Times New Roman"/>
                <a:ea typeface="Times New Roman"/>
                <a:cs typeface="Times New Roman"/>
              </a:defRPr>
            </a:lvl3pPr>
            <a:lvl4pPr algn="l">
              <a:defRPr sz="2025" b="0">
                <a:solidFill>
                  <a:srgbClr val="111111"/>
                </a:solidFill>
                <a:latin typeface="Times New Roman"/>
                <a:ea typeface="Times New Roman"/>
                <a:cs typeface="Times New Roman"/>
              </a:defRPr>
            </a:lvl4pPr>
            <a:lvl5pPr algn="l">
              <a:defRPr sz="2025" b="0">
                <a:solidFill>
                  <a:srgbClr val="111111"/>
                </a:solidFill>
                <a:latin typeface="Times New Roman"/>
                <a:ea typeface="Times New Roman"/>
                <a:cs typeface="Times New Roman"/>
              </a:defRPr>
            </a:lvl5pPr>
            <a:lvl6pPr algn="l">
              <a:defRPr sz="2025" b="0">
                <a:solidFill>
                  <a:srgbClr val="111111"/>
                </a:solidFill>
                <a:latin typeface="Times New Roman"/>
                <a:ea typeface="Times New Roman"/>
                <a:cs typeface="Times New Roman"/>
              </a:defRPr>
            </a:lvl6pPr>
            <a:lvl7pPr algn="l">
              <a:defRPr sz="2025" b="0">
                <a:solidFill>
                  <a:srgbClr val="111111"/>
                </a:solidFill>
                <a:latin typeface="Times New Roman"/>
                <a:ea typeface="Times New Roman"/>
                <a:cs typeface="Times New Roman"/>
              </a:defRPr>
            </a:lvl7pPr>
            <a:lvl8pPr algn="l">
              <a:defRPr sz="2025" b="0">
                <a:solidFill>
                  <a:srgbClr val="111111"/>
                </a:solidFill>
                <a:latin typeface="Times New Roman"/>
                <a:ea typeface="Times New Roman"/>
                <a:cs typeface="Times New Roman"/>
              </a:defRPr>
            </a:lvl8pPr>
            <a:lvl9pPr algn="l">
              <a:defRPr sz="2025" b="0">
                <a:solidFill>
                  <a:srgbClr val="111111"/>
                </a:solidFill>
                <a:latin typeface="Times New Roman"/>
                <a:ea typeface="Times New Roman"/>
                <a:cs typeface="Times New Roman"/>
              </a:defRPr>
            </a:lvl9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Check dispatch readiness</a:t>
            </a:r>
          </a:p>
          <a:p xmlns:a="http://schemas.openxmlformats.org/drawingml/2006/main">
            <a:r>
              <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Review fulfilment capacity</a:t>
            </a:r>
          </a:p>
          <a:p xmlns:a="http://schemas.openxmlformats.org/drawingml/2006/main">
            <a:r>
              <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Review the destination route</a:t>
            </a:r>
          </a:p>
        </p:txBody>
      </p:sp>
      <p:sp>
        <p:nvSpPr>
          <p:cNvPr id="8" name="Reference probability 55.02%; class delayed at threshold 0.5">
            <a:extLst xmlns:a="http://schemas.openxmlformats.org/drawingml/2006/main">
              <a:ext uri="{FF2B5EF4-FFF2-40B4-BE49-F238E27FC236}">
                <a16:creationId xmlns:a16="http://schemas.microsoft.com/office/drawing/2014/main" id="{5CE7C401-15D7-4E38-A278-2CADD47B3C3F}"/>
              </a:ext>
            </a:extLst>
          </p:cNvPr>
          <p:cNvSpPr>
            <a:spLocks xmlns:a="http://schemas.openxmlformats.org/drawingml/2006/main" noGrp="1"/>
          </p:cNvSpPr>
          <p:nvPr/>
        </p:nvSpPr>
        <p:spPr>
          <a:xfrm xmlns:a="http://schemas.openxmlformats.org/drawingml/2006/main">
            <a:off x="571500" y="56388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6616B"/>
                </a:solidFill>
                <a:latin typeface="Times New Roman"/>
                <a:ea typeface="Times New Roman"/>
                <a:cs typeface="Times New Roman"/>
              </a:defRPr>
            </a:defPPr>
            <a:lvl1pPr algn="l">
              <a:defRPr sz="1875" b="0">
                <a:solidFill>
                  <a:srgbClr val="56616B"/>
                </a:solidFill>
                <a:latin typeface="Times New Roman"/>
                <a:ea typeface="Times New Roman"/>
                <a:cs typeface="Times New Roman"/>
              </a:defRPr>
            </a:lvl1pPr>
            <a:lvl2pPr algn="l">
              <a:defRPr sz="1875" b="0">
                <a:solidFill>
                  <a:srgbClr val="56616B"/>
                </a:solidFill>
                <a:latin typeface="Times New Roman"/>
                <a:ea typeface="Times New Roman"/>
                <a:cs typeface="Times New Roman"/>
              </a:defRPr>
            </a:lvl2pPr>
            <a:lvl3pPr algn="l">
              <a:defRPr sz="1875" b="0">
                <a:solidFill>
                  <a:srgbClr val="56616B"/>
                </a:solidFill>
                <a:latin typeface="Times New Roman"/>
                <a:ea typeface="Times New Roman"/>
                <a:cs typeface="Times New Roman"/>
              </a:defRPr>
            </a:lvl3pPr>
            <a:lvl4pPr algn="l">
              <a:defRPr sz="1875" b="0">
                <a:solidFill>
                  <a:srgbClr val="56616B"/>
                </a:solidFill>
                <a:latin typeface="Times New Roman"/>
                <a:ea typeface="Times New Roman"/>
                <a:cs typeface="Times New Roman"/>
              </a:defRPr>
            </a:lvl4pPr>
            <a:lvl5pPr algn="l">
              <a:defRPr sz="1875" b="0">
                <a:solidFill>
                  <a:srgbClr val="56616B"/>
                </a:solidFill>
                <a:latin typeface="Times New Roman"/>
                <a:ea typeface="Times New Roman"/>
                <a:cs typeface="Times New Roman"/>
              </a:defRPr>
            </a:lvl5pPr>
            <a:lvl6pPr algn="l">
              <a:defRPr sz="1875" b="0">
                <a:solidFill>
                  <a:srgbClr val="56616B"/>
                </a:solidFill>
                <a:latin typeface="Times New Roman"/>
                <a:ea typeface="Times New Roman"/>
                <a:cs typeface="Times New Roman"/>
              </a:defRPr>
            </a:lvl6pPr>
            <a:lvl7pPr algn="l">
              <a:defRPr sz="1875" b="0">
                <a:solidFill>
                  <a:srgbClr val="56616B"/>
                </a:solidFill>
                <a:latin typeface="Times New Roman"/>
                <a:ea typeface="Times New Roman"/>
                <a:cs typeface="Times New Roman"/>
              </a:defRPr>
            </a:lvl7pPr>
            <a:lvl8pPr algn="l">
              <a:defRPr sz="1875" b="0">
                <a:solidFill>
                  <a:srgbClr val="56616B"/>
                </a:solidFill>
                <a:latin typeface="Times New Roman"/>
                <a:ea typeface="Times New Roman"/>
                <a:cs typeface="Times New Roman"/>
              </a:defRPr>
            </a:lvl8pPr>
            <a:lvl9pPr algn="l">
              <a:defRPr sz="1875" b="0">
                <a:solidFill>
                  <a:srgbClr val="56616B"/>
                </a:solidFill>
                <a:latin typeface="Times New Roman"/>
                <a:ea typeface="Times New Roman"/>
                <a:cs typeface="Times New Roman"/>
              </a:defRPr>
            </a:lvl9pPr>
          </a:lstStyle>
          <a:p xmlns:a="http://schemas.openxmlformats.org/drawingml/2006/main">
            <a:pPr algn="l">
              <a:defRPr sz="1875" b="0">
                <a:solidFill>
                  <a:srgbClr val="56616B"/>
                </a:solidFill>
                <a:latin typeface="Times New Roman"/>
                <a:ea typeface="Times New Roman"/>
                <a:cs typeface="Times New Roman"/>
              </a:defRPr>
            </a:pPr>
            <a:r>
              <a:rPr sz="1875" b="0">
                <a:solidFill>
                  <a:srgbClr val="56616B"/>
                </a:solidFill>
                <a:latin typeface="Times New Roman"/>
                <a:ea typeface="Times New Roman"/>
                <a:cs typeface="Times New Roman"/>
              </a:rPr>
              <a:t>Reference probability 55.02%; class delayed at threshold 0.50.</a:t>
            </a:r>
          </a:p>
          <a:p xmlns:a="http://schemas.openxmlformats.org/drawingml/2006/main">
            <a:pPr algn="l">
              <a:defRPr sz="1875" b="0">
                <a:solidFill>
                  <a:srgbClr val="56616B"/>
                </a:solidFill>
                <a:latin typeface="Times New Roman"/>
                <a:ea typeface="Times New Roman"/>
                <a:cs typeface="Times New Roman"/>
              </a:defRPr>
            </a:pPr>
            <a:r>
              <a:rPr sz="1875" b="0">
                <a:solidFill>
                  <a:srgbClr val="56616B"/>
                </a:solidFill>
                <a:latin typeface="Times New Roman"/>
                <a:ea typeface="Times New Roman"/>
                <a:cs typeface="Times New Roman"/>
              </a:rPr>
              <a:t>Signed SHAP explains this prediction. Suggested actions are not proven risk reductions.</a:t>
            </a:r>
          </a:p>
        </p:txBody>
      </p:sp>
    </p:spTree>
    <p:extLst>
      <p:ext uri="{BB962C8B-B14F-4D97-AF65-F5344CB8AC3E}">
        <p14:creationId xmlns:p14="http://schemas.microsoft.com/office/powerpoint/2010/main" val="20973665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tegrated dashboard demonstration">
            <a:extLst xmlns:a="http://schemas.openxmlformats.org/drawingml/2006/main">
              <a:ext uri="{FF2B5EF4-FFF2-40B4-BE49-F238E27FC236}">
                <a16:creationId xmlns:a16="http://schemas.microsoft.com/office/drawing/2014/main" id="{73E0FE8C-1DA8-4242-BA67-EF27922571FB}"/>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Integrated dashboard demonstration</a:t>
            </a:r>
          </a:p>
        </p:txBody>
      </p:sp>
      <p:sp>
        <p:nvSpPr>
          <p:cNvPr id="2" name="BCSE402L  Big Data Analytics  |  DA3  |  20 October 2026">
            <a:extLst xmlns:a="http://schemas.openxmlformats.org/drawingml/2006/main">
              <a:ext uri="{FF2B5EF4-FFF2-40B4-BE49-F238E27FC236}">
                <a16:creationId xmlns:a16="http://schemas.microsoft.com/office/drawing/2014/main" id="{68CEE964-43B4-4C7D-B43D-D457EE54AE8C}"/>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10">
            <a:extLst xmlns:a="http://schemas.openxmlformats.org/drawingml/2006/main">
              <a:ext uri="{FF2B5EF4-FFF2-40B4-BE49-F238E27FC236}">
                <a16:creationId xmlns:a16="http://schemas.microsoft.com/office/drawing/2014/main" id="{A62172D0-2CD4-44FD-BDC9-7B44895E4B54}"/>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10</a:t>
            </a:r>
          </a:p>
        </p:txBody>
      </p:sp>
      <p:pic>
        <p:nvPicPr>
          <p:cNvPr id="4" name="">
            <a:extLst xmlns:a="http://schemas.openxmlformats.org/drawingml/2006/main">
              <a:ext uri="{FF2B5EF4-FFF2-40B4-BE49-F238E27FC236}">
                <a16:creationId xmlns:a16="http://schemas.microsoft.com/office/drawing/2014/main" id="{56EC5ADC-531B-420B-8022-6B2BA56575C9}"/>
              </a:ext>
            </a:extLst>
          </p:cNvPr>
          <p:cNvPicPr>
            <a:picLocks xmlns:a="http://schemas.openxmlformats.org/drawingml/2006/main" noChangeAspect="1"/>
          </p:cNvPicPr>
          <p:nvPr/>
        </p:nvPicPr>
        <p:blipFill>
          <a:blip xmlns:r="http://schemas.openxmlformats.org/officeDocument/2006/relationships" xmlns:a="http://schemas.openxmlformats.org/drawingml/2006/main" r:embed="R8d6633e8b54c40dd"/>
          <a:stretch xmlns:a="http://schemas.openxmlformats.org/drawingml/2006/main"/>
        </p:blipFill>
        <p:spPr>
          <a:xfrm xmlns:a="http://schemas.openxmlformats.org/drawingml/2006/main">
            <a:off x="1333500" y="1333500"/>
            <a:ext cx="9429750" cy="4191000"/>
          </a:xfrm>
          <a:prstGeom xmlns:a="http://schemas.openxmlformats.org/drawingml/2006/main" prst="rect">
            <a:avLst/>
          </a:prstGeom>
        </p:spPr>
      </p:pic>
      <p:sp>
        <p:nvSpPr>
          <p:cNvPr id="5" name="Overview → Delay Analytics → Model Evaluation → Model Explai">
            <a:extLst xmlns:a="http://schemas.openxmlformats.org/drawingml/2006/main">
              <a:ext uri="{FF2B5EF4-FFF2-40B4-BE49-F238E27FC236}">
                <a16:creationId xmlns:a16="http://schemas.microsoft.com/office/drawing/2014/main" id="{C02638B3-7FFF-4789-98A0-D75BFBD8CE8B}"/>
              </a:ext>
            </a:extLst>
          </p:cNvPr>
          <p:cNvSpPr>
            <a:spLocks xmlns:a="http://schemas.openxmlformats.org/drawingml/2006/main" noGrp="1"/>
          </p:cNvSpPr>
          <p:nvPr/>
        </p:nvSpPr>
        <p:spPr>
          <a:xfrm xmlns:a="http://schemas.openxmlformats.org/drawingml/2006/main">
            <a:off x="571500" y="57912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0">
                <a:solidFill>
                  <a:srgbClr val="244763"/>
                </a:solidFill>
                <a:latin typeface="Times New Roman"/>
                <a:ea typeface="Times New Roman"/>
                <a:cs typeface="Times New Roman"/>
              </a:defRPr>
            </a:defPPr>
            <a:lvl1pPr algn="ctr">
              <a:defRPr sz="1875" b="0">
                <a:solidFill>
                  <a:srgbClr val="244763"/>
                </a:solidFill>
                <a:latin typeface="Times New Roman"/>
                <a:ea typeface="Times New Roman"/>
                <a:cs typeface="Times New Roman"/>
              </a:defRPr>
            </a:lvl1pPr>
            <a:lvl2pPr algn="ctr">
              <a:defRPr sz="1875" b="0">
                <a:solidFill>
                  <a:srgbClr val="244763"/>
                </a:solidFill>
                <a:latin typeface="Times New Roman"/>
                <a:ea typeface="Times New Roman"/>
                <a:cs typeface="Times New Roman"/>
              </a:defRPr>
            </a:lvl2pPr>
            <a:lvl3pPr algn="ctr">
              <a:defRPr sz="1875" b="0">
                <a:solidFill>
                  <a:srgbClr val="244763"/>
                </a:solidFill>
                <a:latin typeface="Times New Roman"/>
                <a:ea typeface="Times New Roman"/>
                <a:cs typeface="Times New Roman"/>
              </a:defRPr>
            </a:lvl3pPr>
            <a:lvl4pPr algn="ctr">
              <a:defRPr sz="1875" b="0">
                <a:solidFill>
                  <a:srgbClr val="244763"/>
                </a:solidFill>
                <a:latin typeface="Times New Roman"/>
                <a:ea typeface="Times New Roman"/>
                <a:cs typeface="Times New Roman"/>
              </a:defRPr>
            </a:lvl4pPr>
            <a:lvl5pPr algn="ctr">
              <a:defRPr sz="1875" b="0">
                <a:solidFill>
                  <a:srgbClr val="244763"/>
                </a:solidFill>
                <a:latin typeface="Times New Roman"/>
                <a:ea typeface="Times New Roman"/>
                <a:cs typeface="Times New Roman"/>
              </a:defRPr>
            </a:lvl5pPr>
            <a:lvl6pPr algn="ctr">
              <a:defRPr sz="1875" b="0">
                <a:solidFill>
                  <a:srgbClr val="244763"/>
                </a:solidFill>
                <a:latin typeface="Times New Roman"/>
                <a:ea typeface="Times New Roman"/>
                <a:cs typeface="Times New Roman"/>
              </a:defRPr>
            </a:lvl6pPr>
            <a:lvl7pPr algn="ctr">
              <a:defRPr sz="1875" b="0">
                <a:solidFill>
                  <a:srgbClr val="244763"/>
                </a:solidFill>
                <a:latin typeface="Times New Roman"/>
                <a:ea typeface="Times New Roman"/>
                <a:cs typeface="Times New Roman"/>
              </a:defRPr>
            </a:lvl7pPr>
            <a:lvl8pPr algn="ctr">
              <a:defRPr sz="1875" b="0">
                <a:solidFill>
                  <a:srgbClr val="244763"/>
                </a:solidFill>
                <a:latin typeface="Times New Roman"/>
                <a:ea typeface="Times New Roman"/>
                <a:cs typeface="Times New Roman"/>
              </a:defRPr>
            </a:lvl8pPr>
            <a:lvl9pPr algn="ctr">
              <a:defRPr sz="1875" b="0">
                <a:solidFill>
                  <a:srgbClr val="244763"/>
                </a:solidFill>
                <a:latin typeface="Times New Roman"/>
                <a:ea typeface="Times New Roman"/>
                <a:cs typeface="Times New Roman"/>
              </a:defRPr>
            </a:lvl9pPr>
          </a:lstStyle>
          <a:p xmlns:a="http://schemas.openxmlformats.org/drawingml/2006/main">
            <a:pPr algn="ctr">
              <a:defRPr sz="1875" b="0">
                <a:solidFill>
                  <a:srgbClr val="244763"/>
                </a:solidFill>
                <a:latin typeface="Times New Roman"/>
                <a:ea typeface="Times New Roman"/>
                <a:cs typeface="Times New Roman"/>
              </a:defRPr>
            </a:pPr>
            <a:r>
              <a:rPr sz="1875" b="0">
                <a:solidFill>
                  <a:srgbClr val="244763"/>
                </a:solidFill>
                <a:latin typeface="Times New Roman"/>
                <a:ea typeface="Times New Roman"/>
                <a:cs typeface="Times New Roman"/>
              </a:rPr>
              <a:t>Overview → Delay Analytics → Model Evaluation → Model Explainability → SQL Analytics</a:t>
            </a:r>
          </a:p>
        </p:txBody>
      </p:sp>
    </p:spTree>
    <p:extLst>
      <p:ext uri="{BB962C8B-B14F-4D97-AF65-F5344CB8AC3E}">
        <p14:creationId xmlns:p14="http://schemas.microsoft.com/office/powerpoint/2010/main" val="7698096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roq assistance and validated Spark SQL">
            <a:extLst xmlns:a="http://schemas.openxmlformats.org/drawingml/2006/main">
              <a:ext uri="{FF2B5EF4-FFF2-40B4-BE49-F238E27FC236}">
                <a16:creationId xmlns:a16="http://schemas.microsoft.com/office/drawing/2014/main" id="{26C02BC3-000B-4175-9ADB-E0648C27DE66}"/>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Groq assistance and validated Spark SQL</a:t>
            </a:r>
          </a:p>
        </p:txBody>
      </p:sp>
      <p:sp>
        <p:nvSpPr>
          <p:cNvPr id="2" name="BCSE402L  Big Data Analytics  |  DA3  |  20 October 2026">
            <a:extLst xmlns:a="http://schemas.openxmlformats.org/drawingml/2006/main">
              <a:ext uri="{FF2B5EF4-FFF2-40B4-BE49-F238E27FC236}">
                <a16:creationId xmlns:a16="http://schemas.microsoft.com/office/drawing/2014/main" id="{28CAF233-81FB-45FB-B1BC-646A2B0F9D0B}"/>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11">
            <a:extLst xmlns:a="http://schemas.openxmlformats.org/drawingml/2006/main">
              <a:ext uri="{FF2B5EF4-FFF2-40B4-BE49-F238E27FC236}">
                <a16:creationId xmlns:a16="http://schemas.microsoft.com/office/drawing/2014/main" id="{F2B5B50C-64B3-49E6-A6FD-8D3F4702FECA}"/>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11</a:t>
            </a:r>
          </a:p>
        </p:txBody>
      </p:sp>
      <p:pic>
        <p:nvPicPr>
          <p:cNvPr id="4" name="">
            <a:extLst xmlns:a="http://schemas.openxmlformats.org/drawingml/2006/main">
              <a:ext uri="{FF2B5EF4-FFF2-40B4-BE49-F238E27FC236}">
                <a16:creationId xmlns:a16="http://schemas.microsoft.com/office/drawing/2014/main" id="{E2D9201F-F48D-4400-B0DB-46BB067482FB}"/>
              </a:ext>
            </a:extLst>
          </p:cNvPr>
          <p:cNvPicPr>
            <a:picLocks xmlns:a="http://schemas.openxmlformats.org/drawingml/2006/main" noChangeAspect="1"/>
          </p:cNvPicPr>
          <p:nvPr/>
        </p:nvPicPr>
        <p:blipFill>
          <a:blip xmlns:r="http://schemas.openxmlformats.org/officeDocument/2006/relationships" xmlns:a="http://schemas.openxmlformats.org/drawingml/2006/main" r:embed="Rf99c291d17e04b18"/>
          <a:stretch xmlns:a="http://schemas.openxmlformats.org/drawingml/2006/main"/>
        </p:blipFill>
        <p:spPr>
          <a:xfrm xmlns:a="http://schemas.openxmlformats.org/drawingml/2006/main">
            <a:off x="571500" y="1809750"/>
            <a:ext cx="7620000" cy="3048000"/>
          </a:xfrm>
          <a:prstGeom xmlns:a="http://schemas.openxmlformats.org/drawingml/2006/main" prst="rect">
            <a:avLst/>
          </a:prstGeom>
        </p:spPr>
      </p:pic>
      <p:sp>
        <p:nvSpPr>
          <p:cNvPr id="5" name="Operator summary">
            <a:extLst xmlns:a="http://schemas.openxmlformats.org/drawingml/2006/main">
              <a:ext uri="{FF2B5EF4-FFF2-40B4-BE49-F238E27FC236}">
                <a16:creationId xmlns:a16="http://schemas.microsoft.com/office/drawing/2014/main" id="{BD9A274E-4B98-4CF3-A941-E1C593952050}"/>
              </a:ext>
            </a:extLst>
          </p:cNvPr>
          <p:cNvSpPr>
            <a:spLocks xmlns:a="http://schemas.openxmlformats.org/drawingml/2006/main" noGrp="1"/>
          </p:cNvSpPr>
          <p:nvPr/>
        </p:nvSpPr>
        <p:spPr>
          <a:xfrm xmlns:a="http://schemas.openxmlformats.org/drawingml/2006/main">
            <a:off x="8715375" y="15240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latin typeface="Times New Roman"/>
                <a:ea typeface="Times New Roman"/>
                <a:cs typeface="Times New Roman"/>
              </a:defRPr>
            </a:defPPr>
            <a:lvl1pPr algn="l">
              <a:defRPr sz="2325" b="1">
                <a:solidFill>
                  <a:srgbClr val="111111"/>
                </a:solidFill>
                <a:latin typeface="Times New Roman"/>
                <a:ea typeface="Times New Roman"/>
                <a:cs typeface="Times New Roman"/>
              </a:defRPr>
            </a:lvl1pPr>
            <a:lvl2pPr algn="l">
              <a:defRPr sz="2325" b="1">
                <a:solidFill>
                  <a:srgbClr val="111111"/>
                </a:solidFill>
                <a:latin typeface="Times New Roman"/>
                <a:ea typeface="Times New Roman"/>
                <a:cs typeface="Times New Roman"/>
              </a:defRPr>
            </a:lvl2pPr>
            <a:lvl3pPr algn="l">
              <a:defRPr sz="2325" b="1">
                <a:solidFill>
                  <a:srgbClr val="111111"/>
                </a:solidFill>
                <a:latin typeface="Times New Roman"/>
                <a:ea typeface="Times New Roman"/>
                <a:cs typeface="Times New Roman"/>
              </a:defRPr>
            </a:lvl3pPr>
            <a:lvl4pPr algn="l">
              <a:defRPr sz="2325" b="1">
                <a:solidFill>
                  <a:srgbClr val="111111"/>
                </a:solidFill>
                <a:latin typeface="Times New Roman"/>
                <a:ea typeface="Times New Roman"/>
                <a:cs typeface="Times New Roman"/>
              </a:defRPr>
            </a:lvl4pPr>
            <a:lvl5pPr algn="l">
              <a:defRPr sz="2325" b="1">
                <a:solidFill>
                  <a:srgbClr val="111111"/>
                </a:solidFill>
                <a:latin typeface="Times New Roman"/>
                <a:ea typeface="Times New Roman"/>
                <a:cs typeface="Times New Roman"/>
              </a:defRPr>
            </a:lvl5pPr>
            <a:lvl6pPr algn="l">
              <a:defRPr sz="2325" b="1">
                <a:solidFill>
                  <a:srgbClr val="111111"/>
                </a:solidFill>
                <a:latin typeface="Times New Roman"/>
                <a:ea typeface="Times New Roman"/>
                <a:cs typeface="Times New Roman"/>
              </a:defRPr>
            </a:lvl6pPr>
            <a:lvl7pPr algn="l">
              <a:defRPr sz="2325" b="1">
                <a:solidFill>
                  <a:srgbClr val="111111"/>
                </a:solidFill>
                <a:latin typeface="Times New Roman"/>
                <a:ea typeface="Times New Roman"/>
                <a:cs typeface="Times New Roman"/>
              </a:defRPr>
            </a:lvl7pPr>
            <a:lvl8pPr algn="l">
              <a:defRPr sz="2325" b="1">
                <a:solidFill>
                  <a:srgbClr val="111111"/>
                </a:solidFill>
                <a:latin typeface="Times New Roman"/>
                <a:ea typeface="Times New Roman"/>
                <a:cs typeface="Times New Roman"/>
              </a:defRPr>
            </a:lvl8pPr>
            <a:lvl9pPr algn="l">
              <a:defRPr sz="2325" b="1">
                <a:solidFill>
                  <a:srgbClr val="111111"/>
                </a:solidFill>
                <a:latin typeface="Times New Roman"/>
                <a:ea typeface="Times New Roman"/>
                <a:cs typeface="Times New Roman"/>
              </a:defRPr>
            </a:lvl9pPr>
          </a:lstStyle>
          <a:p xmlns:a="http://schemas.openxmlformats.org/drawingml/2006/main">
            <a:pPr algn="l">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Operator summary</a:t>
            </a:r>
          </a:p>
        </p:txBody>
      </p:sp>
      <p:sp>
        <p:nvSpPr>
          <p:cNvPr id="6" name="Requested explicitly&#10;Grounded in prediction,&#10;SHAP and predef">
            <a:extLst xmlns:a="http://schemas.openxmlformats.org/drawingml/2006/main">
              <a:ext uri="{FF2B5EF4-FFF2-40B4-BE49-F238E27FC236}">
                <a16:creationId xmlns:a16="http://schemas.microsoft.com/office/drawing/2014/main" id="{D12B833A-E5AB-4592-8AF4-8FCA48553944}"/>
              </a:ext>
            </a:extLst>
          </p:cNvPr>
          <p:cNvSpPr>
            <a:spLocks xmlns:a="http://schemas.openxmlformats.org/drawingml/2006/main" noGrp="1"/>
          </p:cNvSpPr>
          <p:nvPr/>
        </p:nvSpPr>
        <p:spPr>
          <a:xfrm xmlns:a="http://schemas.openxmlformats.org/drawingml/2006/main">
            <a:off x="8715375" y="2143125"/>
            <a:ext cx="285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11111"/>
                </a:solidFill>
                <a:latin typeface="Times New Roman"/>
                <a:ea typeface="Times New Roman"/>
                <a:cs typeface="Times New Roman"/>
              </a:defRPr>
            </a:defPPr>
            <a:lvl1pPr algn="l">
              <a:defRPr sz="1950" b="0">
                <a:solidFill>
                  <a:srgbClr val="111111"/>
                </a:solidFill>
                <a:latin typeface="Times New Roman"/>
                <a:ea typeface="Times New Roman"/>
                <a:cs typeface="Times New Roman"/>
              </a:defRPr>
            </a:lvl1pPr>
            <a:lvl2pPr algn="l">
              <a:defRPr sz="1950" b="0">
                <a:solidFill>
                  <a:srgbClr val="111111"/>
                </a:solidFill>
                <a:latin typeface="Times New Roman"/>
                <a:ea typeface="Times New Roman"/>
                <a:cs typeface="Times New Roman"/>
              </a:defRPr>
            </a:lvl2pPr>
            <a:lvl3pPr algn="l">
              <a:defRPr sz="1950" b="0">
                <a:solidFill>
                  <a:srgbClr val="111111"/>
                </a:solidFill>
                <a:latin typeface="Times New Roman"/>
                <a:ea typeface="Times New Roman"/>
                <a:cs typeface="Times New Roman"/>
              </a:defRPr>
            </a:lvl3pPr>
            <a:lvl4pPr algn="l">
              <a:defRPr sz="1950" b="0">
                <a:solidFill>
                  <a:srgbClr val="111111"/>
                </a:solidFill>
                <a:latin typeface="Times New Roman"/>
                <a:ea typeface="Times New Roman"/>
                <a:cs typeface="Times New Roman"/>
              </a:defRPr>
            </a:lvl4pPr>
            <a:lvl5pPr algn="l">
              <a:defRPr sz="1950" b="0">
                <a:solidFill>
                  <a:srgbClr val="111111"/>
                </a:solidFill>
                <a:latin typeface="Times New Roman"/>
                <a:ea typeface="Times New Roman"/>
                <a:cs typeface="Times New Roman"/>
              </a:defRPr>
            </a:lvl5pPr>
            <a:lvl6pPr algn="l">
              <a:defRPr sz="1950" b="0">
                <a:solidFill>
                  <a:srgbClr val="111111"/>
                </a:solidFill>
                <a:latin typeface="Times New Roman"/>
                <a:ea typeface="Times New Roman"/>
                <a:cs typeface="Times New Roman"/>
              </a:defRPr>
            </a:lvl6pPr>
            <a:lvl7pPr algn="l">
              <a:defRPr sz="1950" b="0">
                <a:solidFill>
                  <a:srgbClr val="111111"/>
                </a:solidFill>
                <a:latin typeface="Times New Roman"/>
                <a:ea typeface="Times New Roman"/>
                <a:cs typeface="Times New Roman"/>
              </a:defRPr>
            </a:lvl7pPr>
            <a:lvl8pPr algn="l">
              <a:defRPr sz="1950" b="0">
                <a:solidFill>
                  <a:srgbClr val="111111"/>
                </a:solidFill>
                <a:latin typeface="Times New Roman"/>
                <a:ea typeface="Times New Roman"/>
                <a:cs typeface="Times New Roman"/>
              </a:defRPr>
            </a:lvl8pPr>
            <a:lvl9pPr algn="l">
              <a:defRPr sz="1950" b="0">
                <a:solidFill>
                  <a:srgbClr val="111111"/>
                </a:solidFill>
                <a:latin typeface="Times New Roman"/>
                <a:ea typeface="Times New Roman"/>
                <a:cs typeface="Times New Roman"/>
              </a:defRPr>
            </a:lvl9pPr>
          </a:lstStyle>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Requested explicitly</a:t>
            </a:r>
          </a:p>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Grounded in prediction,</a:t>
            </a:r>
          </a:p>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SHAP and predefined rules</a:t>
            </a:r>
          </a:p>
          <a:p xmlns:a="http://schemas.openxmlformats.org/drawingml/2006/main">
            <a:r>
              <a:t/>
            </a:r>
          </a:p>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API key stays on backend</a:t>
            </a:r>
          </a:p>
        </p:txBody>
      </p:sp>
      <p:sp>
        <p:nvSpPr>
          <p:cNvPr id="7" name="Natural language → Groq SQL → validation → Spark execution →">
            <a:extLst xmlns:a="http://schemas.openxmlformats.org/drawingml/2006/main">
              <a:ext uri="{FF2B5EF4-FFF2-40B4-BE49-F238E27FC236}">
                <a16:creationId xmlns:a16="http://schemas.microsoft.com/office/drawing/2014/main" id="{AB1E34C4-215C-4D94-8967-FDCDC19C2CEC}"/>
              </a:ext>
            </a:extLst>
          </p:cNvPr>
          <p:cNvSpPr>
            <a:spLocks xmlns:a="http://schemas.openxmlformats.org/drawingml/2006/main" noGrp="1"/>
          </p:cNvSpPr>
          <p:nvPr/>
        </p:nvSpPr>
        <p:spPr>
          <a:xfrm xmlns:a="http://schemas.openxmlformats.org/drawingml/2006/main">
            <a:off x="571500" y="55054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1">
                <a:solidFill>
                  <a:srgbClr val="244763"/>
                </a:solidFill>
                <a:latin typeface="Times New Roman"/>
                <a:ea typeface="Times New Roman"/>
                <a:cs typeface="Times New Roman"/>
              </a:defRPr>
            </a:defPPr>
            <a:lvl1pPr algn="ctr">
              <a:defRPr sz="2175" b="1">
                <a:solidFill>
                  <a:srgbClr val="244763"/>
                </a:solidFill>
                <a:latin typeface="Times New Roman"/>
                <a:ea typeface="Times New Roman"/>
                <a:cs typeface="Times New Roman"/>
              </a:defRPr>
            </a:lvl1pPr>
            <a:lvl2pPr algn="ctr">
              <a:defRPr sz="2175" b="1">
                <a:solidFill>
                  <a:srgbClr val="244763"/>
                </a:solidFill>
                <a:latin typeface="Times New Roman"/>
                <a:ea typeface="Times New Roman"/>
                <a:cs typeface="Times New Roman"/>
              </a:defRPr>
            </a:lvl2pPr>
            <a:lvl3pPr algn="ctr">
              <a:defRPr sz="2175" b="1">
                <a:solidFill>
                  <a:srgbClr val="244763"/>
                </a:solidFill>
                <a:latin typeface="Times New Roman"/>
                <a:ea typeface="Times New Roman"/>
                <a:cs typeface="Times New Roman"/>
              </a:defRPr>
            </a:lvl3pPr>
            <a:lvl4pPr algn="ctr">
              <a:defRPr sz="2175" b="1">
                <a:solidFill>
                  <a:srgbClr val="244763"/>
                </a:solidFill>
                <a:latin typeface="Times New Roman"/>
                <a:ea typeface="Times New Roman"/>
                <a:cs typeface="Times New Roman"/>
              </a:defRPr>
            </a:lvl4pPr>
            <a:lvl5pPr algn="ctr">
              <a:defRPr sz="2175" b="1">
                <a:solidFill>
                  <a:srgbClr val="244763"/>
                </a:solidFill>
                <a:latin typeface="Times New Roman"/>
                <a:ea typeface="Times New Roman"/>
                <a:cs typeface="Times New Roman"/>
              </a:defRPr>
            </a:lvl5pPr>
            <a:lvl6pPr algn="ctr">
              <a:defRPr sz="2175" b="1">
                <a:solidFill>
                  <a:srgbClr val="244763"/>
                </a:solidFill>
                <a:latin typeface="Times New Roman"/>
                <a:ea typeface="Times New Roman"/>
                <a:cs typeface="Times New Roman"/>
              </a:defRPr>
            </a:lvl6pPr>
            <a:lvl7pPr algn="ctr">
              <a:defRPr sz="2175" b="1">
                <a:solidFill>
                  <a:srgbClr val="244763"/>
                </a:solidFill>
                <a:latin typeface="Times New Roman"/>
                <a:ea typeface="Times New Roman"/>
                <a:cs typeface="Times New Roman"/>
              </a:defRPr>
            </a:lvl7pPr>
            <a:lvl8pPr algn="ctr">
              <a:defRPr sz="2175" b="1">
                <a:solidFill>
                  <a:srgbClr val="244763"/>
                </a:solidFill>
                <a:latin typeface="Times New Roman"/>
                <a:ea typeface="Times New Roman"/>
                <a:cs typeface="Times New Roman"/>
              </a:defRPr>
            </a:lvl8pPr>
            <a:lvl9pPr algn="ctr">
              <a:defRPr sz="2175" b="1">
                <a:solidFill>
                  <a:srgbClr val="244763"/>
                </a:solidFill>
                <a:latin typeface="Times New Roman"/>
                <a:ea typeface="Times New Roman"/>
                <a:cs typeface="Times New Roman"/>
              </a:defRPr>
            </a:lvl9pPr>
          </a:lstStyle>
          <a:p xmlns:a="http://schemas.openxmlformats.org/drawingml/2006/main">
            <a:pPr algn="ctr">
              <a:defRPr sz="2175" b="1">
                <a:solidFill>
                  <a:srgbClr val="244763"/>
                </a:solidFill>
                <a:latin typeface="Times New Roman"/>
                <a:ea typeface="Times New Roman"/>
                <a:cs typeface="Times New Roman"/>
              </a:defRPr>
            </a:pPr>
            <a:r>
              <a:rPr sz="2175" b="1">
                <a:solidFill>
                  <a:srgbClr val="244763"/>
                </a:solidFill>
                <a:latin typeface="Times New Roman"/>
                <a:ea typeface="Times New Roman"/>
                <a:cs typeface="Times New Roman"/>
              </a:rPr>
              <a:t>Natural language → Groq SQL → validation → Spark execution → actual results</a:t>
            </a:r>
          </a:p>
        </p:txBody>
      </p:sp>
    </p:spTree>
    <p:extLst>
      <p:ext uri="{BB962C8B-B14F-4D97-AF65-F5344CB8AC3E}">
        <p14:creationId xmlns:p14="http://schemas.microsoft.com/office/powerpoint/2010/main" val="6495679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clusion and Q and A">
            <a:extLst xmlns:a="http://schemas.openxmlformats.org/drawingml/2006/main">
              <a:ext uri="{FF2B5EF4-FFF2-40B4-BE49-F238E27FC236}">
                <a16:creationId xmlns:a16="http://schemas.microsoft.com/office/drawing/2014/main" id="{A5D509A7-9852-4209-B8A5-ABD5B1B1A978}"/>
              </a:ext>
            </a:extLst>
          </p:cNvPr>
          <p:cNvSpPr>
            <a:spLocks xmlns:a="http://schemas.openxmlformats.org/drawingml/2006/main" noGrp="1"/>
          </p:cNvSpPr>
          <p:nvPr/>
        </p:nvSpPr>
        <p:spPr>
          <a:xfrm xmlns:a="http://schemas.openxmlformats.org/drawingml/2006/main">
            <a:off x="5715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111111"/>
                </a:solidFill>
                <a:latin typeface="Times New Roman"/>
                <a:ea typeface="Times New Roman"/>
                <a:cs typeface="Times New Roman"/>
              </a:defRPr>
            </a:defPPr>
            <a:lvl1pPr algn="l">
              <a:defRPr sz="3225" b="1">
                <a:solidFill>
                  <a:srgbClr val="111111"/>
                </a:solidFill>
                <a:latin typeface="Times New Roman"/>
                <a:ea typeface="Times New Roman"/>
                <a:cs typeface="Times New Roman"/>
              </a:defRPr>
            </a:lvl1pPr>
            <a:lvl2pPr algn="l">
              <a:defRPr sz="3225" b="1">
                <a:solidFill>
                  <a:srgbClr val="111111"/>
                </a:solidFill>
                <a:latin typeface="Times New Roman"/>
                <a:ea typeface="Times New Roman"/>
                <a:cs typeface="Times New Roman"/>
              </a:defRPr>
            </a:lvl2pPr>
            <a:lvl3pPr algn="l">
              <a:defRPr sz="3225" b="1">
                <a:solidFill>
                  <a:srgbClr val="111111"/>
                </a:solidFill>
                <a:latin typeface="Times New Roman"/>
                <a:ea typeface="Times New Roman"/>
                <a:cs typeface="Times New Roman"/>
              </a:defRPr>
            </a:lvl3pPr>
            <a:lvl4pPr algn="l">
              <a:defRPr sz="3225" b="1">
                <a:solidFill>
                  <a:srgbClr val="111111"/>
                </a:solidFill>
                <a:latin typeface="Times New Roman"/>
                <a:ea typeface="Times New Roman"/>
                <a:cs typeface="Times New Roman"/>
              </a:defRPr>
            </a:lvl4pPr>
            <a:lvl5pPr algn="l">
              <a:defRPr sz="3225" b="1">
                <a:solidFill>
                  <a:srgbClr val="111111"/>
                </a:solidFill>
                <a:latin typeface="Times New Roman"/>
                <a:ea typeface="Times New Roman"/>
                <a:cs typeface="Times New Roman"/>
              </a:defRPr>
            </a:lvl5pPr>
            <a:lvl6pPr algn="l">
              <a:defRPr sz="3225" b="1">
                <a:solidFill>
                  <a:srgbClr val="111111"/>
                </a:solidFill>
                <a:latin typeface="Times New Roman"/>
                <a:ea typeface="Times New Roman"/>
                <a:cs typeface="Times New Roman"/>
              </a:defRPr>
            </a:lvl6pPr>
            <a:lvl7pPr algn="l">
              <a:defRPr sz="3225" b="1">
                <a:solidFill>
                  <a:srgbClr val="111111"/>
                </a:solidFill>
                <a:latin typeface="Times New Roman"/>
                <a:ea typeface="Times New Roman"/>
                <a:cs typeface="Times New Roman"/>
              </a:defRPr>
            </a:lvl7pPr>
            <a:lvl8pPr algn="l">
              <a:defRPr sz="3225" b="1">
                <a:solidFill>
                  <a:srgbClr val="111111"/>
                </a:solidFill>
                <a:latin typeface="Times New Roman"/>
                <a:ea typeface="Times New Roman"/>
                <a:cs typeface="Times New Roman"/>
              </a:defRPr>
            </a:lvl8pPr>
            <a:lvl9pPr algn="l">
              <a:defRPr sz="3225" b="1">
                <a:solidFill>
                  <a:srgbClr val="111111"/>
                </a:solidFill>
                <a:latin typeface="Times New Roman"/>
                <a:ea typeface="Times New Roman"/>
                <a:cs typeface="Times New Roman"/>
              </a:defRPr>
            </a:lvl9pPr>
          </a:lstStyle>
          <a:p xmlns:a="http://schemas.openxmlformats.org/drawingml/2006/main">
            <a:pPr algn="l">
              <a:defRPr sz="3225" b="1">
                <a:solidFill>
                  <a:srgbClr val="111111"/>
                </a:solidFill>
                <a:latin typeface="Times New Roman"/>
                <a:ea typeface="Times New Roman"/>
                <a:cs typeface="Times New Roman"/>
              </a:defRPr>
            </a:pPr>
            <a:r>
              <a:rPr sz="3225" b="1">
                <a:solidFill>
                  <a:srgbClr val="111111"/>
                </a:solidFill>
                <a:latin typeface="Times New Roman"/>
                <a:ea typeface="Times New Roman"/>
                <a:cs typeface="Times New Roman"/>
              </a:rPr>
              <a:t>Conclusion and Q and A</a:t>
            </a:r>
          </a:p>
        </p:txBody>
      </p:sp>
      <p:sp>
        <p:nvSpPr>
          <p:cNvPr id="2" name="BCSE402L  Big Data Analytics  |  DA3  |  20 October 2026">
            <a:extLst xmlns:a="http://schemas.openxmlformats.org/drawingml/2006/main">
              <a:ext uri="{FF2B5EF4-FFF2-40B4-BE49-F238E27FC236}">
                <a16:creationId xmlns:a16="http://schemas.microsoft.com/office/drawing/2014/main" id="{3AB7ED96-852E-4A49-BF73-3AEAA1217981}"/>
              </a:ext>
            </a:extLst>
          </p:cNvPr>
          <p:cNvSpPr>
            <a:spLocks xmlns:a="http://schemas.openxmlformats.org/drawingml/2006/main" noGrp="1"/>
          </p:cNvSpPr>
          <p:nvPr/>
        </p:nvSpPr>
        <p:spPr>
          <a:xfrm xmlns:a="http://schemas.openxmlformats.org/drawingml/2006/main">
            <a:off x="57150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6616B"/>
                </a:solidFill>
                <a:latin typeface="Times New Roman"/>
                <a:ea typeface="Times New Roman"/>
                <a:cs typeface="Times New Roman"/>
              </a:defRPr>
            </a:defPPr>
            <a:lvl1pPr algn="l">
              <a:defRPr sz="1275" b="0">
                <a:solidFill>
                  <a:srgbClr val="56616B"/>
                </a:solidFill>
                <a:latin typeface="Times New Roman"/>
                <a:ea typeface="Times New Roman"/>
                <a:cs typeface="Times New Roman"/>
              </a:defRPr>
            </a:lvl1pPr>
            <a:lvl2pPr algn="l">
              <a:defRPr sz="1275" b="0">
                <a:solidFill>
                  <a:srgbClr val="56616B"/>
                </a:solidFill>
                <a:latin typeface="Times New Roman"/>
                <a:ea typeface="Times New Roman"/>
                <a:cs typeface="Times New Roman"/>
              </a:defRPr>
            </a:lvl2pPr>
            <a:lvl3pPr algn="l">
              <a:defRPr sz="1275" b="0">
                <a:solidFill>
                  <a:srgbClr val="56616B"/>
                </a:solidFill>
                <a:latin typeface="Times New Roman"/>
                <a:ea typeface="Times New Roman"/>
                <a:cs typeface="Times New Roman"/>
              </a:defRPr>
            </a:lvl3pPr>
            <a:lvl4pPr algn="l">
              <a:defRPr sz="1275" b="0">
                <a:solidFill>
                  <a:srgbClr val="56616B"/>
                </a:solidFill>
                <a:latin typeface="Times New Roman"/>
                <a:ea typeface="Times New Roman"/>
                <a:cs typeface="Times New Roman"/>
              </a:defRPr>
            </a:lvl4pPr>
            <a:lvl5pPr algn="l">
              <a:defRPr sz="1275" b="0">
                <a:solidFill>
                  <a:srgbClr val="56616B"/>
                </a:solidFill>
                <a:latin typeface="Times New Roman"/>
                <a:ea typeface="Times New Roman"/>
                <a:cs typeface="Times New Roman"/>
              </a:defRPr>
            </a:lvl5pPr>
            <a:lvl6pPr algn="l">
              <a:defRPr sz="1275" b="0">
                <a:solidFill>
                  <a:srgbClr val="56616B"/>
                </a:solidFill>
                <a:latin typeface="Times New Roman"/>
                <a:ea typeface="Times New Roman"/>
                <a:cs typeface="Times New Roman"/>
              </a:defRPr>
            </a:lvl6pPr>
            <a:lvl7pPr algn="l">
              <a:defRPr sz="1275" b="0">
                <a:solidFill>
                  <a:srgbClr val="56616B"/>
                </a:solidFill>
                <a:latin typeface="Times New Roman"/>
                <a:ea typeface="Times New Roman"/>
                <a:cs typeface="Times New Roman"/>
              </a:defRPr>
            </a:lvl7pPr>
            <a:lvl8pPr algn="l">
              <a:defRPr sz="1275" b="0">
                <a:solidFill>
                  <a:srgbClr val="56616B"/>
                </a:solidFill>
                <a:latin typeface="Times New Roman"/>
                <a:ea typeface="Times New Roman"/>
                <a:cs typeface="Times New Roman"/>
              </a:defRPr>
            </a:lvl8pPr>
            <a:lvl9pPr algn="l">
              <a:defRPr sz="1275" b="0">
                <a:solidFill>
                  <a:srgbClr val="56616B"/>
                </a:solidFill>
                <a:latin typeface="Times New Roman"/>
                <a:ea typeface="Times New Roman"/>
                <a:cs typeface="Times New Roman"/>
              </a:defRPr>
            </a:lvl9pPr>
          </a:lstStyle>
          <a:p xmlns:a="http://schemas.openxmlformats.org/drawingml/2006/main">
            <a:pPr algn="l">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BCSE402L  Big Data Analytics  |  DA3  |  20 October 2026</a:t>
            </a:r>
          </a:p>
        </p:txBody>
      </p:sp>
      <p:sp>
        <p:nvSpPr>
          <p:cNvPr id="3" name="12">
            <a:extLst xmlns:a="http://schemas.openxmlformats.org/drawingml/2006/main">
              <a:ext uri="{FF2B5EF4-FFF2-40B4-BE49-F238E27FC236}">
                <a16:creationId xmlns:a16="http://schemas.microsoft.com/office/drawing/2014/main" id="{BD926CA4-FAB5-4615-A041-E21B15C97FCA}"/>
              </a:ext>
            </a:extLst>
          </p:cNvPr>
          <p:cNvSpPr>
            <a:spLocks xmlns:a="http://schemas.openxmlformats.org/drawingml/2006/main" noGrp="1"/>
          </p:cNvSpPr>
          <p:nvPr/>
        </p:nvSpPr>
        <p:spPr>
          <a:xfrm xmlns:a="http://schemas.openxmlformats.org/drawingml/2006/main">
            <a:off x="11049000" y="64484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6616B"/>
                </a:solidFill>
                <a:latin typeface="Times New Roman"/>
                <a:ea typeface="Times New Roman"/>
                <a:cs typeface="Times New Roman"/>
              </a:defRPr>
            </a:defPPr>
            <a:lvl1pPr algn="r">
              <a:defRPr sz="1275" b="0">
                <a:solidFill>
                  <a:srgbClr val="56616B"/>
                </a:solidFill>
                <a:latin typeface="Times New Roman"/>
                <a:ea typeface="Times New Roman"/>
                <a:cs typeface="Times New Roman"/>
              </a:defRPr>
            </a:lvl1pPr>
            <a:lvl2pPr algn="r">
              <a:defRPr sz="1275" b="0">
                <a:solidFill>
                  <a:srgbClr val="56616B"/>
                </a:solidFill>
                <a:latin typeface="Times New Roman"/>
                <a:ea typeface="Times New Roman"/>
                <a:cs typeface="Times New Roman"/>
              </a:defRPr>
            </a:lvl2pPr>
            <a:lvl3pPr algn="r">
              <a:defRPr sz="1275" b="0">
                <a:solidFill>
                  <a:srgbClr val="56616B"/>
                </a:solidFill>
                <a:latin typeface="Times New Roman"/>
                <a:ea typeface="Times New Roman"/>
                <a:cs typeface="Times New Roman"/>
              </a:defRPr>
            </a:lvl3pPr>
            <a:lvl4pPr algn="r">
              <a:defRPr sz="1275" b="0">
                <a:solidFill>
                  <a:srgbClr val="56616B"/>
                </a:solidFill>
                <a:latin typeface="Times New Roman"/>
                <a:ea typeface="Times New Roman"/>
                <a:cs typeface="Times New Roman"/>
              </a:defRPr>
            </a:lvl4pPr>
            <a:lvl5pPr algn="r">
              <a:defRPr sz="1275" b="0">
                <a:solidFill>
                  <a:srgbClr val="56616B"/>
                </a:solidFill>
                <a:latin typeface="Times New Roman"/>
                <a:ea typeface="Times New Roman"/>
                <a:cs typeface="Times New Roman"/>
              </a:defRPr>
            </a:lvl5pPr>
            <a:lvl6pPr algn="r">
              <a:defRPr sz="1275" b="0">
                <a:solidFill>
                  <a:srgbClr val="56616B"/>
                </a:solidFill>
                <a:latin typeface="Times New Roman"/>
                <a:ea typeface="Times New Roman"/>
                <a:cs typeface="Times New Roman"/>
              </a:defRPr>
            </a:lvl6pPr>
            <a:lvl7pPr algn="r">
              <a:defRPr sz="1275" b="0">
                <a:solidFill>
                  <a:srgbClr val="56616B"/>
                </a:solidFill>
                <a:latin typeface="Times New Roman"/>
                <a:ea typeface="Times New Roman"/>
                <a:cs typeface="Times New Roman"/>
              </a:defRPr>
            </a:lvl7pPr>
            <a:lvl8pPr algn="r">
              <a:defRPr sz="1275" b="0">
                <a:solidFill>
                  <a:srgbClr val="56616B"/>
                </a:solidFill>
                <a:latin typeface="Times New Roman"/>
                <a:ea typeface="Times New Roman"/>
                <a:cs typeface="Times New Roman"/>
              </a:defRPr>
            </a:lvl8pPr>
            <a:lvl9pPr algn="r">
              <a:defRPr sz="1275" b="0">
                <a:solidFill>
                  <a:srgbClr val="56616B"/>
                </a:solidFill>
                <a:latin typeface="Times New Roman"/>
                <a:ea typeface="Times New Roman"/>
                <a:cs typeface="Times New Roman"/>
              </a:defRPr>
            </a:lvl9pPr>
          </a:lstStyle>
          <a:p xmlns:a="http://schemas.openxmlformats.org/drawingml/2006/main">
            <a:pPr algn="r">
              <a:defRPr sz="1275" b="0">
                <a:solidFill>
                  <a:srgbClr val="56616B"/>
                </a:solidFill>
                <a:latin typeface="Times New Roman"/>
                <a:ea typeface="Times New Roman"/>
                <a:cs typeface="Times New Roman"/>
              </a:defRPr>
            </a:pPr>
            <a:r>
              <a:rPr sz="1275" b="0">
                <a:solidFill>
                  <a:srgbClr val="56616B"/>
                </a:solidFill>
                <a:latin typeface="Times New Roman"/>
                <a:ea typeface="Times New Roman"/>
                <a:cs typeface="Times New Roman"/>
              </a:rPr>
              <a:t>12</a:t>
            </a:r>
          </a:p>
        </p:txBody>
      </p:sp>
      <p:sp>
        <p:nvSpPr>
          <p:cNvPr id="4" name="Delivered">
            <a:extLst xmlns:a="http://schemas.openxmlformats.org/drawingml/2006/main">
              <a:ext uri="{FF2B5EF4-FFF2-40B4-BE49-F238E27FC236}">
                <a16:creationId xmlns:a16="http://schemas.microsoft.com/office/drawing/2014/main" id="{BDE8754B-FCD5-4D31-A72D-C85CB84E39E3}"/>
              </a:ext>
            </a:extLst>
          </p:cNvPr>
          <p:cNvSpPr>
            <a:spLocks xmlns:a="http://schemas.openxmlformats.org/drawingml/2006/main" noGrp="1"/>
          </p:cNvSpPr>
          <p:nvPr/>
        </p:nvSpPr>
        <p:spPr>
          <a:xfrm xmlns:a="http://schemas.openxmlformats.org/drawingml/2006/main">
            <a:off x="619125" y="1428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111111"/>
                </a:solidFill>
                <a:latin typeface="Times New Roman"/>
                <a:ea typeface="Times New Roman"/>
                <a:cs typeface="Times New Roman"/>
              </a:defRPr>
            </a:defPPr>
            <a:lvl1pPr algn="l">
              <a:defRPr sz="2400" b="1">
                <a:solidFill>
                  <a:srgbClr val="111111"/>
                </a:solidFill>
                <a:latin typeface="Times New Roman"/>
                <a:ea typeface="Times New Roman"/>
                <a:cs typeface="Times New Roman"/>
              </a:defRPr>
            </a:lvl1pPr>
            <a:lvl2pPr algn="l">
              <a:defRPr sz="2400" b="1">
                <a:solidFill>
                  <a:srgbClr val="111111"/>
                </a:solidFill>
                <a:latin typeface="Times New Roman"/>
                <a:ea typeface="Times New Roman"/>
                <a:cs typeface="Times New Roman"/>
              </a:defRPr>
            </a:lvl2pPr>
            <a:lvl3pPr algn="l">
              <a:defRPr sz="2400" b="1">
                <a:solidFill>
                  <a:srgbClr val="111111"/>
                </a:solidFill>
                <a:latin typeface="Times New Roman"/>
                <a:ea typeface="Times New Roman"/>
                <a:cs typeface="Times New Roman"/>
              </a:defRPr>
            </a:lvl3pPr>
            <a:lvl4pPr algn="l">
              <a:defRPr sz="2400" b="1">
                <a:solidFill>
                  <a:srgbClr val="111111"/>
                </a:solidFill>
                <a:latin typeface="Times New Roman"/>
                <a:ea typeface="Times New Roman"/>
                <a:cs typeface="Times New Roman"/>
              </a:defRPr>
            </a:lvl4pPr>
            <a:lvl5pPr algn="l">
              <a:defRPr sz="2400" b="1">
                <a:solidFill>
                  <a:srgbClr val="111111"/>
                </a:solidFill>
                <a:latin typeface="Times New Roman"/>
                <a:ea typeface="Times New Roman"/>
                <a:cs typeface="Times New Roman"/>
              </a:defRPr>
            </a:lvl5pPr>
            <a:lvl6pPr algn="l">
              <a:defRPr sz="2400" b="1">
                <a:solidFill>
                  <a:srgbClr val="111111"/>
                </a:solidFill>
                <a:latin typeface="Times New Roman"/>
                <a:ea typeface="Times New Roman"/>
                <a:cs typeface="Times New Roman"/>
              </a:defRPr>
            </a:lvl6pPr>
            <a:lvl7pPr algn="l">
              <a:defRPr sz="2400" b="1">
                <a:solidFill>
                  <a:srgbClr val="111111"/>
                </a:solidFill>
                <a:latin typeface="Times New Roman"/>
                <a:ea typeface="Times New Roman"/>
                <a:cs typeface="Times New Roman"/>
              </a:defRPr>
            </a:lvl7pPr>
            <a:lvl8pPr algn="l">
              <a:defRPr sz="2400" b="1">
                <a:solidFill>
                  <a:srgbClr val="111111"/>
                </a:solidFill>
                <a:latin typeface="Times New Roman"/>
                <a:ea typeface="Times New Roman"/>
                <a:cs typeface="Times New Roman"/>
              </a:defRPr>
            </a:lvl8pPr>
            <a:lvl9pPr algn="l">
              <a:defRPr sz="2400" b="1">
                <a:solidFill>
                  <a:srgbClr val="111111"/>
                </a:solidFill>
                <a:latin typeface="Times New Roman"/>
                <a:ea typeface="Times New Roman"/>
                <a:cs typeface="Times New Roman"/>
              </a:defRPr>
            </a:lvl9pPr>
          </a:lstStyle>
          <a:p xmlns:a="http://schemas.openxmlformats.org/drawingml/2006/main">
            <a:pPr algn="l">
              <a:defRPr sz="2400" b="1">
                <a:solidFill>
                  <a:srgbClr val="111111"/>
                </a:solidFill>
                <a:latin typeface="Times New Roman"/>
                <a:ea typeface="Times New Roman"/>
                <a:cs typeface="Times New Roman"/>
              </a:defRPr>
            </a:pPr>
            <a:r>
              <a:rPr sz="2400" b="1">
                <a:solidFill>
                  <a:srgbClr val="111111"/>
                </a:solidFill>
                <a:latin typeface="Times New Roman"/>
                <a:ea typeface="Times New Roman"/>
                <a:cs typeface="Times New Roman"/>
              </a:rPr>
              <a:t>Delivered</a:t>
            </a:r>
          </a:p>
        </p:txBody>
      </p:sp>
      <p:sp>
        <p:nvSpPr>
          <p:cNvPr id="5" name="Real order-level Big Data pipeline&#10;Integrated analytics and ">
            <a:extLst xmlns:a="http://schemas.openxmlformats.org/drawingml/2006/main">
              <a:ext uri="{FF2B5EF4-FFF2-40B4-BE49-F238E27FC236}">
                <a16:creationId xmlns:a16="http://schemas.microsoft.com/office/drawing/2014/main" id="{B42A82A0-F590-46E4-9860-647335D4799B}"/>
              </a:ext>
            </a:extLst>
          </p:cNvPr>
          <p:cNvSpPr>
            <a:spLocks xmlns:a="http://schemas.openxmlformats.org/drawingml/2006/main" noGrp="1"/>
          </p:cNvSpPr>
          <p:nvPr/>
        </p:nvSpPr>
        <p:spPr>
          <a:xfrm xmlns:a="http://schemas.openxmlformats.org/drawingml/2006/main">
            <a:off x="619125" y="2047875"/>
            <a:ext cx="5143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11111"/>
                </a:solidFill>
                <a:latin typeface="Times New Roman"/>
                <a:ea typeface="Times New Roman"/>
                <a:cs typeface="Times New Roman"/>
              </a:defRPr>
            </a:defPPr>
            <a:lvl1pPr algn="l">
              <a:defRPr sz="2175" b="0">
                <a:solidFill>
                  <a:srgbClr val="111111"/>
                </a:solidFill>
                <a:latin typeface="Times New Roman"/>
                <a:ea typeface="Times New Roman"/>
                <a:cs typeface="Times New Roman"/>
              </a:defRPr>
            </a:lvl1pPr>
            <a:lvl2pPr algn="l">
              <a:defRPr sz="2175" b="0">
                <a:solidFill>
                  <a:srgbClr val="111111"/>
                </a:solidFill>
                <a:latin typeface="Times New Roman"/>
                <a:ea typeface="Times New Roman"/>
                <a:cs typeface="Times New Roman"/>
              </a:defRPr>
            </a:lvl2pPr>
            <a:lvl3pPr algn="l">
              <a:defRPr sz="2175" b="0">
                <a:solidFill>
                  <a:srgbClr val="111111"/>
                </a:solidFill>
                <a:latin typeface="Times New Roman"/>
                <a:ea typeface="Times New Roman"/>
                <a:cs typeface="Times New Roman"/>
              </a:defRPr>
            </a:lvl3pPr>
            <a:lvl4pPr algn="l">
              <a:defRPr sz="2175" b="0">
                <a:solidFill>
                  <a:srgbClr val="111111"/>
                </a:solidFill>
                <a:latin typeface="Times New Roman"/>
                <a:ea typeface="Times New Roman"/>
                <a:cs typeface="Times New Roman"/>
              </a:defRPr>
            </a:lvl4pPr>
            <a:lvl5pPr algn="l">
              <a:defRPr sz="2175" b="0">
                <a:solidFill>
                  <a:srgbClr val="111111"/>
                </a:solidFill>
                <a:latin typeface="Times New Roman"/>
                <a:ea typeface="Times New Roman"/>
                <a:cs typeface="Times New Roman"/>
              </a:defRPr>
            </a:lvl5pPr>
            <a:lvl6pPr algn="l">
              <a:defRPr sz="2175" b="0">
                <a:solidFill>
                  <a:srgbClr val="111111"/>
                </a:solidFill>
                <a:latin typeface="Times New Roman"/>
                <a:ea typeface="Times New Roman"/>
                <a:cs typeface="Times New Roman"/>
              </a:defRPr>
            </a:lvl6pPr>
            <a:lvl7pPr algn="l">
              <a:defRPr sz="2175" b="0">
                <a:solidFill>
                  <a:srgbClr val="111111"/>
                </a:solidFill>
                <a:latin typeface="Times New Roman"/>
                <a:ea typeface="Times New Roman"/>
                <a:cs typeface="Times New Roman"/>
              </a:defRPr>
            </a:lvl7pPr>
            <a:lvl8pPr algn="l">
              <a:defRPr sz="2175" b="0">
                <a:solidFill>
                  <a:srgbClr val="111111"/>
                </a:solidFill>
                <a:latin typeface="Times New Roman"/>
                <a:ea typeface="Times New Roman"/>
                <a:cs typeface="Times New Roman"/>
              </a:defRPr>
            </a:lvl8pPr>
            <a:lvl9pPr algn="l">
              <a:defRPr sz="2175" b="0">
                <a:solidFill>
                  <a:srgbClr val="111111"/>
                </a:solidFill>
                <a:latin typeface="Times New Roman"/>
                <a:ea typeface="Times New Roman"/>
                <a:cs typeface="Times New Roman"/>
              </a:defRPr>
            </a:lvl9pPr>
          </a:lstStyle>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Real order-level Big Data pipeline</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Integrated analytics and heatmap</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Chronological model evaluation</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Genuine SHAP and operator actions</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Optional summaries and SQL assistance</a:t>
            </a:r>
          </a:p>
        </p:txBody>
      </p:sp>
      <p:sp>
        <p:nvSpPr>
          <p:cNvPr id="6" name="Evidence and limits">
            <a:extLst xmlns:a="http://schemas.openxmlformats.org/drawingml/2006/main">
              <a:ext uri="{FF2B5EF4-FFF2-40B4-BE49-F238E27FC236}">
                <a16:creationId xmlns:a16="http://schemas.microsoft.com/office/drawing/2014/main" id="{0B98967B-6C7C-4DDD-A8D7-FE0B35B07D31}"/>
              </a:ext>
            </a:extLst>
          </p:cNvPr>
          <p:cNvSpPr>
            <a:spLocks xmlns:a="http://schemas.openxmlformats.org/drawingml/2006/main" noGrp="1"/>
          </p:cNvSpPr>
          <p:nvPr/>
        </p:nvSpPr>
        <p:spPr>
          <a:xfrm xmlns:a="http://schemas.openxmlformats.org/drawingml/2006/main">
            <a:off x="6667500"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111111"/>
                </a:solidFill>
                <a:latin typeface="Times New Roman"/>
                <a:ea typeface="Times New Roman"/>
                <a:cs typeface="Times New Roman"/>
              </a:defRPr>
            </a:defPPr>
            <a:lvl1pPr algn="l">
              <a:defRPr sz="2400" b="1">
                <a:solidFill>
                  <a:srgbClr val="111111"/>
                </a:solidFill>
                <a:latin typeface="Times New Roman"/>
                <a:ea typeface="Times New Roman"/>
                <a:cs typeface="Times New Roman"/>
              </a:defRPr>
            </a:lvl1pPr>
            <a:lvl2pPr algn="l">
              <a:defRPr sz="2400" b="1">
                <a:solidFill>
                  <a:srgbClr val="111111"/>
                </a:solidFill>
                <a:latin typeface="Times New Roman"/>
                <a:ea typeface="Times New Roman"/>
                <a:cs typeface="Times New Roman"/>
              </a:defRPr>
            </a:lvl2pPr>
            <a:lvl3pPr algn="l">
              <a:defRPr sz="2400" b="1">
                <a:solidFill>
                  <a:srgbClr val="111111"/>
                </a:solidFill>
                <a:latin typeface="Times New Roman"/>
                <a:ea typeface="Times New Roman"/>
                <a:cs typeface="Times New Roman"/>
              </a:defRPr>
            </a:lvl3pPr>
            <a:lvl4pPr algn="l">
              <a:defRPr sz="2400" b="1">
                <a:solidFill>
                  <a:srgbClr val="111111"/>
                </a:solidFill>
                <a:latin typeface="Times New Roman"/>
                <a:ea typeface="Times New Roman"/>
                <a:cs typeface="Times New Roman"/>
              </a:defRPr>
            </a:lvl4pPr>
            <a:lvl5pPr algn="l">
              <a:defRPr sz="2400" b="1">
                <a:solidFill>
                  <a:srgbClr val="111111"/>
                </a:solidFill>
                <a:latin typeface="Times New Roman"/>
                <a:ea typeface="Times New Roman"/>
                <a:cs typeface="Times New Roman"/>
              </a:defRPr>
            </a:lvl5pPr>
            <a:lvl6pPr algn="l">
              <a:defRPr sz="2400" b="1">
                <a:solidFill>
                  <a:srgbClr val="111111"/>
                </a:solidFill>
                <a:latin typeface="Times New Roman"/>
                <a:ea typeface="Times New Roman"/>
                <a:cs typeface="Times New Roman"/>
              </a:defRPr>
            </a:lvl6pPr>
            <a:lvl7pPr algn="l">
              <a:defRPr sz="2400" b="1">
                <a:solidFill>
                  <a:srgbClr val="111111"/>
                </a:solidFill>
                <a:latin typeface="Times New Roman"/>
                <a:ea typeface="Times New Roman"/>
                <a:cs typeface="Times New Roman"/>
              </a:defRPr>
            </a:lvl7pPr>
            <a:lvl8pPr algn="l">
              <a:defRPr sz="2400" b="1">
                <a:solidFill>
                  <a:srgbClr val="111111"/>
                </a:solidFill>
                <a:latin typeface="Times New Roman"/>
                <a:ea typeface="Times New Roman"/>
                <a:cs typeface="Times New Roman"/>
              </a:defRPr>
            </a:lvl8pPr>
            <a:lvl9pPr algn="l">
              <a:defRPr sz="2400" b="1">
                <a:solidFill>
                  <a:srgbClr val="111111"/>
                </a:solidFill>
                <a:latin typeface="Times New Roman"/>
                <a:ea typeface="Times New Roman"/>
                <a:cs typeface="Times New Roman"/>
              </a:defRPr>
            </a:lvl9pPr>
          </a:lstStyle>
          <a:p xmlns:a="http://schemas.openxmlformats.org/drawingml/2006/main">
            <a:pPr algn="l">
              <a:defRPr sz="2400" b="1">
                <a:solidFill>
                  <a:srgbClr val="111111"/>
                </a:solidFill>
                <a:latin typeface="Times New Roman"/>
                <a:ea typeface="Times New Roman"/>
                <a:cs typeface="Times New Roman"/>
              </a:defRPr>
            </a:pPr>
            <a:r>
              <a:rPr sz="2400" b="1">
                <a:solidFill>
                  <a:srgbClr val="111111"/>
                </a:solidFill>
                <a:latin typeface="Times New Roman"/>
                <a:ea typeface="Times New Roman"/>
                <a:cs typeface="Times New Roman"/>
              </a:rPr>
              <a:t>Evidence and limits</a:t>
            </a:r>
          </a:p>
        </p:txBody>
      </p:sp>
      <p:sp>
        <p:nvSpPr>
          <p:cNvPr id="7" name="35 backend tests and build passed&#10;Live browser workflow veri">
            <a:extLst xmlns:a="http://schemas.openxmlformats.org/drawingml/2006/main">
              <a:ext uri="{FF2B5EF4-FFF2-40B4-BE49-F238E27FC236}">
                <a16:creationId xmlns:a16="http://schemas.microsoft.com/office/drawing/2014/main" id="{DB790A77-BF16-4057-9FE6-F5D366FAE889}"/>
              </a:ext>
            </a:extLst>
          </p:cNvPr>
          <p:cNvSpPr>
            <a:spLocks xmlns:a="http://schemas.openxmlformats.org/drawingml/2006/main" noGrp="1"/>
          </p:cNvSpPr>
          <p:nvPr/>
        </p:nvSpPr>
        <p:spPr>
          <a:xfrm xmlns:a="http://schemas.openxmlformats.org/drawingml/2006/main">
            <a:off x="6667500" y="2047875"/>
            <a:ext cx="4762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11111"/>
                </a:solidFill>
                <a:latin typeface="Times New Roman"/>
                <a:ea typeface="Times New Roman"/>
                <a:cs typeface="Times New Roman"/>
              </a:defRPr>
            </a:defPPr>
            <a:lvl1pPr algn="l">
              <a:defRPr sz="2175" b="0">
                <a:solidFill>
                  <a:srgbClr val="111111"/>
                </a:solidFill>
                <a:latin typeface="Times New Roman"/>
                <a:ea typeface="Times New Roman"/>
                <a:cs typeface="Times New Roman"/>
              </a:defRPr>
            </a:lvl1pPr>
            <a:lvl2pPr algn="l">
              <a:defRPr sz="2175" b="0">
                <a:solidFill>
                  <a:srgbClr val="111111"/>
                </a:solidFill>
                <a:latin typeface="Times New Roman"/>
                <a:ea typeface="Times New Roman"/>
                <a:cs typeface="Times New Roman"/>
              </a:defRPr>
            </a:lvl2pPr>
            <a:lvl3pPr algn="l">
              <a:defRPr sz="2175" b="0">
                <a:solidFill>
                  <a:srgbClr val="111111"/>
                </a:solidFill>
                <a:latin typeface="Times New Roman"/>
                <a:ea typeface="Times New Roman"/>
                <a:cs typeface="Times New Roman"/>
              </a:defRPr>
            </a:lvl3pPr>
            <a:lvl4pPr algn="l">
              <a:defRPr sz="2175" b="0">
                <a:solidFill>
                  <a:srgbClr val="111111"/>
                </a:solidFill>
                <a:latin typeface="Times New Roman"/>
                <a:ea typeface="Times New Roman"/>
                <a:cs typeface="Times New Roman"/>
              </a:defRPr>
            </a:lvl4pPr>
            <a:lvl5pPr algn="l">
              <a:defRPr sz="2175" b="0">
                <a:solidFill>
                  <a:srgbClr val="111111"/>
                </a:solidFill>
                <a:latin typeface="Times New Roman"/>
                <a:ea typeface="Times New Roman"/>
                <a:cs typeface="Times New Roman"/>
              </a:defRPr>
            </a:lvl5pPr>
            <a:lvl6pPr algn="l">
              <a:defRPr sz="2175" b="0">
                <a:solidFill>
                  <a:srgbClr val="111111"/>
                </a:solidFill>
                <a:latin typeface="Times New Roman"/>
                <a:ea typeface="Times New Roman"/>
                <a:cs typeface="Times New Roman"/>
              </a:defRPr>
            </a:lvl6pPr>
            <a:lvl7pPr algn="l">
              <a:defRPr sz="2175" b="0">
                <a:solidFill>
                  <a:srgbClr val="111111"/>
                </a:solidFill>
                <a:latin typeface="Times New Roman"/>
                <a:ea typeface="Times New Roman"/>
                <a:cs typeface="Times New Roman"/>
              </a:defRPr>
            </a:lvl7pPr>
            <a:lvl8pPr algn="l">
              <a:defRPr sz="2175" b="0">
                <a:solidFill>
                  <a:srgbClr val="111111"/>
                </a:solidFill>
                <a:latin typeface="Times New Roman"/>
                <a:ea typeface="Times New Roman"/>
                <a:cs typeface="Times New Roman"/>
              </a:defRPr>
            </a:lvl8pPr>
            <a:lvl9pPr algn="l">
              <a:defRPr sz="2175" b="0">
                <a:solidFill>
                  <a:srgbClr val="111111"/>
                </a:solidFill>
                <a:latin typeface="Times New Roman"/>
                <a:ea typeface="Times New Roman"/>
                <a:cs typeface="Times New Roman"/>
              </a:defRPr>
            </a:lvl9pPr>
          </a:lstStyle>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35 backend tests and build passed</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Live browser workflow verified</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69.46% accuracy; 61.67% recall</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Single-node demonstration</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Fresh data needed for confirmation</a:t>
            </a:r>
          </a:p>
        </p:txBody>
      </p:sp>
      <p:sp>
        <p:nvSpPr>
          <p:cNvPr id="8" name="Next: carrier and capacity signals, calibration assessment, ">
            <a:extLst xmlns:a="http://schemas.openxmlformats.org/drawingml/2006/main">
              <a:ext uri="{FF2B5EF4-FFF2-40B4-BE49-F238E27FC236}">
                <a16:creationId xmlns:a16="http://schemas.microsoft.com/office/drawing/2014/main" id="{EB6348CF-BAF5-459F-AC20-CABA52F2D468}"/>
              </a:ext>
            </a:extLst>
          </p:cNvPr>
          <p:cNvSpPr>
            <a:spLocks xmlns:a="http://schemas.openxmlformats.org/drawingml/2006/main" noGrp="1"/>
          </p:cNvSpPr>
          <p:nvPr/>
        </p:nvSpPr>
        <p:spPr>
          <a:xfrm xmlns:a="http://schemas.openxmlformats.org/drawingml/2006/main">
            <a:off x="619125" y="51435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244763"/>
                </a:solidFill>
                <a:latin typeface="Times New Roman"/>
                <a:ea typeface="Times New Roman"/>
                <a:cs typeface="Times New Roman"/>
              </a:defRPr>
            </a:defPPr>
            <a:lvl1pPr algn="l">
              <a:defRPr sz="2250" b="1">
                <a:solidFill>
                  <a:srgbClr val="244763"/>
                </a:solidFill>
                <a:latin typeface="Times New Roman"/>
                <a:ea typeface="Times New Roman"/>
                <a:cs typeface="Times New Roman"/>
              </a:defRPr>
            </a:lvl1pPr>
            <a:lvl2pPr algn="l">
              <a:defRPr sz="2250" b="1">
                <a:solidFill>
                  <a:srgbClr val="244763"/>
                </a:solidFill>
                <a:latin typeface="Times New Roman"/>
                <a:ea typeface="Times New Roman"/>
                <a:cs typeface="Times New Roman"/>
              </a:defRPr>
            </a:lvl2pPr>
            <a:lvl3pPr algn="l">
              <a:defRPr sz="2250" b="1">
                <a:solidFill>
                  <a:srgbClr val="244763"/>
                </a:solidFill>
                <a:latin typeface="Times New Roman"/>
                <a:ea typeface="Times New Roman"/>
                <a:cs typeface="Times New Roman"/>
              </a:defRPr>
            </a:lvl3pPr>
            <a:lvl4pPr algn="l">
              <a:defRPr sz="2250" b="1">
                <a:solidFill>
                  <a:srgbClr val="244763"/>
                </a:solidFill>
                <a:latin typeface="Times New Roman"/>
                <a:ea typeface="Times New Roman"/>
                <a:cs typeface="Times New Roman"/>
              </a:defRPr>
            </a:lvl4pPr>
            <a:lvl5pPr algn="l">
              <a:defRPr sz="2250" b="1">
                <a:solidFill>
                  <a:srgbClr val="244763"/>
                </a:solidFill>
                <a:latin typeface="Times New Roman"/>
                <a:ea typeface="Times New Roman"/>
                <a:cs typeface="Times New Roman"/>
              </a:defRPr>
            </a:lvl5pPr>
            <a:lvl6pPr algn="l">
              <a:defRPr sz="2250" b="1">
                <a:solidFill>
                  <a:srgbClr val="244763"/>
                </a:solidFill>
                <a:latin typeface="Times New Roman"/>
                <a:ea typeface="Times New Roman"/>
                <a:cs typeface="Times New Roman"/>
              </a:defRPr>
            </a:lvl6pPr>
            <a:lvl7pPr algn="l">
              <a:defRPr sz="2250" b="1">
                <a:solidFill>
                  <a:srgbClr val="244763"/>
                </a:solidFill>
                <a:latin typeface="Times New Roman"/>
                <a:ea typeface="Times New Roman"/>
                <a:cs typeface="Times New Roman"/>
              </a:defRPr>
            </a:lvl7pPr>
            <a:lvl8pPr algn="l">
              <a:defRPr sz="2250" b="1">
                <a:solidFill>
                  <a:srgbClr val="244763"/>
                </a:solidFill>
                <a:latin typeface="Times New Roman"/>
                <a:ea typeface="Times New Roman"/>
                <a:cs typeface="Times New Roman"/>
              </a:defRPr>
            </a:lvl8pPr>
            <a:lvl9pPr algn="l">
              <a:defRPr sz="2250" b="1">
                <a:solidFill>
                  <a:srgbClr val="244763"/>
                </a:solidFill>
                <a:latin typeface="Times New Roman"/>
                <a:ea typeface="Times New Roman"/>
                <a:cs typeface="Times New Roman"/>
              </a:defRPr>
            </a:lvl9pPr>
          </a:lstStyle>
          <a:p xmlns:a="http://schemas.openxmlformats.org/drawingml/2006/main">
            <a:pPr algn="l">
              <a:defRPr sz="2250" b="1">
                <a:solidFill>
                  <a:srgbClr val="244763"/>
                </a:solidFill>
                <a:latin typeface="Times New Roman"/>
                <a:ea typeface="Times New Roman"/>
                <a:cs typeface="Times New Roman"/>
              </a:defRPr>
            </a:pPr>
            <a:r>
              <a:rPr sz="2250" b="1">
                <a:solidFill>
                  <a:srgbClr val="244763"/>
                </a:solidFill>
                <a:latin typeface="Times New Roman"/>
                <a:ea typeface="Times New Roman"/>
                <a:cs typeface="Times New Roman"/>
              </a:rPr>
              <a:t>Next: carrier and capacity signals, calibration assessment, cost-based thresholds and new forward evaluation.</a:t>
            </a:r>
          </a:p>
        </p:txBody>
      </p:sp>
    </p:spTree>
    <p:extLst>
      <p:ext uri="{BB962C8B-B14F-4D97-AF65-F5344CB8AC3E}">
        <p14:creationId xmlns:p14="http://schemas.microsoft.com/office/powerpoint/2010/main" val="1163713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2026-10-20T13:52:56.8510000Z</dcterms:created>
  <dcterms:modified xsi:type="dcterms:W3CDTF">2026-10-20T13:52:56.8510000Z</dcterms:modified>
</coreProperties>
</file>